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64" r:id="rId4"/>
  </p:sldMasterIdLst>
  <p:notesMasterIdLst>
    <p:notesMasterId r:id="rId19"/>
  </p:notesMasterIdLst>
  <p:handoutMasterIdLst>
    <p:handoutMasterId r:id="rId20"/>
  </p:handoutMasterIdLst>
  <p:sldIdLst>
    <p:sldId id="256" r:id="rId5"/>
    <p:sldId id="263" r:id="rId6"/>
    <p:sldId id="264" r:id="rId7"/>
    <p:sldId id="265" r:id="rId8"/>
    <p:sldId id="266" r:id="rId9"/>
    <p:sldId id="267" r:id="rId10"/>
    <p:sldId id="269" r:id="rId11"/>
    <p:sldId id="268" r:id="rId12"/>
    <p:sldId id="270" r:id="rId13"/>
    <p:sldId id="271" r:id="rId14"/>
    <p:sldId id="272" r:id="rId15"/>
    <p:sldId id="273" r:id="rId16"/>
    <p:sldId id="274" r:id="rId17"/>
    <p:sldId id="261" r:id="rId18"/>
  </p:sldIdLst>
  <p:sldSz cx="12192000" cy="6858000"/>
  <p:notesSz cx="6858000" cy="9144000"/>
  <p:defaultTextStyle>
    <a:defPPr rtl="0">
      <a:defRPr lang="pt-pt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6" autoAdjust="0"/>
    <p:restoredTop sz="94612" autoAdjust="0"/>
  </p:normalViewPr>
  <p:slideViewPr>
    <p:cSldViewPr snapToGrid="0">
      <p:cViewPr varScale="1">
        <p:scale>
          <a:sx n="86" d="100"/>
          <a:sy n="86" d="100"/>
        </p:scale>
        <p:origin x="48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9" d="100"/>
          <a:sy n="89" d="100"/>
        </p:scale>
        <p:origin x="2994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>
            <a:extLst>
              <a:ext uri="{FF2B5EF4-FFF2-40B4-BE49-F238E27FC236}">
                <a16:creationId xmlns:a16="http://schemas.microsoft.com/office/drawing/2014/main" id="{E7555001-C049-4461-90A6-1614557F8E1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 dirty="0"/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3FAEC447-C504-4741-A862-8B933F7A29F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C93425-6E93-41F4-A77E-633D50734732}" type="datetimeFigureOut">
              <a:rPr lang="pt-PT" smtClean="0"/>
              <a:t>28/10/2024</a:t>
            </a:fld>
            <a:endParaRPr lang="pt-PT" dirty="0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801D69B8-F968-4595-828E-861CA198335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 dirty="0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27805BEB-A774-43C6-BCFD-4083E53EE3F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1BB0C3-00EA-4698-A630-07C291FAF643}" type="slidenum">
              <a:rPr lang="pt-PT" smtClean="0"/>
              <a:t>‹nº›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5084451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 dirty="0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BD8350-E1AA-445F-85A3-AD23248C201E}" type="datetimeFigureOut">
              <a:rPr lang="pt-PT" smtClean="0"/>
              <a:t>28/10/2024</a:t>
            </a:fld>
            <a:endParaRPr lang="pt-PT" dirty="0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 dirty="0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 dirty="0"/>
              <a:t>Editar os estilos de texto do Modelo Global</a:t>
            </a:r>
          </a:p>
          <a:p>
            <a:pPr lvl="1"/>
            <a:r>
              <a:rPr lang="pt-PT" dirty="0"/>
              <a:t>Segundo nível</a:t>
            </a:r>
          </a:p>
          <a:p>
            <a:pPr lvl="2"/>
            <a:r>
              <a:rPr lang="pt-PT" dirty="0"/>
              <a:t>Terceiro nível</a:t>
            </a:r>
          </a:p>
          <a:p>
            <a:pPr lvl="3"/>
            <a:r>
              <a:rPr lang="pt-PT" dirty="0"/>
              <a:t>Quarto nível</a:t>
            </a:r>
          </a:p>
          <a:p>
            <a:pPr lvl="4"/>
            <a:r>
              <a:rPr lang="pt-PT" dirty="0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 dirty="0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E8F6F2-8D9F-42D8-BA66-819A530D8419}" type="slidenum">
              <a:rPr lang="pt-PT" smtClean="0"/>
              <a:t>‹nº›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8407914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E8F6F2-8D9F-42D8-BA66-819A530D8419}" type="slidenum">
              <a:rPr lang="pt-PT" smtClean="0"/>
              <a:t>1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7565436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E8F6F2-8D9F-42D8-BA66-819A530D8419}" type="slidenum">
              <a:rPr lang="pt-PT" smtClean="0"/>
              <a:t>14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8426201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 dirty="0"/>
          </a:p>
        </p:txBody>
      </p:sp>
      <p:sp>
        <p:nvSpPr>
          <p:cNvPr id="8" name="Retângulo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 dirty="0"/>
          </a:p>
        </p:txBody>
      </p:sp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1069848" y="1298448"/>
            <a:ext cx="7315200" cy="3255264"/>
          </a:xfrm>
        </p:spPr>
        <p:txBody>
          <a:bodyPr rtlCol="0"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pPr rtl="0"/>
            <a:r>
              <a:rPr lang="pt-PT"/>
              <a:t>Clique para editar o estilo do título do Modelo Global</a:t>
            </a:r>
            <a:endParaRPr lang="pt-PT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1100015" y="4670246"/>
            <a:ext cx="7315200" cy="914400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pPr rtl="0"/>
            <a:r>
              <a:rPr lang="pt-PT"/>
              <a:t>Clique para editar o estilo do subtítulo do Modelo Global</a:t>
            </a:r>
            <a:endParaRPr lang="pt-PT" dirty="0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052D523-9F33-4C72-B5A2-C0506DEB3D30}" type="datetime1">
              <a:rPr lang="pt-PT" smtClean="0"/>
              <a:t>28/10/2024</a:t>
            </a:fld>
            <a:endParaRPr lang="pt-PT" dirty="0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PT" dirty="0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pt-PT" smtClean="0"/>
              <a:pPr rtl="0"/>
              <a:t>‹nº›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3546601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pt-PT"/>
              <a:t>Clique para editar o estilo do título do Modelo Global</a:t>
            </a:r>
            <a:endParaRPr lang="pt-PT" dirty="0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 hasCustomPrompt="1"/>
          </p:nvPr>
        </p:nvSpPr>
        <p:spPr/>
        <p:txBody>
          <a:bodyPr rtlCol="0"/>
          <a:lstStyle/>
          <a:p>
            <a:pPr lvl="0" rtl="0"/>
            <a:r>
              <a:rPr lang="pt-PT"/>
              <a:t>Editar estilos de texto do Modelo Global</a:t>
            </a:r>
          </a:p>
          <a:p>
            <a:pPr lvl="1" rtl="0"/>
            <a:r>
              <a:rPr lang="pt-PT"/>
              <a:t>Segundo nível</a:t>
            </a:r>
          </a:p>
          <a:p>
            <a:pPr lvl="2" rtl="0"/>
            <a:r>
              <a:rPr lang="pt-PT"/>
              <a:t>Terceiro nível</a:t>
            </a:r>
          </a:p>
          <a:p>
            <a:pPr lvl="3" rtl="0"/>
            <a:r>
              <a:rPr lang="pt-PT"/>
              <a:t>Quarto nível</a:t>
            </a:r>
          </a:p>
          <a:p>
            <a:pPr lvl="4" rtl="0"/>
            <a:r>
              <a:rPr lang="pt-PT"/>
              <a:t>Quinto nível</a:t>
            </a:r>
            <a:endParaRPr lang="pt-PT" dirty="0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6F9A339-0B1F-4693-8F79-FFD06A57CC9C}" type="datetime1">
              <a:rPr lang="pt-PT" smtClean="0"/>
              <a:t>28/10/2024</a:t>
            </a:fld>
            <a:endParaRPr lang="pt-PT" dirty="0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PT" dirty="0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pt-PT" smtClean="0"/>
              <a:pPr rtl="0"/>
              <a:t>‹nº›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181794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867912" y="1298448"/>
            <a:ext cx="7315200" cy="3255264"/>
          </a:xfrm>
        </p:spPr>
        <p:txBody>
          <a:bodyPr rtlCol="0" anchor="b">
            <a:normAutofit/>
          </a:bodyPr>
          <a:lstStyle>
            <a:lvl1pPr>
              <a:defRPr sz="5900" b="0" spc="-100" baseline="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pPr rtl="0"/>
            <a:r>
              <a:rPr lang="pt-PT"/>
              <a:t>Clique para editar o estilo do título do Modelo Global</a:t>
            </a:r>
            <a:endParaRPr lang="pt-PT" dirty="0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 hasCustomPrompt="1"/>
          </p:nvPr>
        </p:nvSpPr>
        <p:spPr>
          <a:xfrm>
            <a:off x="3886200" y="4672584"/>
            <a:ext cx="7315200" cy="914400"/>
          </a:xfrm>
        </p:spPr>
        <p:txBody>
          <a:bodyPr rtlCol="0"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PT"/>
              <a:t>Editar estilos de texto do Modelo Global</a:t>
            </a:r>
            <a:endParaRPr lang="pt-PT" dirty="0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283AF5A-AF0F-4601-A086-3DC3B3C3034C}" type="datetime1">
              <a:rPr lang="pt-PT" smtClean="0"/>
              <a:t>28/10/2024</a:t>
            </a:fld>
            <a:endParaRPr lang="pt-PT" dirty="0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PT" dirty="0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pt-PT" smtClean="0"/>
              <a:pPr rtl="0"/>
              <a:t>‹nº›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4106625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pt-PT"/>
              <a:t>Clique para editar o estilo do título do Modelo Global</a:t>
            </a:r>
            <a:endParaRPr lang="pt-PT" dirty="0"/>
          </a:p>
        </p:txBody>
      </p:sp>
      <p:sp>
        <p:nvSpPr>
          <p:cNvPr id="3" name="Marcador de Posição de Conteúdo 2"/>
          <p:cNvSpPr>
            <a:spLocks noGrp="1"/>
          </p:cNvSpPr>
          <p:nvPr>
            <p:ph sz="half" idx="1" hasCustomPrompt="1"/>
          </p:nvPr>
        </p:nvSpPr>
        <p:spPr>
          <a:xfrm>
            <a:off x="3867912" y="868680"/>
            <a:ext cx="3474720" cy="5120640"/>
          </a:xfrm>
        </p:spPr>
        <p:txBody>
          <a:bodyPr rtlCol="0"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pt-PT"/>
              <a:t>Editar estilos de texto do Modelo Global</a:t>
            </a:r>
          </a:p>
          <a:p>
            <a:pPr lvl="1" rtl="0"/>
            <a:r>
              <a:rPr lang="pt-PT"/>
              <a:t>Segundo nível</a:t>
            </a:r>
          </a:p>
          <a:p>
            <a:pPr lvl="2" rtl="0"/>
            <a:r>
              <a:rPr lang="pt-PT"/>
              <a:t>Terceiro nível</a:t>
            </a:r>
          </a:p>
          <a:p>
            <a:pPr lvl="3" rtl="0"/>
            <a:r>
              <a:rPr lang="pt-PT"/>
              <a:t>Quarto nível</a:t>
            </a:r>
          </a:p>
          <a:p>
            <a:pPr lvl="4" rtl="0"/>
            <a:r>
              <a:rPr lang="pt-PT"/>
              <a:t>Quinto nível</a:t>
            </a:r>
            <a:endParaRPr lang="pt-PT" dirty="0"/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 hasCustomPrompt="1"/>
          </p:nvPr>
        </p:nvSpPr>
        <p:spPr>
          <a:xfrm>
            <a:off x="7818120" y="868680"/>
            <a:ext cx="3474720" cy="5120640"/>
          </a:xfrm>
        </p:spPr>
        <p:txBody>
          <a:bodyPr rtlCol="0"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pt-PT"/>
              <a:t>Editar estilos de texto do Modelo Global</a:t>
            </a:r>
          </a:p>
          <a:p>
            <a:pPr lvl="1" rtl="0"/>
            <a:r>
              <a:rPr lang="pt-PT"/>
              <a:t>Segundo nível</a:t>
            </a:r>
          </a:p>
          <a:p>
            <a:pPr lvl="2" rtl="0"/>
            <a:r>
              <a:rPr lang="pt-PT"/>
              <a:t>Terceiro nível</a:t>
            </a:r>
          </a:p>
          <a:p>
            <a:pPr lvl="3" rtl="0"/>
            <a:r>
              <a:rPr lang="pt-PT"/>
              <a:t>Quarto nível</a:t>
            </a:r>
          </a:p>
          <a:p>
            <a:pPr lvl="4" rtl="0"/>
            <a:r>
              <a:rPr lang="pt-PT"/>
              <a:t>Quinto nível</a:t>
            </a:r>
            <a:endParaRPr lang="pt-PT" dirty="0"/>
          </a:p>
        </p:txBody>
      </p:sp>
      <p:sp>
        <p:nvSpPr>
          <p:cNvPr id="8" name="Marcador de Posição da Data 7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B7DC3F1-F8E2-4F6E-A800-F3293AC553E7}" type="datetime1">
              <a:rPr lang="pt-PT" smtClean="0"/>
              <a:t>28/10/2024</a:t>
            </a:fld>
            <a:endParaRPr lang="pt-PT" dirty="0"/>
          </a:p>
        </p:txBody>
      </p:sp>
      <p:sp>
        <p:nvSpPr>
          <p:cNvPr id="9" name="Marcador de Posição do Rodapé 8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PT" dirty="0"/>
          </a:p>
        </p:txBody>
      </p:sp>
      <p:sp>
        <p:nvSpPr>
          <p:cNvPr id="10" name="Marcador de Posição do Número do Diapositivo 9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pt-PT" smtClean="0"/>
              <a:pPr rtl="0"/>
              <a:t>‹nº›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4137774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pt-PT"/>
              <a:t>Clique para editar o estilo do título do Modelo Global</a:t>
            </a:r>
            <a:endParaRPr lang="pt-PT" dirty="0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 hasCustomPrompt="1"/>
          </p:nvPr>
        </p:nvSpPr>
        <p:spPr>
          <a:xfrm>
            <a:off x="3867912" y="1023586"/>
            <a:ext cx="3474720" cy="807720"/>
          </a:xfrm>
        </p:spPr>
        <p:txBody>
          <a:bodyPr rtlCol="0"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PT"/>
              <a:t>Editar estilos de texto do Modelo Global</a:t>
            </a:r>
            <a:endParaRPr lang="pt-PT" dirty="0"/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 hasCustomPrompt="1"/>
          </p:nvPr>
        </p:nvSpPr>
        <p:spPr>
          <a:xfrm>
            <a:off x="3867912" y="1930936"/>
            <a:ext cx="3474720" cy="4023360"/>
          </a:xfrm>
        </p:spPr>
        <p:txBody>
          <a:bodyPr rtlCol="0"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pt-PT"/>
              <a:t>Editar estilos de texto do Modelo Global</a:t>
            </a:r>
          </a:p>
          <a:p>
            <a:pPr lvl="1" rtl="0"/>
            <a:r>
              <a:rPr lang="pt-PT"/>
              <a:t>Segundo nível</a:t>
            </a:r>
          </a:p>
          <a:p>
            <a:pPr lvl="2" rtl="0"/>
            <a:r>
              <a:rPr lang="pt-PT"/>
              <a:t>Terceiro nível</a:t>
            </a:r>
          </a:p>
          <a:p>
            <a:pPr lvl="3" rtl="0"/>
            <a:r>
              <a:rPr lang="pt-PT"/>
              <a:t>Quarto nível</a:t>
            </a:r>
          </a:p>
          <a:p>
            <a:pPr lvl="4" rtl="0"/>
            <a:r>
              <a:rPr lang="pt-PT"/>
              <a:t>Quinto nível</a:t>
            </a:r>
            <a:endParaRPr lang="pt-PT" dirty="0"/>
          </a:p>
        </p:txBody>
      </p:sp>
      <p:sp>
        <p:nvSpPr>
          <p:cNvPr id="5" name="Marcador de Posição do Texto 4"/>
          <p:cNvSpPr>
            <a:spLocks noGrp="1"/>
          </p:cNvSpPr>
          <p:nvPr>
            <p:ph type="body" sz="quarter" idx="3" hasCustomPrompt="1"/>
          </p:nvPr>
        </p:nvSpPr>
        <p:spPr>
          <a:xfrm>
            <a:off x="7818463" y="1023586"/>
            <a:ext cx="3474720" cy="813171"/>
          </a:xfrm>
        </p:spPr>
        <p:txBody>
          <a:bodyPr rtlCol="0"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PT"/>
              <a:t>Editar estilos de texto do Modelo Global</a:t>
            </a:r>
            <a:endParaRPr lang="pt-PT" dirty="0"/>
          </a:p>
        </p:txBody>
      </p:sp>
      <p:sp>
        <p:nvSpPr>
          <p:cNvPr id="6" name="Marcador de Posição de Conteúdo 5"/>
          <p:cNvSpPr>
            <a:spLocks noGrp="1"/>
          </p:cNvSpPr>
          <p:nvPr>
            <p:ph sz="quarter" idx="4" hasCustomPrompt="1"/>
          </p:nvPr>
        </p:nvSpPr>
        <p:spPr>
          <a:xfrm>
            <a:off x="7818463" y="1930936"/>
            <a:ext cx="3474720" cy="4023360"/>
          </a:xfrm>
        </p:spPr>
        <p:txBody>
          <a:bodyPr rtlCol="0"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pt-PT"/>
              <a:t>Editar estilos de texto do Modelo Global</a:t>
            </a:r>
          </a:p>
          <a:p>
            <a:pPr lvl="1" rtl="0"/>
            <a:r>
              <a:rPr lang="pt-PT"/>
              <a:t>Segundo nível</a:t>
            </a:r>
          </a:p>
          <a:p>
            <a:pPr lvl="2" rtl="0"/>
            <a:r>
              <a:rPr lang="pt-PT"/>
              <a:t>Terceiro nível</a:t>
            </a:r>
          </a:p>
          <a:p>
            <a:pPr lvl="3" rtl="0"/>
            <a:r>
              <a:rPr lang="pt-PT"/>
              <a:t>Quarto nível</a:t>
            </a:r>
          </a:p>
          <a:p>
            <a:pPr lvl="4" rtl="0"/>
            <a:r>
              <a:rPr lang="pt-PT"/>
              <a:t>Quinto nível</a:t>
            </a:r>
            <a:endParaRPr lang="pt-PT" dirty="0"/>
          </a:p>
        </p:txBody>
      </p:sp>
      <p:sp>
        <p:nvSpPr>
          <p:cNvPr id="2" name="Marcador de Posição da Dat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72F2C18-666F-4CB9-84DD-CA73BDA57755}" type="datetime1">
              <a:rPr lang="pt-PT" smtClean="0"/>
              <a:t>28/10/2024</a:t>
            </a:fld>
            <a:endParaRPr lang="pt-PT" dirty="0"/>
          </a:p>
        </p:txBody>
      </p:sp>
      <p:sp>
        <p:nvSpPr>
          <p:cNvPr id="11" name="Marcador de Posição do Rodapé 10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PT" dirty="0"/>
          </a:p>
        </p:txBody>
      </p:sp>
      <p:sp>
        <p:nvSpPr>
          <p:cNvPr id="12" name="Marcador de Posição do Número do Diapositivo 11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pt-PT" smtClean="0"/>
              <a:pPr rtl="0"/>
              <a:t>‹nº›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3946604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pt-PT"/>
              <a:t>Clique para editar o estilo do título do Modelo Global</a:t>
            </a:r>
            <a:endParaRPr lang="pt-PT" dirty="0"/>
          </a:p>
        </p:txBody>
      </p:sp>
      <p:sp>
        <p:nvSpPr>
          <p:cNvPr id="2" name="Marcador de Posição da Dat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F790F6C-93FD-4503-A178-0305D8315CC3}" type="datetime1">
              <a:rPr lang="pt-PT" smtClean="0"/>
              <a:t>28/10/2024</a:t>
            </a:fld>
            <a:endParaRPr lang="pt-PT" dirty="0"/>
          </a:p>
        </p:txBody>
      </p:sp>
      <p:sp>
        <p:nvSpPr>
          <p:cNvPr id="7" name="Marcador de Posição do Rodapé 6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PT" dirty="0"/>
          </a:p>
        </p:txBody>
      </p:sp>
      <p:sp>
        <p:nvSpPr>
          <p:cNvPr id="8" name="Marcador de Posição do Número do Diapositivo 7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pt-PT" smtClean="0"/>
              <a:pPr rtl="0"/>
              <a:t>‹nº›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6320463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BD435FE-7562-4027-B596-AC0511F9567B}" type="datetime1">
              <a:rPr lang="pt-PT" smtClean="0"/>
              <a:t>28/10/2024</a:t>
            </a:fld>
            <a:endParaRPr lang="pt-PT" dirty="0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PT" dirty="0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pt-PT" smtClean="0"/>
              <a:pPr rtl="0"/>
              <a:t>‹nº›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164920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256032" y="1143000"/>
            <a:ext cx="2834640" cy="2377440"/>
          </a:xfrm>
        </p:spPr>
        <p:txBody>
          <a:bodyPr rtlCol="0" anchor="b">
            <a:normAutofit/>
          </a:bodyPr>
          <a:lstStyle>
            <a:lvl1pPr>
              <a:defRPr sz="3200" b="0" baseline="0"/>
            </a:lvl1pPr>
          </a:lstStyle>
          <a:p>
            <a:pPr rtl="0"/>
            <a:r>
              <a:rPr lang="pt-PT"/>
              <a:t>Clique para editar o estilo do título do Modelo Global</a:t>
            </a:r>
            <a:endParaRPr lang="pt-PT" dirty="0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 hasCustomPrompt="1"/>
          </p:nvPr>
        </p:nvSpPr>
        <p:spPr>
          <a:xfrm>
            <a:off x="3906981" y="1852122"/>
            <a:ext cx="2458230" cy="2008678"/>
          </a:xfrm>
        </p:spPr>
        <p:txBody>
          <a:bodyPr rtlCol="0"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pt-PT"/>
              <a:t>Editar estilos de texto do Modelo Global</a:t>
            </a:r>
          </a:p>
          <a:p>
            <a:pPr lvl="1" rtl="0"/>
            <a:r>
              <a:rPr lang="pt-PT"/>
              <a:t>Segundo nível</a:t>
            </a:r>
          </a:p>
          <a:p>
            <a:pPr lvl="2" rtl="0"/>
            <a:r>
              <a:rPr lang="pt-PT"/>
              <a:t>Terceiro nível</a:t>
            </a:r>
          </a:p>
          <a:p>
            <a:pPr lvl="3" rtl="0"/>
            <a:r>
              <a:rPr lang="pt-PT"/>
              <a:t>Quarto nível</a:t>
            </a:r>
          </a:p>
          <a:p>
            <a:pPr lvl="4" rtl="0"/>
            <a:r>
              <a:rPr lang="pt-PT"/>
              <a:t>Quinto nível</a:t>
            </a:r>
            <a:endParaRPr lang="pt-PT" dirty="0"/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2" hasCustomPrompt="1"/>
          </p:nvPr>
        </p:nvSpPr>
        <p:spPr>
          <a:xfrm>
            <a:off x="256032" y="3494176"/>
            <a:ext cx="2834640" cy="2321990"/>
          </a:xfrm>
        </p:spPr>
        <p:txBody>
          <a:bodyPr rtlCol="0"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PT"/>
              <a:t>Editar estilos de texto do Modelo Global</a:t>
            </a:r>
            <a:endParaRPr lang="pt-PT" dirty="0"/>
          </a:p>
        </p:txBody>
      </p:sp>
      <p:sp>
        <p:nvSpPr>
          <p:cNvPr id="8" name="Marcador de Posição da Data 7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1C3AEAD-7E65-4F79-8C92-555C2C3D1B8A}" type="datetime1">
              <a:rPr lang="pt-PT" smtClean="0"/>
              <a:t>28/10/2024</a:t>
            </a:fld>
            <a:endParaRPr lang="pt-PT" dirty="0"/>
          </a:p>
        </p:txBody>
      </p:sp>
      <p:sp>
        <p:nvSpPr>
          <p:cNvPr id="9" name="Marcador de Posição do Rodapé 8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PT" dirty="0"/>
          </a:p>
        </p:txBody>
      </p:sp>
      <p:sp>
        <p:nvSpPr>
          <p:cNvPr id="10" name="Marcador de Posição do Número do Diapositivo 9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pt-PT" smtClean="0"/>
              <a:pPr rtl="0"/>
              <a:t>‹nº›</a:t>
            </a:fld>
            <a:endParaRPr lang="pt-PT" dirty="0"/>
          </a:p>
        </p:txBody>
      </p:sp>
      <p:sp>
        <p:nvSpPr>
          <p:cNvPr id="11" name="Marcador de Posição de Conteúdo 2">
            <a:extLst>
              <a:ext uri="{FF2B5EF4-FFF2-40B4-BE49-F238E27FC236}">
                <a16:creationId xmlns:a16="http://schemas.microsoft.com/office/drawing/2014/main" id="{87B0DF2F-DAFD-4616-9E25-0C28D75BF306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6491805" y="1852122"/>
            <a:ext cx="2458230" cy="2008678"/>
          </a:xfrm>
        </p:spPr>
        <p:txBody>
          <a:bodyPr rtlCol="0"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pt-PT"/>
              <a:t>Editar estilos de texto do Modelo Global</a:t>
            </a:r>
          </a:p>
          <a:p>
            <a:pPr lvl="1" rtl="0"/>
            <a:r>
              <a:rPr lang="pt-PT"/>
              <a:t>Segundo nível</a:t>
            </a:r>
          </a:p>
          <a:p>
            <a:pPr lvl="2" rtl="0"/>
            <a:r>
              <a:rPr lang="pt-PT"/>
              <a:t>Terceiro nível</a:t>
            </a:r>
          </a:p>
          <a:p>
            <a:pPr lvl="3" rtl="0"/>
            <a:r>
              <a:rPr lang="pt-PT"/>
              <a:t>Quarto nível</a:t>
            </a:r>
          </a:p>
          <a:p>
            <a:pPr lvl="4" rtl="0"/>
            <a:r>
              <a:rPr lang="pt-PT"/>
              <a:t>Quinto nível</a:t>
            </a:r>
            <a:endParaRPr lang="pt-PT" dirty="0"/>
          </a:p>
        </p:txBody>
      </p:sp>
      <p:sp>
        <p:nvSpPr>
          <p:cNvPr id="12" name="Marcador de Posição de Conteúdo 2">
            <a:extLst>
              <a:ext uri="{FF2B5EF4-FFF2-40B4-BE49-F238E27FC236}">
                <a16:creationId xmlns:a16="http://schemas.microsoft.com/office/drawing/2014/main" id="{336DA0F9-D851-437C-A45B-EC125A3D3DB3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9076629" y="1852122"/>
            <a:ext cx="2458230" cy="2008678"/>
          </a:xfrm>
        </p:spPr>
        <p:txBody>
          <a:bodyPr rtlCol="0"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pt-PT"/>
              <a:t>Editar estilos de texto do Modelo Global</a:t>
            </a:r>
          </a:p>
          <a:p>
            <a:pPr lvl="1" rtl="0"/>
            <a:r>
              <a:rPr lang="pt-PT"/>
              <a:t>Segundo nível</a:t>
            </a:r>
          </a:p>
          <a:p>
            <a:pPr lvl="2" rtl="0"/>
            <a:r>
              <a:rPr lang="pt-PT"/>
              <a:t>Terceiro nível</a:t>
            </a:r>
          </a:p>
          <a:p>
            <a:pPr lvl="3" rtl="0"/>
            <a:r>
              <a:rPr lang="pt-PT"/>
              <a:t>Quarto nível</a:t>
            </a:r>
          </a:p>
          <a:p>
            <a:pPr lvl="4" rtl="0"/>
            <a:r>
              <a:rPr lang="pt-PT"/>
              <a:t>Quinto nível</a:t>
            </a:r>
            <a:endParaRPr lang="pt-PT" dirty="0"/>
          </a:p>
        </p:txBody>
      </p:sp>
      <p:sp>
        <p:nvSpPr>
          <p:cNvPr id="6" name="Marcador de Posição do Texto 5">
            <a:extLst>
              <a:ext uri="{FF2B5EF4-FFF2-40B4-BE49-F238E27FC236}">
                <a16:creationId xmlns:a16="http://schemas.microsoft.com/office/drawing/2014/main" id="{0FF0BA98-3AB4-4D88-B1C2-6279BCACFAD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87792" y="3971924"/>
            <a:ext cx="2477419" cy="803275"/>
          </a:xfrm>
        </p:spPr>
        <p:txBody>
          <a:bodyPr rtlCol="0"/>
          <a:lstStyle>
            <a:lvl1pPr marL="0" indent="0">
              <a:buNone/>
              <a:defRPr/>
            </a:lvl1pPr>
          </a:lstStyle>
          <a:p>
            <a:pPr lvl="0" rtl="0"/>
            <a:r>
              <a:rPr lang="pt-PT"/>
              <a:t>Editar estilos de texto do Modelo Global</a:t>
            </a:r>
            <a:endParaRPr lang="pt-PT" dirty="0"/>
          </a:p>
        </p:txBody>
      </p:sp>
      <p:sp>
        <p:nvSpPr>
          <p:cNvPr id="13" name="Marcador de Posição do Texto 5">
            <a:extLst>
              <a:ext uri="{FF2B5EF4-FFF2-40B4-BE49-F238E27FC236}">
                <a16:creationId xmlns:a16="http://schemas.microsoft.com/office/drawing/2014/main" id="{D9DEF72B-B924-4A0D-8C83-3B370632C0D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72616" y="3971925"/>
            <a:ext cx="2477419" cy="803275"/>
          </a:xfrm>
        </p:spPr>
        <p:txBody>
          <a:bodyPr rtlCol="0"/>
          <a:lstStyle>
            <a:lvl1pPr marL="0" indent="0">
              <a:buNone/>
              <a:defRPr/>
            </a:lvl1pPr>
          </a:lstStyle>
          <a:p>
            <a:pPr lvl="0" rtl="0"/>
            <a:r>
              <a:rPr lang="pt-PT"/>
              <a:t>Editar estilos de texto do Modelo Global</a:t>
            </a:r>
            <a:endParaRPr lang="pt-PT" dirty="0"/>
          </a:p>
        </p:txBody>
      </p:sp>
      <p:sp>
        <p:nvSpPr>
          <p:cNvPr id="14" name="Marcador de Posição do Texto 5">
            <a:extLst>
              <a:ext uri="{FF2B5EF4-FFF2-40B4-BE49-F238E27FC236}">
                <a16:creationId xmlns:a16="http://schemas.microsoft.com/office/drawing/2014/main" id="{E9D30C54-E9E8-4300-8DA4-352DB3A71A4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70240" y="3971924"/>
            <a:ext cx="2458230" cy="803275"/>
          </a:xfrm>
        </p:spPr>
        <p:txBody>
          <a:bodyPr rtlCol="0"/>
          <a:lstStyle>
            <a:lvl1pPr marL="0" indent="0">
              <a:buNone/>
              <a:defRPr/>
            </a:lvl1pPr>
          </a:lstStyle>
          <a:p>
            <a:pPr lvl="0" rtl="0"/>
            <a:r>
              <a:rPr lang="pt-PT"/>
              <a:t>Editar estilos de texto do Modelo Global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0750801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256032" y="1143000"/>
            <a:ext cx="2834640" cy="2377440"/>
          </a:xfrm>
        </p:spPr>
        <p:txBody>
          <a:bodyPr rtlCol="0" anchor="b">
            <a:normAutofit/>
          </a:bodyPr>
          <a:lstStyle>
            <a:lvl1pPr>
              <a:defRPr sz="3200" b="0"/>
            </a:lvl1pPr>
          </a:lstStyle>
          <a:p>
            <a:pPr rtl="0"/>
            <a:r>
              <a:rPr lang="pt-PT"/>
              <a:t>Clique para editar o estilo do título do Modelo Global</a:t>
            </a:r>
            <a:endParaRPr lang="pt-PT" dirty="0"/>
          </a:p>
        </p:txBody>
      </p:sp>
      <p:sp>
        <p:nvSpPr>
          <p:cNvPr id="3" name="Marcador de Posição da Imagem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pt-PT"/>
              <a:t>Clique no ícone para adicionar uma imagem</a:t>
            </a:r>
            <a:endParaRPr lang="pt-PT" dirty="0"/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2" hasCustomPrompt="1"/>
          </p:nvPr>
        </p:nvSpPr>
        <p:spPr>
          <a:xfrm>
            <a:off x="256032" y="3493008"/>
            <a:ext cx="2834640" cy="2322576"/>
          </a:xfrm>
        </p:spPr>
        <p:txBody>
          <a:bodyPr rtlCol="0"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PT"/>
              <a:t>Editar estilos de texto do Modelo Global</a:t>
            </a:r>
            <a:endParaRPr lang="pt-PT" dirty="0"/>
          </a:p>
        </p:txBody>
      </p:sp>
      <p:sp>
        <p:nvSpPr>
          <p:cNvPr id="8" name="Marcador de Posição da Data 7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79F90B9-C0A5-47CE-911F-CF0143FE532F}" type="datetime1">
              <a:rPr lang="pt-PT" smtClean="0"/>
              <a:t>28/10/2024</a:t>
            </a:fld>
            <a:endParaRPr lang="pt-PT" dirty="0"/>
          </a:p>
        </p:txBody>
      </p:sp>
      <p:sp>
        <p:nvSpPr>
          <p:cNvPr id="9" name="Marcador de Posição do Rodapé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 rtlCol="0"/>
          <a:lstStyle/>
          <a:p>
            <a:pPr rtl="0"/>
            <a:endParaRPr lang="pt-PT" dirty="0"/>
          </a:p>
        </p:txBody>
      </p:sp>
      <p:sp>
        <p:nvSpPr>
          <p:cNvPr id="10" name="Marcador de Posição do Número do Diapositivo 9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pt-PT" smtClean="0"/>
              <a:pPr rtl="0"/>
              <a:t>‹nº›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0594109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pt-PT"/>
              <a:t>Clique para editar o estilo do título do Modelo Global</a:t>
            </a:r>
            <a:endParaRPr lang="pt-PT" dirty="0"/>
          </a:p>
        </p:txBody>
      </p:sp>
      <p:sp>
        <p:nvSpPr>
          <p:cNvPr id="3" name="Marcador de Posição de Texto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 anchor="t"/>
          <a:lstStyle/>
          <a:p>
            <a:pPr lvl="0" rtl="0"/>
            <a:r>
              <a:rPr lang="pt-PT"/>
              <a:t>Editar estilos de texto do Modelo Global</a:t>
            </a:r>
          </a:p>
          <a:p>
            <a:pPr lvl="1" rtl="0"/>
            <a:r>
              <a:rPr lang="pt-PT"/>
              <a:t>Segundo nível</a:t>
            </a:r>
          </a:p>
          <a:p>
            <a:pPr lvl="2" rtl="0"/>
            <a:r>
              <a:rPr lang="pt-PT"/>
              <a:t>Terceiro nível</a:t>
            </a:r>
          </a:p>
          <a:p>
            <a:pPr lvl="3" rtl="0"/>
            <a:r>
              <a:rPr lang="pt-PT"/>
              <a:t>Quarto nível</a:t>
            </a:r>
          </a:p>
          <a:p>
            <a:pPr lvl="4" rtl="0"/>
            <a:r>
              <a:rPr lang="pt-PT"/>
              <a:t>Quinto nível</a:t>
            </a:r>
            <a:endParaRPr lang="pt-PT" dirty="0"/>
          </a:p>
        </p:txBody>
      </p:sp>
      <p:sp>
        <p:nvSpPr>
          <p:cNvPr id="7" name="Marcador de Posição da Dat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A38FC35-9365-4B90-AA64-F8B6901EB4C8}" type="datetime1">
              <a:rPr lang="pt-PT" smtClean="0"/>
              <a:t>28/10/2024</a:t>
            </a:fld>
            <a:endParaRPr lang="pt-PT" dirty="0"/>
          </a:p>
        </p:txBody>
      </p:sp>
      <p:sp>
        <p:nvSpPr>
          <p:cNvPr id="8" name="Marcador de Posição do Rodapé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PT" dirty="0"/>
          </a:p>
        </p:txBody>
      </p:sp>
      <p:sp>
        <p:nvSpPr>
          <p:cNvPr id="9" name="Marcador de Posição do Número do Diapositivo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pt-PT" smtClean="0"/>
              <a:pPr rtl="0"/>
              <a:t>‹nº›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9439745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 hasCustomPrompt="1"/>
          </p:nvPr>
        </p:nvSpPr>
        <p:spPr>
          <a:xfrm>
            <a:off x="381000" y="990600"/>
            <a:ext cx="2819400" cy="4953000"/>
          </a:xfrm>
        </p:spPr>
        <p:txBody>
          <a:bodyPr vert="eaVert" rtlCol="0"/>
          <a:lstStyle/>
          <a:p>
            <a:pPr rtl="0"/>
            <a:r>
              <a:rPr lang="pt-PT"/>
              <a:t>Clique para editar o estilo do título do Modelo Global</a:t>
            </a:r>
            <a:endParaRPr lang="pt-PT" dirty="0"/>
          </a:p>
        </p:txBody>
      </p:sp>
      <p:sp>
        <p:nvSpPr>
          <p:cNvPr id="3" name="Marcador de Posição de Texto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3867912" y="868680"/>
            <a:ext cx="7315200" cy="5120640"/>
          </a:xfrm>
        </p:spPr>
        <p:txBody>
          <a:bodyPr vert="eaVert" rtlCol="0" anchor="t"/>
          <a:lstStyle/>
          <a:p>
            <a:pPr lvl="0" rtl="0"/>
            <a:r>
              <a:rPr lang="pt-PT"/>
              <a:t>Editar estilos de texto do Modelo Global</a:t>
            </a:r>
          </a:p>
          <a:p>
            <a:pPr lvl="1" rtl="0"/>
            <a:r>
              <a:rPr lang="pt-PT"/>
              <a:t>Segundo nível</a:t>
            </a:r>
          </a:p>
          <a:p>
            <a:pPr lvl="2" rtl="0"/>
            <a:r>
              <a:rPr lang="pt-PT"/>
              <a:t>Terceiro nível</a:t>
            </a:r>
          </a:p>
          <a:p>
            <a:pPr lvl="3" rtl="0"/>
            <a:r>
              <a:rPr lang="pt-PT"/>
              <a:t>Quarto nível</a:t>
            </a:r>
          </a:p>
          <a:p>
            <a:pPr lvl="4" rtl="0"/>
            <a:r>
              <a:rPr lang="pt-PT"/>
              <a:t>Quinto nível</a:t>
            </a:r>
            <a:endParaRPr lang="pt-PT" dirty="0"/>
          </a:p>
        </p:txBody>
      </p:sp>
      <p:sp>
        <p:nvSpPr>
          <p:cNvPr id="7" name="Marcador de Posição da Dat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902B942-40AE-4579-8946-A32B19898FA2}" type="datetime1">
              <a:rPr lang="pt-PT" smtClean="0"/>
              <a:t>28/10/2024</a:t>
            </a:fld>
            <a:endParaRPr lang="pt-PT" dirty="0"/>
          </a:p>
        </p:txBody>
      </p:sp>
      <p:sp>
        <p:nvSpPr>
          <p:cNvPr id="8" name="Marcador de Posição do Rodapé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PT" dirty="0"/>
          </a:p>
        </p:txBody>
      </p:sp>
      <p:sp>
        <p:nvSpPr>
          <p:cNvPr id="9" name="Marcador de Posição do Número do Diapositivo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pt-PT" smtClean="0"/>
              <a:pPr rtl="0"/>
              <a:t>‹nº›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4197192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 dirty="0"/>
          </a:p>
        </p:txBody>
      </p:sp>
      <p:sp>
        <p:nvSpPr>
          <p:cNvPr id="2" name="Marcador de Posição do Título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pt-PT"/>
              <a:t>Clique para editar o estilo do título do Modelo Global</a:t>
            </a:r>
            <a:endParaRPr lang="pt-PT" dirty="0"/>
          </a:p>
        </p:txBody>
      </p:sp>
      <p:sp>
        <p:nvSpPr>
          <p:cNvPr id="38" name="Retângulo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 dirty="0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pt-PT"/>
              <a:t>Editar estilos de texto do Modelo Global</a:t>
            </a:r>
          </a:p>
          <a:p>
            <a:pPr lvl="1" rtl="0"/>
            <a:r>
              <a:rPr lang="pt-PT"/>
              <a:t>Segundo nível</a:t>
            </a:r>
          </a:p>
          <a:p>
            <a:pPr lvl="2" rtl="0"/>
            <a:r>
              <a:rPr lang="pt-PT"/>
              <a:t>Terceiro nível</a:t>
            </a:r>
          </a:p>
          <a:p>
            <a:pPr lvl="3" rtl="0"/>
            <a:r>
              <a:rPr lang="pt-PT"/>
              <a:t>Quarto nível</a:t>
            </a:r>
          </a:p>
          <a:p>
            <a:pPr lvl="4" rtl="0"/>
            <a:r>
              <a:rPr lang="pt-PT"/>
              <a:t>Quinto nível</a:t>
            </a:r>
            <a:endParaRPr lang="pt-PT" dirty="0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rtl="0"/>
            <a:fld id="{0C92EBF4-E707-40E4-ABD0-7B525249CF52}" type="datetime1">
              <a:rPr lang="pt-PT" smtClean="0"/>
              <a:t>28/10/2024</a:t>
            </a:fld>
            <a:endParaRPr lang="pt-PT" dirty="0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rtl="0"/>
            <a:endParaRPr lang="pt-PT" dirty="0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pPr rtl="0"/>
            <a:fld id="{4FAB73BC-B049-4115-A692-8D63A059BFB8}" type="slidenum">
              <a:rPr lang="pt-PT" smtClean="0"/>
              <a:pPr rtl="0"/>
              <a:t>‹nº›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4359396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  <p:sldLayoutId id="2147483866" r:id="rId2"/>
    <p:sldLayoutId id="2147483867" r:id="rId3"/>
    <p:sldLayoutId id="2147483868" r:id="rId4"/>
    <p:sldLayoutId id="2147483869" r:id="rId5"/>
    <p:sldLayoutId id="2147483870" r:id="rId6"/>
    <p:sldLayoutId id="2147483871" r:id="rId7"/>
    <p:sldLayoutId id="2147483872" r:id="rId8"/>
    <p:sldLayoutId id="2147483873" r:id="rId9"/>
    <p:sldLayoutId id="2147483874" r:id="rId10"/>
    <p:sldLayoutId id="2147483875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mailto:1220838@isep.ipp.pt" TargetMode="External"/><Relationship Id="rId3" Type="http://schemas.openxmlformats.org/officeDocument/2006/relationships/hyperlink" Target="mailto:1221119@isep.ipp.pt" TargetMode="External"/><Relationship Id="rId7" Type="http://schemas.openxmlformats.org/officeDocument/2006/relationships/hyperlink" Target="mailto:1171317@isep.ipp.pt" TargetMode="External"/><Relationship Id="rId2" Type="http://schemas.openxmlformats.org/officeDocument/2006/relationships/hyperlink" Target="mailto:1221514@isep.ipp.pt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mailto:1241707@isep.ipp.pt" TargetMode="External"/><Relationship Id="rId5" Type="http://schemas.openxmlformats.org/officeDocument/2006/relationships/hyperlink" Target="mailto:1240580@isep.ipp.pt" TargetMode="External"/><Relationship Id="rId4" Type="http://schemas.openxmlformats.org/officeDocument/2006/relationships/hyperlink" Target="mailto:1240590@isep.ipp.pt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tângulo 9">
            <a:extLst>
              <a:ext uri="{FF2B5EF4-FFF2-40B4-BE49-F238E27FC236}">
                <a16:creationId xmlns:a16="http://schemas.microsoft.com/office/drawing/2014/main" id="{8869841E-71E7-4F51-8E6F-5E8A5E3756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PT" dirty="0"/>
          </a:p>
        </p:txBody>
      </p:sp>
      <p:pic>
        <p:nvPicPr>
          <p:cNvPr id="5" name="Imagem 4" descr="Planos">
            <a:extLst>
              <a:ext uri="{FF2B5EF4-FFF2-40B4-BE49-F238E27FC236}">
                <a16:creationId xmlns:a16="http://schemas.microsoft.com/office/drawing/2014/main" id="{A3A2E0DA-DA21-447D-AD1F-3DB915DD051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0" y="-1"/>
            <a:ext cx="12188932" cy="6858000"/>
          </a:xfrm>
          <a:prstGeom prst="rect">
            <a:avLst/>
          </a:prstGeom>
        </p:spPr>
      </p:pic>
      <p:sp>
        <p:nvSpPr>
          <p:cNvPr id="12" name="Retângulo 11">
            <a:extLst>
              <a:ext uri="{FF2B5EF4-FFF2-40B4-BE49-F238E27FC236}">
                <a16:creationId xmlns:a16="http://schemas.microsoft.com/office/drawing/2014/main" id="{594B067E-A161-4B29-A8FA-FEEB194495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761999"/>
            <a:ext cx="4642228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D6CA50C-1A88-4B3F-A34F-FE199F4205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467" y="1298448"/>
            <a:ext cx="3685070" cy="3255264"/>
          </a:xfrm>
        </p:spPr>
        <p:txBody>
          <a:bodyPr rtlCol="0">
            <a:normAutofit/>
          </a:bodyPr>
          <a:lstStyle/>
          <a:p>
            <a:pPr rtl="0"/>
            <a:r>
              <a:rPr lang="pt-PT" sz="4800" dirty="0"/>
              <a:t>Sprint 1 - Apresentação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9CC2D51-705E-403A-AC0E-9157DC5513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3467" y="4670246"/>
            <a:ext cx="3685070" cy="914400"/>
          </a:xfrm>
        </p:spPr>
        <p:txBody>
          <a:bodyPr rtlCol="0">
            <a:normAutofit/>
          </a:bodyPr>
          <a:lstStyle/>
          <a:p>
            <a:pPr rtl="0"/>
            <a:r>
              <a:rPr lang="pt-PT" dirty="0"/>
              <a:t>Equipa: G152</a:t>
            </a:r>
          </a:p>
          <a:p>
            <a:r>
              <a:rPr lang="pt-PT" dirty="0"/>
              <a:t>Data: 29/10/2024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C20C741F-0826-4AB6-A92E-AB4EB50216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7458289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A039EA-8BA2-6A1E-1AB5-CB0E1C704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b="1" dirty="0"/>
              <a:t>Objetivos do Sprint 1</a:t>
            </a:r>
            <a:br>
              <a:rPr lang="pt-PT" dirty="0"/>
            </a:br>
            <a:endParaRPr lang="pt-PT" dirty="0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AE621A57-B4F1-3902-10CB-0DAF6ABF5C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pt-PT" dirty="0"/>
              <a:t>Desenvolver uma base de dados para modelar uma instalação industrial.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PT" dirty="0"/>
              <a:t>Implementar uma ferramenta básica de simulação.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PT" dirty="0"/>
              <a:t>Criar o modelo de domínio (nível conceptual).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PT" dirty="0"/>
              <a:t>Apresentar funcionalidades e resultados através de uma interface amigável.</a:t>
            </a:r>
          </a:p>
          <a:p>
            <a:pPr marL="0" indent="0">
              <a:buNone/>
            </a:pP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30798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7029E2-390D-6235-ED41-821AE917C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err="1"/>
              <a:t>User</a:t>
            </a:r>
            <a:r>
              <a:rPr lang="pt-PT" dirty="0"/>
              <a:t> </a:t>
            </a:r>
            <a:r>
              <a:rPr lang="pt-PT" dirty="0" err="1"/>
              <a:t>Stories</a:t>
            </a:r>
            <a:r>
              <a:rPr lang="pt-PT" dirty="0"/>
              <a:t> - Base de Dados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BE51344E-D22D-847F-A007-C1744B647B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pt-PT" b="1" dirty="0"/>
              <a:t>USBD01</a:t>
            </a:r>
            <a:r>
              <a:rPr lang="pt-PT" dirty="0"/>
              <a:t>: Criar um dicionário de dados/glossário.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PT" b="1" dirty="0"/>
              <a:t>USBD02</a:t>
            </a:r>
            <a:r>
              <a:rPr lang="pt-PT" dirty="0"/>
              <a:t>: Desenvolver o modelo relacional (nível lógico).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PT" b="1" dirty="0"/>
              <a:t>USBD03</a:t>
            </a:r>
            <a:r>
              <a:rPr lang="pt-PT" dirty="0"/>
              <a:t>: Instanciar o modelo relacional (nível físico).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PT" b="1" dirty="0"/>
              <a:t>USBD04</a:t>
            </a:r>
            <a:r>
              <a:rPr lang="pt-PT" dirty="0"/>
              <a:t>: Importar dados de um sistema legado e entregá-los num </a:t>
            </a:r>
            <a:r>
              <a:rPr lang="pt-PT" dirty="0" err="1"/>
              <a:t>ficheiro.sql</a:t>
            </a:r>
            <a:r>
              <a:rPr lang="pt-PT" dirty="0"/>
              <a:t> com as </a:t>
            </a:r>
            <a:r>
              <a:rPr lang="pt-PT" dirty="0" err="1"/>
              <a:t>query</a:t>
            </a:r>
            <a:r>
              <a:rPr lang="pt-PT" dirty="0"/>
              <a:t> de </a:t>
            </a:r>
            <a:r>
              <a:rPr lang="pt-PT" dirty="0" err="1"/>
              <a:t>insert</a:t>
            </a:r>
            <a:r>
              <a:rPr lang="pt-PT" dirty="0"/>
              <a:t> para a base de dados.</a:t>
            </a:r>
          </a:p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6262795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319B80-2554-9CD5-ABEC-C83EA3D7C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Critérios de Aceitação - Base de Dados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398D2F89-B617-9A3E-7EB8-B5A9056D9F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pt-PT" b="1" dirty="0"/>
              <a:t>Modelo de dados completo</a:t>
            </a:r>
            <a:r>
              <a:rPr lang="pt-PT" dirty="0"/>
              <a:t> no Visual </a:t>
            </a:r>
            <a:r>
              <a:rPr lang="pt-PT" dirty="0" err="1"/>
              <a:t>Paradigm</a:t>
            </a:r>
            <a:r>
              <a:rPr lang="pt-PT" dirty="0"/>
              <a:t> com todas as ligações e restrições.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PT" b="1" dirty="0"/>
              <a:t>Geração automática</a:t>
            </a:r>
            <a:r>
              <a:rPr lang="pt-PT" dirty="0"/>
              <a:t> do script físico para o Oracle </a:t>
            </a:r>
            <a:r>
              <a:rPr lang="pt-PT" dirty="0" err="1"/>
              <a:t>LiveSQL</a:t>
            </a:r>
            <a:r>
              <a:rPr lang="pt-PT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PT" b="1" dirty="0"/>
              <a:t>Dados importados</a:t>
            </a:r>
            <a:r>
              <a:rPr lang="pt-PT" dirty="0"/>
              <a:t> do sistema legado.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PT" b="1" dirty="0"/>
              <a:t>Acima do esperado</a:t>
            </a:r>
            <a:r>
              <a:rPr lang="pt-PT" dirty="0"/>
              <a:t>: Apresentação de um modelo conceptual adicional.</a:t>
            </a:r>
          </a:p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316595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CC6923-0B37-53EC-4202-5D9F8C9B0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err="1"/>
              <a:t>User</a:t>
            </a:r>
            <a:r>
              <a:rPr lang="pt-PT" dirty="0"/>
              <a:t> </a:t>
            </a:r>
            <a:r>
              <a:rPr lang="pt-PT" dirty="0" err="1"/>
              <a:t>Stories</a:t>
            </a:r>
            <a:r>
              <a:rPr lang="pt-PT" dirty="0"/>
              <a:t> - Consultas de Produção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322E1135-7B61-1C21-B4B2-944122F277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pt-PT" b="1" dirty="0"/>
              <a:t>USBD05</a:t>
            </a:r>
            <a:r>
              <a:rPr lang="pt-PT" dirty="0"/>
              <a:t>: Saber, para cada produto, as encomendas a entregar (cliente, produto, quantidade, data) num determinado período.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PT" b="1" dirty="0"/>
              <a:t>USBD06</a:t>
            </a:r>
            <a:r>
              <a:rPr lang="pt-PT" dirty="0"/>
              <a:t>: Conhecer os tipos de postos de trabalho utilizados numa determinada encomenda.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PT" b="1" dirty="0"/>
              <a:t>USBD07</a:t>
            </a:r>
            <a:r>
              <a:rPr lang="pt-PT" dirty="0"/>
              <a:t>: Identificar os materiais/componentes a encomendar para cumprir uma determinada ordem de produção, incluindo a quantidade de cada um.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PT" b="1" dirty="0"/>
              <a:t>USBD08</a:t>
            </a:r>
            <a:r>
              <a:rPr lang="pt-PT" dirty="0"/>
              <a:t>: Conhecer as diferentes operações que a fábrica suporta.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PT" b="1" dirty="0"/>
              <a:t>USBD09</a:t>
            </a:r>
            <a:r>
              <a:rPr lang="pt-PT" dirty="0"/>
              <a:t>: Obter a sequência de operações e o respetivo tipo de posto de trabalho, a partir de uma BOO de um dado produto.</a:t>
            </a:r>
          </a:p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1366496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986432-B116-C237-34A7-C9D4E7D95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Critérios de Aceitação - Consultas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45EA6F29-03A4-E531-28DA-196AEB6F7F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pt-PT" b="1" dirty="0"/>
              <a:t>Mínimo aceitável</a:t>
            </a:r>
            <a:r>
              <a:rPr lang="pt-PT" dirty="0"/>
              <a:t>: Funcionalidades operando com dados adequados.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PT" b="1" dirty="0"/>
              <a:t>Mínimo esperado</a:t>
            </a:r>
            <a:r>
              <a:rPr lang="pt-PT" dirty="0"/>
              <a:t>: Demonstrado com dados importados do sistema legado.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PT" b="1" dirty="0"/>
              <a:t>Acima do esperado</a:t>
            </a:r>
            <a:r>
              <a:rPr lang="pt-PT" dirty="0"/>
              <a:t>: Demonstrado com dados fornecidos para avaliação do Sprint 1.</a:t>
            </a:r>
          </a:p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3411946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9F14AF-F504-1BDF-8137-06E8833E8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err="1"/>
              <a:t>User</a:t>
            </a:r>
            <a:r>
              <a:rPr lang="pt-PT" dirty="0"/>
              <a:t> </a:t>
            </a:r>
            <a:r>
              <a:rPr lang="pt-PT" dirty="0" err="1"/>
              <a:t>Stories</a:t>
            </a:r>
            <a:r>
              <a:rPr lang="pt-PT" dirty="0"/>
              <a:t> - Ferramenta de Simulação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29AAF853-5100-1026-91BA-4A19C48D4B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PT" b="1" dirty="0"/>
              <a:t>USEI01</a:t>
            </a:r>
            <a:r>
              <a:rPr lang="pt-PT" dirty="0"/>
              <a:t>: Definir estruturas de dados adequadas para armazenar as informações importadas dos ficheiros:</a:t>
            </a:r>
          </a:p>
          <a:p>
            <a:endParaRPr lang="pt-PT" dirty="0"/>
          </a:p>
          <a:p>
            <a:pPr marL="457200" indent="-457200">
              <a:buFont typeface="+mj-lt"/>
              <a:buAutoNum type="arabicPeriod"/>
            </a:pPr>
            <a:r>
              <a:rPr lang="pt-PT" b="1" dirty="0"/>
              <a:t>articles.csv</a:t>
            </a:r>
            <a:r>
              <a:rPr lang="pt-PT" dirty="0"/>
              <a:t>: &lt;</a:t>
            </a:r>
            <a:r>
              <a:rPr lang="pt-PT" dirty="0" err="1"/>
              <a:t>id_item</a:t>
            </a:r>
            <a:r>
              <a:rPr lang="pt-PT" dirty="0"/>
              <a:t>, prioridade, nome_oper1, ..., </a:t>
            </a:r>
            <a:r>
              <a:rPr lang="pt-PT" dirty="0" err="1"/>
              <a:t>nome_operN</a:t>
            </a:r>
            <a:r>
              <a:rPr lang="pt-PT" dirty="0"/>
              <a:t>&gt;</a:t>
            </a:r>
          </a:p>
          <a:p>
            <a:pPr marL="457200" indent="-457200">
              <a:buFont typeface="+mj-lt"/>
              <a:buAutoNum type="arabicPeriod"/>
            </a:pPr>
            <a:r>
              <a:rPr lang="pt-PT" b="1" dirty="0"/>
              <a:t>workstations.csv</a:t>
            </a:r>
            <a:r>
              <a:rPr lang="pt-PT" dirty="0"/>
              <a:t>: &lt;</a:t>
            </a:r>
            <a:r>
              <a:rPr lang="pt-PT" dirty="0" err="1"/>
              <a:t>id_workstation</a:t>
            </a:r>
            <a:r>
              <a:rPr lang="pt-PT" dirty="0"/>
              <a:t>, </a:t>
            </a:r>
            <a:r>
              <a:rPr lang="pt-PT" dirty="0" err="1"/>
              <a:t>nome_oper</a:t>
            </a:r>
            <a:r>
              <a:rPr lang="pt-PT" dirty="0"/>
              <a:t>, tempo&gt;</a:t>
            </a:r>
          </a:p>
        </p:txBody>
      </p:sp>
    </p:spTree>
    <p:extLst>
      <p:ext uri="{BB962C8B-B14F-4D97-AF65-F5344CB8AC3E}">
        <p14:creationId xmlns:p14="http://schemas.microsoft.com/office/powerpoint/2010/main" val="41412249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C8E530-D3D1-0E0C-15CA-0E6FBA275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err="1"/>
              <a:t>User</a:t>
            </a:r>
            <a:r>
              <a:rPr lang="pt-PT" dirty="0"/>
              <a:t> </a:t>
            </a:r>
            <a:r>
              <a:rPr lang="pt-PT" dirty="0" err="1"/>
              <a:t>Stories</a:t>
            </a:r>
            <a:r>
              <a:rPr lang="pt-PT" dirty="0"/>
              <a:t> - Ferramenta de Simulação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246DFFC-E9B4-F196-4F2A-EB0128554A5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869268" y="2262571"/>
            <a:ext cx="7932739" cy="2323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pt-PT" b="1" dirty="0"/>
              <a:t>USEI02</a:t>
            </a:r>
            <a:r>
              <a:rPr lang="pt-PT" dirty="0"/>
              <a:t>: Implementar um simulador que processe todos os itens de acordo com critérios específicos: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PT" b="1" dirty="0"/>
              <a:t>AC1</a:t>
            </a:r>
            <a:r>
              <a:rPr lang="pt-PT" dirty="0"/>
              <a:t>: O simulador deve criar uma fila preliminar para cada operação, contendo todos os itens cuja próxima operação é a da fila especificada.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PT" b="1" dirty="0"/>
              <a:t>AC2</a:t>
            </a:r>
            <a:r>
              <a:rPr lang="pt-PT" dirty="0"/>
              <a:t>: Os itens na fila devem ser atribuídos à máquina disponível capaz de realizar a operação necessária mais rapidamente, pela ordem de entrada na fila.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PT" altLang="pt-PT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77343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3274FD-6550-FA71-7673-23C6E4054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err="1"/>
              <a:t>User</a:t>
            </a:r>
            <a:r>
              <a:rPr lang="pt-PT" dirty="0"/>
              <a:t> </a:t>
            </a:r>
            <a:r>
              <a:rPr lang="pt-PT" dirty="0" err="1"/>
              <a:t>Story</a:t>
            </a:r>
            <a:r>
              <a:rPr lang="pt-PT" dirty="0"/>
              <a:t> Adicional - Simulação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38012E3C-8B1A-6CE4-1210-FC473BD07C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pt-PT" b="1" dirty="0"/>
              <a:t>USEI05</a:t>
            </a:r>
            <a:r>
              <a:rPr lang="pt-PT" dirty="0"/>
              <a:t>: Apresentar uma lista de postos de trabalho com: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PT" dirty="0"/>
              <a:t>Tempo total de operação.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PT" dirty="0"/>
              <a:t>Percentagens relativas ao tempo de operação e tempo total de execução.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PT" dirty="0"/>
              <a:t>Ordenadas de forma ascendente pela percentagem de tempo de execução em relação ao tempo total.</a:t>
            </a:r>
          </a:p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3302178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811957-AFAD-9226-C825-50E1E39F8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err="1"/>
              <a:t>User</a:t>
            </a:r>
            <a:r>
              <a:rPr lang="pt-PT" dirty="0"/>
              <a:t> </a:t>
            </a:r>
            <a:r>
              <a:rPr lang="pt-PT" dirty="0" err="1"/>
              <a:t>Stories</a:t>
            </a:r>
            <a:r>
              <a:rPr lang="pt-PT" dirty="0"/>
              <a:t> - Modelo de Domínio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43C212E0-A535-4113-20CB-D021BA9E25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PT" b="1" dirty="0"/>
              <a:t>USLP01</a:t>
            </a:r>
            <a:r>
              <a:rPr lang="pt-PT" dirty="0"/>
              <a:t>: Criar o modelo de domínio (nível conceptual):</a:t>
            </a:r>
          </a:p>
          <a:p>
            <a:pPr lvl="1"/>
            <a:r>
              <a:rPr lang="pt-PT" dirty="0"/>
              <a:t>Elemento essencial de comunicação entre todas as partes </a:t>
            </a:r>
            <a:r>
              <a:rPr lang="pt-PT" dirty="0" err="1"/>
              <a:t>interessadas.Diagrama</a:t>
            </a:r>
            <a:r>
              <a:rPr lang="pt-PT" dirty="0"/>
              <a:t> é um documento dinâmico que reflete o entendimento partilhado.</a:t>
            </a:r>
          </a:p>
          <a:p>
            <a:r>
              <a:rPr lang="pt-PT" b="1" dirty="0"/>
              <a:t>USLP02</a:t>
            </a:r>
            <a:r>
              <a:rPr lang="pt-PT" dirty="0"/>
              <a:t>: </a:t>
            </a:r>
          </a:p>
          <a:p>
            <a:pPr lvl="1"/>
            <a:r>
              <a:rPr lang="pt-PT" dirty="0"/>
              <a:t>Apresentar as funcionalidades e resultados da ferramenta de simulação através de uma interface amigável baseada em texto.</a:t>
            </a:r>
          </a:p>
        </p:txBody>
      </p:sp>
    </p:spTree>
    <p:extLst>
      <p:ext uri="{BB962C8B-B14F-4D97-AF65-F5344CB8AC3E}">
        <p14:creationId xmlns:p14="http://schemas.microsoft.com/office/powerpoint/2010/main" val="2558823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10A445-49D7-FB95-DB13-B4C6FA815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Critérios de Aceitação - Modelo de Domínio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E7CCAFF4-E7EE-D893-FC37-57C66B3995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pt-PT" b="1" dirty="0"/>
              <a:t>Cobertura</a:t>
            </a:r>
            <a:r>
              <a:rPr lang="pt-PT" dirty="0"/>
              <a:t> da atividade da instalação industrial (excluindo a ferramenta de simulação).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PT" b="1" dirty="0"/>
              <a:t>Expectativa</a:t>
            </a:r>
            <a:r>
              <a:rPr lang="pt-PT" dirty="0"/>
              <a:t>: Modelo básico partilhado no Visual </a:t>
            </a:r>
            <a:r>
              <a:rPr lang="pt-PT" dirty="0" err="1"/>
              <a:t>Paradigm</a:t>
            </a:r>
            <a:r>
              <a:rPr lang="pt-PT" dirty="0"/>
              <a:t> ou documentação no GitHub (e.g., </a:t>
            </a:r>
            <a:r>
              <a:rPr lang="pt-PT" dirty="0" err="1"/>
              <a:t>PlantUML</a:t>
            </a:r>
            <a:r>
              <a:rPr lang="pt-PT" dirty="0"/>
              <a:t>).</a:t>
            </a:r>
          </a:p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0790842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2D36BB-C274-4744-E7AB-4E86C7B61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b="1" dirty="0"/>
              <a:t>Conclusão do Sprint 1</a:t>
            </a:r>
            <a:br>
              <a:rPr lang="pt-PT" dirty="0"/>
            </a:br>
            <a:endParaRPr lang="pt-PT" dirty="0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45CB0F4F-6BF8-3619-E14C-5A6E1DE204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PT" dirty="0"/>
              <a:t>Resumo das atividades e </a:t>
            </a:r>
            <a:r>
              <a:rPr lang="pt-PT" dirty="0" err="1"/>
              <a:t>user</a:t>
            </a:r>
            <a:r>
              <a:rPr lang="pt-PT" dirty="0"/>
              <a:t> </a:t>
            </a:r>
            <a:r>
              <a:rPr lang="pt-PT" dirty="0" err="1"/>
              <a:t>stories</a:t>
            </a:r>
            <a:r>
              <a:rPr lang="pt-PT" dirty="0"/>
              <a:t> implementadas.</a:t>
            </a:r>
          </a:p>
          <a:p>
            <a:r>
              <a:rPr lang="pt-PT" dirty="0"/>
              <a:t>Cumprimento dos critérios de aceitação estabelecidos.</a:t>
            </a:r>
          </a:p>
          <a:p>
            <a:r>
              <a:rPr lang="pt-PT" dirty="0"/>
              <a:t>Preparação para os próximos sprints e evolução do projeto.</a:t>
            </a:r>
          </a:p>
        </p:txBody>
      </p:sp>
    </p:spTree>
    <p:extLst>
      <p:ext uri="{BB962C8B-B14F-4D97-AF65-F5344CB8AC3E}">
        <p14:creationId xmlns:p14="http://schemas.microsoft.com/office/powerpoint/2010/main" val="34692895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20D10F-68B1-FF0A-03B5-EAC0EB4D7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Perguntas e Discussão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AB12525C-9732-D293-8C6C-9D494401D0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pt-PT" dirty="0"/>
              <a:t>Espaço aberto para feedback, dúvidas e sugestões.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PT" b="1" dirty="0"/>
              <a:t>Contactos</a:t>
            </a:r>
            <a:r>
              <a:rPr lang="pt-PT" dirty="0"/>
              <a:t>: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pt-PT" dirty="0">
                <a:hlinkClick r:id="rId2"/>
              </a:rPr>
              <a:t>1221514@isep.ipp.pt</a:t>
            </a:r>
            <a:r>
              <a:rPr lang="pt-PT" dirty="0"/>
              <a:t> Bruno Silva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pt-PT" dirty="0">
                <a:hlinkClick r:id="rId3"/>
              </a:rPr>
              <a:t>1221119@isep.ipp.pt</a:t>
            </a:r>
            <a:r>
              <a:rPr lang="pt-PT" dirty="0"/>
              <a:t> Miguel Moreira Gonçalves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pt-PT" dirty="0">
                <a:hlinkClick r:id="rId4"/>
              </a:rPr>
              <a:t>1240590@isep.ipp.pt</a:t>
            </a:r>
            <a:r>
              <a:rPr lang="pt-PT" dirty="0"/>
              <a:t> Tomás Teixeira Silva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pt-PT" dirty="0">
                <a:hlinkClick r:id="rId5"/>
              </a:rPr>
              <a:t>1240580@isep.ipp.pt</a:t>
            </a:r>
            <a:r>
              <a:rPr lang="pt-PT" dirty="0"/>
              <a:t> Vitor Hugo Marques Carneiro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pt-PT" dirty="0">
                <a:hlinkClick r:id="rId6"/>
              </a:rPr>
              <a:t>1241707@isep.ipp.pt</a:t>
            </a:r>
            <a:r>
              <a:rPr lang="pt-PT" dirty="0"/>
              <a:t> Tiago Pereira Da Costa E Silva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pt-PT" dirty="0">
                <a:hlinkClick r:id="rId7"/>
              </a:rPr>
              <a:t>1171317@isep.ipp.pt</a:t>
            </a:r>
            <a:r>
              <a:rPr lang="pt-PT" dirty="0"/>
              <a:t> Leonardo Costa Fernandes Coelho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pt-PT" dirty="0">
                <a:hlinkClick r:id="rId8"/>
              </a:rPr>
              <a:t>1220838@isep.ipp.pt</a:t>
            </a:r>
            <a:r>
              <a:rPr lang="pt-PT" dirty="0"/>
              <a:t> Jorge Martinho Ferreira Almeida</a:t>
            </a:r>
          </a:p>
          <a:p>
            <a:pPr lvl="1">
              <a:buFont typeface="Arial" panose="020B0604020202020204" pitchFamily="34" charset="0"/>
              <a:buChar char="•"/>
            </a:pPr>
            <a:endParaRPr lang="pt-PT" dirty="0"/>
          </a:p>
          <a:p>
            <a:pPr>
              <a:buFont typeface="Arial" panose="020B0604020202020204" pitchFamily="34" charset="0"/>
              <a:buChar char="•"/>
            </a:pPr>
            <a:endParaRPr lang="pt-PT" dirty="0"/>
          </a:p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1093367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tângulo 9">
            <a:extLst>
              <a:ext uri="{FF2B5EF4-FFF2-40B4-BE49-F238E27FC236}">
                <a16:creationId xmlns:a16="http://schemas.microsoft.com/office/drawing/2014/main" id="{474A7FC5-56F0-4FE3-8383-04EE92963F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PT" dirty="0"/>
          </a:p>
        </p:txBody>
      </p:sp>
      <p:pic>
        <p:nvPicPr>
          <p:cNvPr id="5" name="Imagem 4" descr="A trabalhar">
            <a:extLst>
              <a:ext uri="{FF2B5EF4-FFF2-40B4-BE49-F238E27FC236}">
                <a16:creationId xmlns:a16="http://schemas.microsoft.com/office/drawing/2014/main" id="{BC829010-59E7-4B6E-AE76-EEE7D0ED0D8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0" y="-1"/>
            <a:ext cx="12188932" cy="6858000"/>
          </a:xfrm>
          <a:prstGeom prst="rect">
            <a:avLst/>
          </a:prstGeom>
        </p:spPr>
      </p:pic>
      <p:sp>
        <p:nvSpPr>
          <p:cNvPr id="12" name="Retângulo 11">
            <a:extLst>
              <a:ext uri="{FF2B5EF4-FFF2-40B4-BE49-F238E27FC236}">
                <a16:creationId xmlns:a16="http://schemas.microsoft.com/office/drawing/2014/main" id="{DE6BEBC3-6A99-4A53-9835-9875E0841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>
              <a:alpha val="9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993299F-3E8A-4BF7-9C3D-B9F22CF94C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2130552"/>
          </a:xfrm>
        </p:spPr>
        <p:txBody>
          <a:bodyPr rtlCol="0">
            <a:normAutofit/>
          </a:bodyPr>
          <a:lstStyle/>
          <a:p>
            <a:pPr rtl="0"/>
            <a:r>
              <a:rPr lang="pt-PT" dirty="0"/>
              <a:t>Obrigado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F6083A9-53C1-4358-80D7-727411C121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15" y="3454094"/>
            <a:ext cx="7315200" cy="2130552"/>
          </a:xfrm>
        </p:spPr>
        <p:txBody>
          <a:bodyPr rtlCol="0">
            <a:normAutofit/>
          </a:bodyPr>
          <a:lstStyle/>
          <a:p>
            <a:pPr rtl="0"/>
            <a:endParaRPr lang="pt-PT" dirty="0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D1006911-EDB8-4CDF-AEAA-A3FA060851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95816944"/>
      </p:ext>
    </p:extLst>
  </p:cSld>
  <p:clrMapOvr>
    <a:masterClrMapping/>
  </p:clrMapOvr>
</p:sld>
</file>

<file path=ppt/theme/theme1.xml><?xml version="1.0" encoding="utf-8"?>
<a:theme xmlns:a="http://schemas.openxmlformats.org/drawingml/2006/main" name="Quadro">
  <a:themeElements>
    <a:clrScheme name="Frame">
      <a:dk1>
        <a:srgbClr val="2F2B20"/>
      </a:dk1>
      <a:lt1>
        <a:srgbClr val="FFFFFF"/>
      </a:lt1>
      <a:dk2>
        <a:srgbClr val="675E47"/>
      </a:dk2>
      <a:lt2>
        <a:srgbClr val="DFDCB7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18A1B607-7BAE-46D6-8090-545AC7BDD739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1c2eb7a32e66fb6e4260f3771546a5e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04e1f6479c48b08974ba73b5ca973489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DFB9BFA2-1FA5-44A1-B975-10D6BF58ECD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577E783-5AB8-45E6-9E56-AE40075231B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0541854-87B3-4953-A183-EF3BD285377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Estrutura da arquitetura</Template>
  <TotalTime>0</TotalTime>
  <Words>706</Words>
  <Application>Microsoft Office PowerPoint</Application>
  <PresentationFormat>Ecrã Panorâmico</PresentationFormat>
  <Paragraphs>68</Paragraphs>
  <Slides>14</Slides>
  <Notes>2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14</vt:i4>
      </vt:variant>
    </vt:vector>
  </HeadingPairs>
  <TitlesOfParts>
    <vt:vector size="19" baseType="lpstr">
      <vt:lpstr>Arial</vt:lpstr>
      <vt:lpstr>Calibri</vt:lpstr>
      <vt:lpstr>Corbel</vt:lpstr>
      <vt:lpstr>Wingdings 2</vt:lpstr>
      <vt:lpstr>Quadro</vt:lpstr>
      <vt:lpstr>Sprint 1 - Apresentação</vt:lpstr>
      <vt:lpstr>Objetivos do Sprint 1 </vt:lpstr>
      <vt:lpstr>User Stories - Base de Dados</vt:lpstr>
      <vt:lpstr>Critérios de Aceitação - Base de Dados</vt:lpstr>
      <vt:lpstr>User Stories - Consultas de Produção</vt:lpstr>
      <vt:lpstr>Critérios de Aceitação - Consultas</vt:lpstr>
      <vt:lpstr>User Stories - Ferramenta de Simulação</vt:lpstr>
      <vt:lpstr>User Stories - Ferramenta de Simulação</vt:lpstr>
      <vt:lpstr>User Story Adicional - Simulação</vt:lpstr>
      <vt:lpstr>User Stories - Modelo de Domínio</vt:lpstr>
      <vt:lpstr>Critérios de Aceitação - Modelo de Domínio</vt:lpstr>
      <vt:lpstr>Conclusão do Sprint 1 </vt:lpstr>
      <vt:lpstr>Perguntas e Discussão</vt:lpstr>
      <vt:lpstr>Obrigado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Bruno Miguel Da Silva</dc:creator>
  <cp:lastModifiedBy>Bruno Miguel Da Silva</cp:lastModifiedBy>
  <cp:revision>3</cp:revision>
  <dcterms:created xsi:type="dcterms:W3CDTF">2024-10-28T15:48:16Z</dcterms:created>
  <dcterms:modified xsi:type="dcterms:W3CDTF">2024-10-28T16:20:58Z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