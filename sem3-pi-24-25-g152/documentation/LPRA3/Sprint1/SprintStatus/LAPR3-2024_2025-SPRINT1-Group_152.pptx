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5"/>
  </p:notesMasterIdLst>
  <p:sldIdLst>
    <p:sldId id="295" r:id="rId5"/>
    <p:sldId id="409" r:id="rId6"/>
    <p:sldId id="404" r:id="rId7"/>
    <p:sldId id="410" r:id="rId8"/>
    <p:sldId id="406" r:id="rId9"/>
    <p:sldId id="407" r:id="rId10"/>
    <p:sldId id="408" r:id="rId11"/>
    <p:sldId id="398" r:id="rId12"/>
    <p:sldId id="405" r:id="rId13"/>
    <p:sldId id="387" r:id="rId14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432"/>
    <a:srgbClr val="404040"/>
    <a:srgbClr val="7F7F7F"/>
    <a:srgbClr val="FF8600"/>
    <a:srgbClr val="FF6600"/>
    <a:srgbClr val="5B5B5B"/>
    <a:srgbClr val="7F7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com Tema 2 - Destaqu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Estilo Claro 2 - Destaqu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737" autoAdjust="0"/>
  </p:normalViewPr>
  <p:slideViewPr>
    <p:cSldViewPr>
      <p:cViewPr>
        <p:scale>
          <a:sx n="86" d="100"/>
          <a:sy n="86" d="100"/>
        </p:scale>
        <p:origin x="819" y="45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 err="1"/>
              <a:t>Hours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n. </a:t>
            </a:r>
            <a:r>
              <a:rPr lang="pt-PT" dirty="0" err="1"/>
              <a:t>tasks</a:t>
            </a:r>
            <a:endParaRPr lang="pt-P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Horas / tarefas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Folha1!$A$2:$A$8</c:f>
              <c:strCache>
                <c:ptCount val="7"/>
                <c:pt idx="0">
                  <c:v>1221514 Bruno</c:v>
                </c:pt>
                <c:pt idx="1">
                  <c:v>1221119 Miguel</c:v>
                </c:pt>
                <c:pt idx="2">
                  <c:v>1240580 Vitor </c:v>
                </c:pt>
                <c:pt idx="3">
                  <c:v>1240590 Tomás </c:v>
                </c:pt>
                <c:pt idx="4">
                  <c:v>1241707 Tiago </c:v>
                </c:pt>
                <c:pt idx="5">
                  <c:v>1220838 Jorge </c:v>
                </c:pt>
                <c:pt idx="6">
                  <c:v>1171317 Leonardo </c:v>
                </c:pt>
              </c:strCache>
            </c:strRef>
          </c:cat>
          <c:val>
            <c:numRef>
              <c:f>Folha1!$B$2:$B$8</c:f>
              <c:numCache>
                <c:formatCode>General</c:formatCode>
                <c:ptCount val="7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5</c:v>
                </c:pt>
                <c:pt idx="4">
                  <c:v>2</c:v>
                </c:pt>
                <c:pt idx="5">
                  <c:v>2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6-4A64-B307-80E9A359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907944"/>
        <c:axId val="691902368"/>
      </c:barChart>
      <c:catAx>
        <c:axId val="691907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91902368"/>
        <c:crosses val="autoZero"/>
        <c:auto val="1"/>
        <c:lblAlgn val="ctr"/>
        <c:lblOffset val="100"/>
        <c:noMultiLvlLbl val="0"/>
      </c:catAx>
      <c:valAx>
        <c:axId val="69190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91907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 err="1"/>
              <a:t>Epic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Component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UC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Componente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E-44D3-AE05-D0CC3596364F}"/>
              </c:ext>
            </c:extLst>
          </c:dPt>
          <c:dPt>
            <c:idx val="1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E-44D3-AE05-D0CC3596364F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E-44D3-AE05-D0CC3596364F}"/>
              </c:ext>
            </c:extLst>
          </c:dPt>
          <c:dPt>
            <c:idx val="3"/>
            <c:bubble3D val="0"/>
            <c:spPr>
              <a:solidFill>
                <a:schemeClr val="accent6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E-44D3-AE05-D0CC3596364F}"/>
              </c:ext>
            </c:extLst>
          </c:dPt>
          <c:cat>
            <c:strRef>
              <c:f>Folha1!$A$2:$A$4</c:f>
              <c:strCache>
                <c:ptCount val="3"/>
                <c:pt idx="0">
                  <c:v>ESINF</c:v>
                </c:pt>
                <c:pt idx="1">
                  <c:v>BDDAD</c:v>
                </c:pt>
                <c:pt idx="2">
                  <c:v>LPRA3</c:v>
                </c:pt>
              </c:strCache>
            </c:strRef>
          </c:cat>
          <c:val>
            <c:numRef>
              <c:f>Folha1!$B$2:$B$4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6-47B5-9769-0633602DA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Sprint 1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Folha1!$A$2:$A$8</c:f>
              <c:strCache>
                <c:ptCount val="7"/>
                <c:pt idx="0">
                  <c:v>dia 1</c:v>
                </c:pt>
                <c:pt idx="1">
                  <c:v>dia 5</c:v>
                </c:pt>
                <c:pt idx="2">
                  <c:v>dia 10</c:v>
                </c:pt>
                <c:pt idx="3">
                  <c:v>dia 15</c:v>
                </c:pt>
                <c:pt idx="4">
                  <c:v>dia 20</c:v>
                </c:pt>
                <c:pt idx="5">
                  <c:v>dia 25</c:v>
                </c:pt>
                <c:pt idx="6">
                  <c:v>dia 30</c:v>
                </c:pt>
              </c:strCache>
            </c:strRef>
          </c:cat>
          <c:val>
            <c:numRef>
              <c:f>Folha1!$B$2:$B$8</c:f>
              <c:numCache>
                <c:formatCode>General</c:formatCode>
                <c:ptCount val="7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12</c:v>
                </c:pt>
                <c:pt idx="4">
                  <c:v>12</c:v>
                </c:pt>
                <c:pt idx="5">
                  <c:v>6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3F-4131-925C-6F2D23AB8F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4089088"/>
        <c:axId val="634090072"/>
      </c:lineChart>
      <c:catAx>
        <c:axId val="634089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34090072"/>
        <c:crosses val="autoZero"/>
        <c:auto val="1"/>
        <c:lblAlgn val="ctr"/>
        <c:lblOffset val="100"/>
        <c:noMultiLvlLbl val="0"/>
      </c:catAx>
      <c:valAx>
        <c:axId val="634090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34089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10/28/2024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86928-2F1A-05D5-49A7-ECF44F7E6983}"/>
              </a:ext>
            </a:extLst>
          </p:cNvPr>
          <p:cNvSpPr/>
          <p:nvPr userDrawn="1"/>
        </p:nvSpPr>
        <p:spPr>
          <a:xfrm>
            <a:off x="1" y="1093304"/>
            <a:ext cx="9906000" cy="57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/>
              </a:solidFill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14000" y="4000503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106049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 branc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534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534399" cy="43053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•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Font typeface="Arial"/>
              <a:buChar char="■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»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1D1FC4-6243-41CD-9D5B-A6553C84873C}"/>
              </a:ext>
            </a:extLst>
          </p:cNvPr>
          <p:cNvSpPr/>
          <p:nvPr userDrawn="1"/>
        </p:nvSpPr>
        <p:spPr>
          <a:xfrm>
            <a:off x="579188" y="6525785"/>
            <a:ext cx="14510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Internal</a:t>
            </a:r>
            <a:r>
              <a:rPr lang="pt-PT" sz="1200" b="1" i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 Use </a:t>
            </a:r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Only</a:t>
            </a:r>
            <a:endParaRPr lang="pt-PT" sz="1200" i="1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531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80967" y="4000503"/>
            <a:ext cx="821537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452406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89838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4000" y="1714486"/>
            <a:ext cx="90432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991936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Dup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14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4968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08252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14000" y="1004400"/>
            <a:ext cx="9043200" cy="530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3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523843" y="5505467"/>
            <a:ext cx="5943599" cy="352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523843" y="5929330"/>
            <a:ext cx="8858312" cy="2762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●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○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761556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6105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610599" cy="45720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87231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ra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/>
          <p:nvPr/>
        </p:nvSpPr>
        <p:spPr>
          <a:xfrm flipH="1">
            <a:off x="6764158" y="4953000"/>
            <a:ext cx="182741" cy="37471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b="0" i="0" u="none" strike="noStrike" cap="none">
              <a:solidFill>
                <a:srgbClr val="00CA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51278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tra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15985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5020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28/10/2024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2151704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28/10/2024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9420808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9264868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28/10/2024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28/10/2024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0DF30C-F77B-4F2F-9EB1-3B93EBB0DB99}"/>
              </a:ext>
            </a:extLst>
          </p:cNvPr>
          <p:cNvSpPr/>
          <p:nvPr userDrawn="1"/>
        </p:nvSpPr>
        <p:spPr>
          <a:xfrm>
            <a:off x="324908" y="6390861"/>
            <a:ext cx="9214886" cy="467139"/>
          </a:xfrm>
          <a:prstGeom prst="roundRect">
            <a:avLst>
              <a:gd name="adj" fmla="val 6170"/>
            </a:avLst>
          </a:prstGeom>
          <a:solidFill>
            <a:srgbClr val="9A1A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9A1A24"/>
              </a:solidFill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6831106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1" u="none" strike="noStrike" cap="none">
                <a:solidFill>
                  <a:srgbClr val="888888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PT" dirty="0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632453" y="6492875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3441222-7DC4-AAA3-4880-5CB78D81CC04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-10536"/>
            <a:ext cx="9906000" cy="9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644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52" r:id="rId14"/>
    <p:sldLayoutId id="2147483655" r:id="rId15"/>
    <p:sldLayoutId id="2147483661" r:id="rId16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36CE6F5-8CA7-4383-A151-C2832D6337AE}"/>
              </a:ext>
            </a:extLst>
          </p:cNvPr>
          <p:cNvSpPr txBox="1"/>
          <p:nvPr/>
        </p:nvSpPr>
        <p:spPr>
          <a:xfrm>
            <a:off x="244593" y="4014065"/>
            <a:ext cx="891344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pt-PT" sz="1400" dirty="0" err="1"/>
              <a:t>Group</a:t>
            </a:r>
            <a:r>
              <a:rPr lang="pt-PT" sz="1400" dirty="0"/>
              <a:t> </a:t>
            </a:r>
            <a:r>
              <a:rPr lang="pt-PT" sz="1400" dirty="0" err="1"/>
              <a:t>members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0BB2CE-AD20-4EB4-9198-1AB0990B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19" y="2924670"/>
            <a:ext cx="8505945" cy="571503"/>
          </a:xfrm>
        </p:spPr>
        <p:txBody>
          <a:bodyPr/>
          <a:lstStyle/>
          <a:p>
            <a:pPr algn="ctr"/>
            <a:r>
              <a:rPr lang="en-US" sz="32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2DO Group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SPRINT 1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DB1D8FD1-20D5-4B6F-506E-F430DA26CEBA}"/>
              </a:ext>
            </a:extLst>
          </p:cNvPr>
          <p:cNvSpPr txBox="1">
            <a:spLocks/>
          </p:cNvSpPr>
          <p:nvPr/>
        </p:nvSpPr>
        <p:spPr>
          <a:xfrm>
            <a:off x="414000" y="2123855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algn="ctr"/>
            <a:r>
              <a:rPr lang="en-US" sz="3200" kern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LAPR3 2024_2025</a:t>
            </a:r>
            <a:endParaRPr lang="en-US" sz="3200" kern="0" dirty="0">
              <a:solidFill>
                <a:schemeClr val="tx1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7A502EE-944E-4A2F-52C8-1234A7F95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715006"/>
              </p:ext>
            </p:extLst>
          </p:nvPr>
        </p:nvGraphicFramePr>
        <p:xfrm>
          <a:off x="317484" y="4554125"/>
          <a:ext cx="9228471" cy="205884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8353">
                  <a:extLst>
                    <a:ext uri="{9D8B030D-6E8A-4147-A177-3AD203B41FA5}">
                      <a16:colId xmlns:a16="http://schemas.microsoft.com/office/drawing/2014/main" val="1786404924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3388003712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3217887647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2465101990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1554615450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3037073764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2410536918"/>
                    </a:ext>
                  </a:extLst>
                </a:gridCol>
              </a:tblGrid>
              <a:tr h="652897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Bruno Miguel da Silva </a:t>
                      </a:r>
                    </a:p>
                    <a:p>
                      <a:pPr algn="ctr"/>
                      <a:r>
                        <a:rPr lang="pt-PT" dirty="0"/>
                        <a:t>(1221514)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Miguel Gonçalves </a:t>
                      </a:r>
                    </a:p>
                    <a:p>
                      <a:pPr algn="ctr"/>
                      <a:r>
                        <a:rPr lang="pt-PT" dirty="0"/>
                        <a:t>(1221119)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Vitor Carneiro</a:t>
                      </a:r>
                    </a:p>
                    <a:p>
                      <a:pPr algn="ctr"/>
                      <a:r>
                        <a:rPr lang="pt-PT" dirty="0"/>
                        <a:t>(1240580)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Tomás Teixeira Silva</a:t>
                      </a:r>
                    </a:p>
                    <a:p>
                      <a:pPr algn="ctr"/>
                      <a:r>
                        <a:rPr lang="pt-PT" dirty="0"/>
                        <a:t>(1240590)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Tiago Silva</a:t>
                      </a:r>
                    </a:p>
                    <a:p>
                      <a:pPr algn="ctr"/>
                      <a:r>
                        <a:rPr lang="pt-PT" dirty="0"/>
                        <a:t>(1241707)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Jorge Almeida</a:t>
                      </a:r>
                    </a:p>
                    <a:p>
                      <a:pPr algn="ctr"/>
                      <a:r>
                        <a:rPr lang="pt-PT" dirty="0"/>
                        <a:t>(1220838)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Leonardo  Coelho</a:t>
                      </a:r>
                    </a:p>
                    <a:p>
                      <a:pPr algn="ctr"/>
                      <a:r>
                        <a:rPr lang="pt-PT" dirty="0"/>
                        <a:t>(1171317)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333584"/>
                  </a:ext>
                </a:extLst>
              </a:tr>
              <a:tr h="1327323"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  <a:p>
                      <a:pPr algn="ctr"/>
                      <a:endParaRPr lang="pt-PT" dirty="0"/>
                    </a:p>
                    <a:p>
                      <a:pPr algn="ctr"/>
                      <a:r>
                        <a:rPr lang="pt-PT" dirty="0"/>
                        <a:t>Foto 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  <a:p>
                      <a:endParaRPr lang="pt-PT" dirty="0"/>
                    </a:p>
                    <a:p>
                      <a:pPr algn="ctr"/>
                      <a:r>
                        <a:rPr lang="pt-PT" dirty="0"/>
                        <a:t>Foto 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27383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Sprint planning – Sprint 1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675467"/>
              </p:ext>
            </p:extLst>
          </p:nvPr>
        </p:nvGraphicFramePr>
        <p:xfrm>
          <a:off x="1020165" y="2618910"/>
          <a:ext cx="7830870" cy="274319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387043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stories &gt;14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bugs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tasks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Management Tasks (Scrum)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team members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Planned: 6              Actual: 6 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Total planned estimation vs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 hours: 84</a:t>
                      </a:r>
                    </a:p>
                    <a:p>
                      <a:pPr lvl="0" algn="ctr">
                        <a:buNone/>
                      </a:pPr>
                      <a:r>
                        <a:rPr lang="en-US" noProof="0" dirty="0"/>
                        <a:t>Executed hours: 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  <p:sp>
        <p:nvSpPr>
          <p:cNvPr id="7" name="Marcador de Posição de Conteúdo 5">
            <a:extLst>
              <a:ext uri="{FF2B5EF4-FFF2-40B4-BE49-F238E27FC236}">
                <a16:creationId xmlns:a16="http://schemas.microsoft.com/office/drawing/2014/main" id="{6F8BAF59-30E8-4D49-87D9-D5A1CD648639}"/>
              </a:ext>
            </a:extLst>
          </p:cNvPr>
          <p:cNvSpPr txBox="1">
            <a:spLocks/>
          </p:cNvSpPr>
          <p:nvPr/>
        </p:nvSpPr>
        <p:spPr>
          <a:xfrm>
            <a:off x="448800" y="1626520"/>
            <a:ext cx="9043200" cy="7106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8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  <a:defRPr sz="16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4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»"/>
              <a:defRPr sz="12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Start Date: 1Week                                    Real Start Date: 5week 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Finished Date: 6week                               Real Finish Date: 6week</a:t>
            </a: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794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979042"/>
              </p:ext>
            </p:extLst>
          </p:nvPr>
        </p:nvGraphicFramePr>
        <p:xfrm>
          <a:off x="414000" y="1673805"/>
          <a:ext cx="9008401" cy="456182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Assignment US</a:t>
                      </a:r>
                    </a:p>
                    <a:p>
                      <a:r>
                        <a:rPr lang="en-US" sz="1200" noProof="0" dirty="0"/>
                        <a:t>(as stated on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err="1"/>
                        <a:t>Commited</a:t>
                      </a:r>
                      <a:r>
                        <a:rPr lang="en-US" noProof="0" dirty="0"/>
                        <a:t>?</a:t>
                      </a:r>
                    </a:p>
                    <a:p>
                      <a:pPr algn="ctr"/>
                      <a:r>
                        <a:rPr lang="en-US" sz="1200" noProof="0" dirty="0"/>
                        <a:t>(Yes / no 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USBD01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USBD02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USBD03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USBD04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USBD05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USBD06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USBD07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USBD08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USBD09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USEI01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37576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3F3B-2AE6-ED0F-B40C-62EB66FF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1EFF336-626A-BF39-DC61-84F9B96E5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7E35D5D1-240E-ACCB-A231-37659314A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712106"/>
              </p:ext>
            </p:extLst>
          </p:nvPr>
        </p:nvGraphicFramePr>
        <p:xfrm>
          <a:off x="414000" y="1673805"/>
          <a:ext cx="9008401" cy="456182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Assignment US</a:t>
                      </a:r>
                    </a:p>
                    <a:p>
                      <a:r>
                        <a:rPr lang="en-US" sz="1200" noProof="0" dirty="0"/>
                        <a:t>(as stated on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err="1"/>
                        <a:t>Commited</a:t>
                      </a:r>
                      <a:r>
                        <a:rPr lang="en-US" noProof="0" dirty="0"/>
                        <a:t>?</a:t>
                      </a:r>
                    </a:p>
                    <a:p>
                      <a:pPr algn="ctr"/>
                      <a:r>
                        <a:rPr lang="en-US" sz="1200" noProof="0" dirty="0"/>
                        <a:t>(Yes / no 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USEI02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USEI05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USLP01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USLP02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01061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team </a:t>
            </a:r>
            <a:r>
              <a:rPr lang="pt-PT" sz="3200" cap="none" dirty="0" err="1">
                <a:solidFill>
                  <a:schemeClr val="tx1"/>
                </a:solidFill>
              </a:rPr>
              <a:t>member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0ADD5B-A00D-489E-9390-B75485840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2742755"/>
              </p:ext>
            </p:extLst>
          </p:nvPr>
        </p:nvGraphicFramePr>
        <p:xfrm>
          <a:off x="1622630" y="1673805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257647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type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90ED7699-5188-411A-AA61-860BAD3DF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827203"/>
              </p:ext>
            </p:extLst>
          </p:nvPr>
        </p:nvGraphicFramePr>
        <p:xfrm>
          <a:off x="1487615" y="1898830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629226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Sprint </a:t>
            </a:r>
            <a:r>
              <a:rPr lang="pt-PT" sz="3200" cap="none" dirty="0" err="1">
                <a:solidFill>
                  <a:schemeClr val="tx1"/>
                </a:solidFill>
              </a:rPr>
              <a:t>Burndown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Chart</a:t>
            </a:r>
            <a:endParaRPr lang="pt-PT" sz="3200" cap="none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8F17832-B664-4F80-AA37-08A8F821BD59}"/>
              </a:ext>
            </a:extLst>
          </p:cNvPr>
          <p:cNvSpPr txBox="1"/>
          <p:nvPr/>
        </p:nvSpPr>
        <p:spPr>
          <a:xfrm>
            <a:off x="7268457" y="6055922"/>
            <a:ext cx="2252647" cy="246221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pt-PT" sz="1000" dirty="0"/>
              <a:t>Print do JIRA após fecho da sprint</a:t>
            </a:r>
            <a:endParaRPr lang="pt-PT" sz="100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2BF887C0-5DF2-4D41-801D-7439CE2C6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559701"/>
              </p:ext>
            </p:extLst>
          </p:nvPr>
        </p:nvGraphicFramePr>
        <p:xfrm>
          <a:off x="1651000" y="1853825"/>
          <a:ext cx="6604000" cy="4004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533615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 28/10/2024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250869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well?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Boa </a:t>
            </a:r>
            <a:r>
              <a:rPr lang="en-US" sz="1400" dirty="0" err="1">
                <a:solidFill>
                  <a:schemeClr val="tx1"/>
                </a:solidFill>
              </a:rPr>
              <a:t>gestão</a:t>
            </a:r>
            <a:r>
              <a:rPr lang="en-US" sz="1400" dirty="0">
                <a:solidFill>
                  <a:schemeClr val="tx1"/>
                </a:solidFill>
              </a:rPr>
              <a:t> de tempo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Boa </a:t>
            </a:r>
            <a:r>
              <a:rPr lang="en-US" sz="1400" dirty="0" err="1">
                <a:solidFill>
                  <a:schemeClr val="tx1"/>
                </a:solidFill>
              </a:rPr>
              <a:t>distribuição</a:t>
            </a:r>
            <a:r>
              <a:rPr lang="en-US" sz="1400" dirty="0">
                <a:solidFill>
                  <a:schemeClr val="tx1"/>
                </a:solidFill>
              </a:rPr>
              <a:t> de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Trabalho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em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equipa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9FD58-6876-4E87-998E-ACA36985B86E}"/>
              </a:ext>
            </a:extLst>
          </p:cNvPr>
          <p:cNvSpPr/>
          <p:nvPr/>
        </p:nvSpPr>
        <p:spPr>
          <a:xfrm>
            <a:off x="3480763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Ter </a:t>
            </a:r>
            <a:r>
              <a:rPr lang="en-US" sz="1400" dirty="0" err="1">
                <a:solidFill>
                  <a:schemeClr val="tx1"/>
                </a:solidFill>
              </a:rPr>
              <a:t>entrado</a:t>
            </a:r>
            <a:r>
              <a:rPr lang="en-US" sz="1400" dirty="0">
                <a:solidFill>
                  <a:schemeClr val="tx1"/>
                </a:solidFill>
              </a:rPr>
              <a:t> no </a:t>
            </a:r>
            <a:r>
              <a:rPr lang="en-US" sz="1400" dirty="0" err="1">
                <a:solidFill>
                  <a:schemeClr val="tx1"/>
                </a:solidFill>
              </a:rPr>
              <a:t>curso</a:t>
            </a:r>
            <a:r>
              <a:rPr lang="en-US" sz="1400" dirty="0">
                <a:solidFill>
                  <a:schemeClr val="tx1"/>
                </a:solidFill>
              </a:rPr>
              <a:t> no final do sprint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Dificuldades</a:t>
            </a:r>
            <a:r>
              <a:rPr lang="en-US" sz="1400" dirty="0">
                <a:solidFill>
                  <a:schemeClr val="tx1"/>
                </a:solidFill>
              </a:rPr>
              <a:t> para </a:t>
            </a:r>
            <a:r>
              <a:rPr lang="en-US" sz="1400" dirty="0" err="1">
                <a:solidFill>
                  <a:schemeClr val="tx1"/>
                </a:solidFill>
              </a:rPr>
              <a:t>criar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grupo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Má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gestão</a:t>
            </a:r>
            <a:r>
              <a:rPr lang="en-US" sz="1400" dirty="0">
                <a:solidFill>
                  <a:schemeClr val="tx1"/>
                </a:solidFill>
              </a:rPr>
              <a:t> de Board(tasks, issues)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Má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gestão</a:t>
            </a:r>
            <a:r>
              <a:rPr lang="en-US" sz="1400" dirty="0">
                <a:solidFill>
                  <a:schemeClr val="tx1"/>
                </a:solidFill>
              </a:rPr>
              <a:t> de Git(</a:t>
            </a:r>
            <a:r>
              <a:rPr lang="en-US" sz="1400" dirty="0" err="1">
                <a:solidFill>
                  <a:schemeClr val="tx1"/>
                </a:solidFill>
              </a:rPr>
              <a:t>branchs</a:t>
            </a:r>
            <a:r>
              <a:rPr lang="en-US" sz="1400" dirty="0">
                <a:solidFill>
                  <a:schemeClr val="tx1"/>
                </a:solidFill>
              </a:rPr>
              <a:t>, commit “messages”)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</a:t>
            </a:r>
            <a:r>
              <a:rPr lang="en-US" sz="1400" dirty="0" err="1">
                <a:solidFill>
                  <a:schemeClr val="tx1"/>
                </a:solidFill>
              </a:rPr>
              <a:t>não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realização</a:t>
            </a:r>
            <a:r>
              <a:rPr lang="en-US" sz="1400" dirty="0">
                <a:solidFill>
                  <a:schemeClr val="tx1"/>
                </a:solidFill>
              </a:rPr>
              <a:t> de </a:t>
            </a:r>
            <a:r>
              <a:rPr lang="en-US" sz="1400" dirty="0" err="1">
                <a:solidFill>
                  <a:schemeClr val="tx1"/>
                </a:solidFill>
              </a:rPr>
              <a:t>dailys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E455-F8DD-4DEF-9E49-A26421870FC1}"/>
              </a:ext>
            </a:extLst>
          </p:cNvPr>
          <p:cNvSpPr/>
          <p:nvPr/>
        </p:nvSpPr>
        <p:spPr>
          <a:xfrm>
            <a:off x="6708195" y="2528900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we’ve learned?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Melhorar</a:t>
            </a:r>
            <a:r>
              <a:rPr lang="en-US" sz="1400" dirty="0">
                <a:solidFill>
                  <a:schemeClr val="tx1"/>
                </a:solidFill>
              </a:rPr>
              <a:t> a </a:t>
            </a:r>
            <a:r>
              <a:rPr lang="en-US" sz="1400" dirty="0" err="1">
                <a:solidFill>
                  <a:schemeClr val="tx1"/>
                </a:solidFill>
              </a:rPr>
              <a:t>gestão</a:t>
            </a:r>
            <a:r>
              <a:rPr lang="en-US" sz="1400" dirty="0">
                <a:solidFill>
                  <a:schemeClr val="tx1"/>
                </a:solidFill>
              </a:rPr>
              <a:t> de git e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Diminuir</a:t>
            </a:r>
            <a:r>
              <a:rPr lang="en-US" sz="1400" dirty="0">
                <a:solidFill>
                  <a:schemeClr val="tx1"/>
                </a:solidFill>
              </a:rPr>
              <a:t> as horas de </a:t>
            </a:r>
            <a:r>
              <a:rPr lang="en-US" sz="1400" dirty="0" err="1">
                <a:solidFill>
                  <a:schemeClr val="tx1"/>
                </a:solidFill>
              </a:rPr>
              <a:t>trabalho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instensas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Realizar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dailys</a:t>
            </a:r>
            <a:r>
              <a:rPr lang="en-US" sz="1400" dirty="0">
                <a:solidFill>
                  <a:schemeClr val="tx1"/>
                </a:solidFill>
              </a:rPr>
              <a:t> com </a:t>
            </a:r>
            <a:r>
              <a:rPr lang="en-US" sz="1400" dirty="0" err="1">
                <a:solidFill>
                  <a:schemeClr val="tx1"/>
                </a:solidFill>
              </a:rPr>
              <a:t>todos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os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membros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254882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 28/10/2024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448801" y="2393885"/>
            <a:ext cx="9008400" cy="355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Action items: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8F4DF3-13D8-1118-27D0-A7B990D9A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460" y="2411629"/>
            <a:ext cx="5673080" cy="358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538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am work">
            <a:extLst>
              <a:ext uri="{FF2B5EF4-FFF2-40B4-BE49-F238E27FC236}">
                <a16:creationId xmlns:a16="http://schemas.microsoft.com/office/drawing/2014/main" id="{63305713-9999-B782-17EA-DC85021DE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9"/>
          <a:stretch/>
        </p:blipFill>
        <p:spPr bwMode="auto">
          <a:xfrm>
            <a:off x="0" y="947824"/>
            <a:ext cx="9906000" cy="591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ISEP">
  <a:themeElements>
    <a:clrScheme name="Laranja-avermelhad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04904d-c619-4467-a32f-09812827fd8e">
      <Terms xmlns="http://schemas.microsoft.com/office/infopath/2007/PartnerControls"/>
    </lcf76f155ced4ddcb4097134ff3c332f>
    <TaxCatchAll xmlns="b4fdeaeb-cd21-48a0-91d3-a71b662e0a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A52B1E44048D8469E872E4EAE2C3404" ma:contentTypeVersion="11" ma:contentTypeDescription="Criar um novo documento." ma:contentTypeScope="" ma:versionID="5d6bea2526e958e85fe4b0fdb202b19b">
  <xsd:schema xmlns:xsd="http://www.w3.org/2001/XMLSchema" xmlns:xs="http://www.w3.org/2001/XMLSchema" xmlns:p="http://schemas.microsoft.com/office/2006/metadata/properties" xmlns:ns2="ed04904d-c619-4467-a32f-09812827fd8e" xmlns:ns3="b4fdeaeb-cd21-48a0-91d3-a71b662e0a05" targetNamespace="http://schemas.microsoft.com/office/2006/metadata/properties" ma:root="true" ma:fieldsID="bffbf4134176b596353c185a581a363d" ns2:_="" ns3:_="">
    <xsd:import namespace="ed04904d-c619-4467-a32f-09812827fd8e"/>
    <xsd:import namespace="b4fdeaeb-cd21-48a0-91d3-a71b662e0a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04904d-c619-4467-a32f-09812827fd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abd39c20-4416-4a86-a41d-df69d8f2de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eaeb-cd21-48a0-91d3-a71b662e0a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15ae7b-29a8-45ec-b859-842c81a716b0}" ma:internalName="TaxCatchAll" ma:showField="CatchAllData" ma:web="b4fdeaeb-cd21-48a0-91d3-a71b662e0a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B87164-EF5F-43C8-917E-48B38ACAFD1E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a1e3ca88-8ae5-4fd0-ba37-40ce669fcbb0"/>
    <ds:schemaRef ds:uri="http://www.w3.org/XML/1998/namespace"/>
    <ds:schemaRef ds:uri="ed04904d-c619-4467-a32f-09812827fd8e"/>
    <ds:schemaRef ds:uri="b4fdeaeb-cd21-48a0-91d3-a71b662e0a05"/>
  </ds:schemaRefs>
</ds:datastoreItem>
</file>

<file path=customXml/itemProps2.xml><?xml version="1.0" encoding="utf-8"?>
<ds:datastoreItem xmlns:ds="http://schemas.openxmlformats.org/officeDocument/2006/customXml" ds:itemID="{4F984168-AABC-4753-B4EC-59CA9D0883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D8D005-3628-4FF3-A21A-89D07710C6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04904d-c619-4467-a32f-09812827fd8e"/>
    <ds:schemaRef ds:uri="b4fdeaeb-cd21-48a0-91d3-a71b662e0a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340</Words>
  <Application>Microsoft Office PowerPoint</Application>
  <PresentationFormat>Papel A4 (210x297 mm)</PresentationFormat>
  <Paragraphs>126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Arial</vt:lpstr>
      <vt:lpstr>Calibri</vt:lpstr>
      <vt:lpstr>Kozuka Gothic Pro M</vt:lpstr>
      <vt:lpstr>1_ISEP</vt:lpstr>
      <vt:lpstr>Class 2DO Group 152 SPRINT 1</vt:lpstr>
      <vt:lpstr>Sprint planning – Sprint 1</vt:lpstr>
      <vt:lpstr>Sprint planning</vt:lpstr>
      <vt:lpstr>Sprint planning</vt:lpstr>
      <vt:lpstr>Work by team member</vt:lpstr>
      <vt:lpstr>Work by type</vt:lpstr>
      <vt:lpstr>Sprint Burndown Chart</vt:lpstr>
      <vt:lpstr>Sprint Retrospective</vt:lpstr>
      <vt:lpstr>Sprint Retrospective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lastModifiedBy>Bruno Miguel Da Silva</cp:lastModifiedBy>
  <cp:revision>463</cp:revision>
  <dcterms:created xsi:type="dcterms:W3CDTF">2010-10-20T15:48:12Z</dcterms:created>
  <dcterms:modified xsi:type="dcterms:W3CDTF">2024-10-28T08:58:18Z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0x010100BA52B1E44048D8469E872E4EAE2C3404</vt:lpwstr>
  </property>
</Properties>
</file>