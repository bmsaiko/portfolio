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21"/>
  </p:notesMasterIdLst>
  <p:sldIdLst>
    <p:sldId id="295" r:id="rId5"/>
    <p:sldId id="409" r:id="rId6"/>
    <p:sldId id="404" r:id="rId7"/>
    <p:sldId id="421" r:id="rId8"/>
    <p:sldId id="422" r:id="rId9"/>
    <p:sldId id="423" r:id="rId10"/>
    <p:sldId id="406" r:id="rId11"/>
    <p:sldId id="425" r:id="rId12"/>
    <p:sldId id="407" r:id="rId13"/>
    <p:sldId id="419" r:id="rId14"/>
    <p:sldId id="408" r:id="rId15"/>
    <p:sldId id="411" r:id="rId16"/>
    <p:sldId id="424" r:id="rId17"/>
    <p:sldId id="398" r:id="rId18"/>
    <p:sldId id="416" r:id="rId19"/>
    <p:sldId id="387" r:id="rId20"/>
  </p:sldIdLst>
  <p:sldSz cx="9906000" cy="6858000" type="A4"/>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5432"/>
    <a:srgbClr val="404040"/>
    <a:srgbClr val="7F7F7F"/>
    <a:srgbClr val="FF8600"/>
    <a:srgbClr val="FF6600"/>
    <a:srgbClr val="5B5B5B"/>
    <a:srgbClr val="7F7F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Estilo Claro 2 - Destaqu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Estilo Claro 1 - Destaqu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38B1855-1B75-4FBE-930C-398BA8C253C6}" styleName="Estilo com Tema 2 - Destaqu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Estilo Claro 2 - Destaqu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Estilo Médio 2 - Destaqu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1" autoAdjust="0"/>
    <p:restoredTop sz="84444" autoAdjust="0"/>
  </p:normalViewPr>
  <p:slideViewPr>
    <p:cSldViewPr>
      <p:cViewPr varScale="1">
        <p:scale>
          <a:sx n="94" d="100"/>
          <a:sy n="94" d="100"/>
        </p:scale>
        <p:origin x="2004" y="9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dirty="0" err="1"/>
              <a:t>Hours</a:t>
            </a:r>
            <a:r>
              <a:rPr lang="pt-PT" dirty="0"/>
              <a:t> </a:t>
            </a:r>
            <a:r>
              <a:rPr lang="pt-PT" dirty="0" err="1"/>
              <a:t>or</a:t>
            </a:r>
            <a:r>
              <a:rPr lang="pt-PT" dirty="0"/>
              <a:t> n. </a:t>
            </a:r>
            <a:r>
              <a:rPr lang="pt-PT" dirty="0" err="1"/>
              <a:t>tasks</a:t>
            </a:r>
            <a:endParaRPr lang="pt-PT"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PT"/>
        </a:p>
      </c:txPr>
    </c:title>
    <c:autoTitleDeleted val="0"/>
    <c:plotArea>
      <c:layout/>
      <c:barChart>
        <c:barDir val="col"/>
        <c:grouping val="clustered"/>
        <c:varyColors val="0"/>
        <c:ser>
          <c:idx val="0"/>
          <c:order val="0"/>
          <c:tx>
            <c:strRef>
              <c:f>Folha1!$B$1</c:f>
              <c:strCache>
                <c:ptCount val="1"/>
                <c:pt idx="0">
                  <c:v>Horas / tarefas</c:v>
                </c:pt>
              </c:strCache>
            </c:strRef>
          </c:tx>
          <c:spPr>
            <a:solidFill>
              <a:schemeClr val="accent6"/>
            </a:solidFill>
            <a:ln>
              <a:noFill/>
            </a:ln>
            <a:effectLst/>
          </c:spPr>
          <c:invertIfNegative val="0"/>
          <c:cat>
            <c:strRef>
              <c:f>Folha1!$A$2:$A$8</c:f>
              <c:strCache>
                <c:ptCount val="7"/>
                <c:pt idx="0">
                  <c:v>Bruno 1221514</c:v>
                </c:pt>
                <c:pt idx="1">
                  <c:v>Miguel 1221119</c:v>
                </c:pt>
                <c:pt idx="2">
                  <c:v>Tiago 1241707</c:v>
                </c:pt>
                <c:pt idx="3">
                  <c:v>Vitor 1240580</c:v>
                </c:pt>
                <c:pt idx="4">
                  <c:v>Tomás 1240590</c:v>
                </c:pt>
                <c:pt idx="5">
                  <c:v>Jorge 1220838</c:v>
                </c:pt>
                <c:pt idx="6">
                  <c:v>Eduardo 1190546</c:v>
                </c:pt>
              </c:strCache>
            </c:strRef>
          </c:cat>
          <c:val>
            <c:numRef>
              <c:f>Folha1!$B$2:$B$8</c:f>
              <c:numCache>
                <c:formatCode>General</c:formatCode>
                <c:ptCount val="7"/>
                <c:pt idx="0">
                  <c:v>22</c:v>
                </c:pt>
                <c:pt idx="1">
                  <c:v>29</c:v>
                </c:pt>
                <c:pt idx="2">
                  <c:v>16</c:v>
                </c:pt>
                <c:pt idx="3">
                  <c:v>23</c:v>
                </c:pt>
                <c:pt idx="4">
                  <c:v>3</c:v>
                </c:pt>
                <c:pt idx="5">
                  <c:v>6</c:v>
                </c:pt>
                <c:pt idx="6">
                  <c:v>2</c:v>
                </c:pt>
              </c:numCache>
            </c:numRef>
          </c:val>
          <c:extLst>
            <c:ext xmlns:c16="http://schemas.microsoft.com/office/drawing/2014/chart" uri="{C3380CC4-5D6E-409C-BE32-E72D297353CC}">
              <c16:uniqueId val="{00000000-0486-4A64-B307-80E9A3590427}"/>
            </c:ext>
          </c:extLst>
        </c:ser>
        <c:dLbls>
          <c:showLegendKey val="0"/>
          <c:showVal val="0"/>
          <c:showCatName val="0"/>
          <c:showSerName val="0"/>
          <c:showPercent val="0"/>
          <c:showBubbleSize val="0"/>
        </c:dLbls>
        <c:gapWidth val="219"/>
        <c:overlap val="-27"/>
        <c:axId val="691907944"/>
        <c:axId val="691902368"/>
      </c:barChart>
      <c:catAx>
        <c:axId val="691907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crossAx val="691902368"/>
        <c:crosses val="autoZero"/>
        <c:auto val="1"/>
        <c:lblAlgn val="ctr"/>
        <c:lblOffset val="100"/>
        <c:noMultiLvlLbl val="0"/>
      </c:catAx>
      <c:valAx>
        <c:axId val="69190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crossAx val="691907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P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dirty="0" err="1"/>
              <a:t>Hours</a:t>
            </a:r>
            <a:r>
              <a:rPr lang="pt-PT" dirty="0"/>
              <a:t> </a:t>
            </a:r>
            <a:r>
              <a:rPr lang="pt-PT" dirty="0" err="1"/>
              <a:t>or</a:t>
            </a:r>
            <a:r>
              <a:rPr lang="pt-PT" dirty="0"/>
              <a:t> n. </a:t>
            </a:r>
            <a:r>
              <a:rPr lang="pt-PT" dirty="0" err="1"/>
              <a:t>tasks</a:t>
            </a:r>
            <a:endParaRPr lang="pt-PT"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PT"/>
        </a:p>
      </c:txPr>
    </c:title>
    <c:autoTitleDeleted val="0"/>
    <c:plotArea>
      <c:layout/>
      <c:barChart>
        <c:barDir val="col"/>
        <c:grouping val="clustered"/>
        <c:varyColors val="0"/>
        <c:ser>
          <c:idx val="0"/>
          <c:order val="0"/>
          <c:tx>
            <c:strRef>
              <c:f>Folha1!$B$1</c:f>
              <c:strCache>
                <c:ptCount val="1"/>
                <c:pt idx="0">
                  <c:v>Horas / tarefas</c:v>
                </c:pt>
              </c:strCache>
            </c:strRef>
          </c:tx>
          <c:spPr>
            <a:solidFill>
              <a:schemeClr val="accent6"/>
            </a:solidFill>
            <a:ln>
              <a:noFill/>
            </a:ln>
            <a:effectLst/>
          </c:spPr>
          <c:invertIfNegative val="0"/>
          <c:cat>
            <c:strRef>
              <c:f>Folha1!$A$2:$A$8</c:f>
              <c:strCache>
                <c:ptCount val="7"/>
                <c:pt idx="0">
                  <c:v>Bruno 1221514</c:v>
                </c:pt>
                <c:pt idx="1">
                  <c:v>Miguel 1221119</c:v>
                </c:pt>
                <c:pt idx="2">
                  <c:v>Tiago 1241707</c:v>
                </c:pt>
                <c:pt idx="3">
                  <c:v>Vitor 1240580</c:v>
                </c:pt>
                <c:pt idx="4">
                  <c:v>Tomás 1240590</c:v>
                </c:pt>
                <c:pt idx="5">
                  <c:v>Jorge 1220838</c:v>
                </c:pt>
                <c:pt idx="6">
                  <c:v>Eduardo 1190546</c:v>
                </c:pt>
              </c:strCache>
            </c:strRef>
          </c:cat>
          <c:val>
            <c:numRef>
              <c:f>Folha1!$B$2:$B$8</c:f>
              <c:numCache>
                <c:formatCode>General</c:formatCode>
                <c:ptCount val="7"/>
                <c:pt idx="0">
                  <c:v>76.33</c:v>
                </c:pt>
                <c:pt idx="1">
                  <c:v>58.33</c:v>
                </c:pt>
                <c:pt idx="2">
                  <c:v>26</c:v>
                </c:pt>
                <c:pt idx="3">
                  <c:v>46.5</c:v>
                </c:pt>
                <c:pt idx="4">
                  <c:v>18.5</c:v>
                </c:pt>
                <c:pt idx="5">
                  <c:v>13.33</c:v>
                </c:pt>
                <c:pt idx="6">
                  <c:v>4</c:v>
                </c:pt>
              </c:numCache>
            </c:numRef>
          </c:val>
          <c:extLst>
            <c:ext xmlns:c16="http://schemas.microsoft.com/office/drawing/2014/chart" uri="{C3380CC4-5D6E-409C-BE32-E72D297353CC}">
              <c16:uniqueId val="{00000000-0486-4A64-B307-80E9A3590427}"/>
            </c:ext>
          </c:extLst>
        </c:ser>
        <c:dLbls>
          <c:showLegendKey val="0"/>
          <c:showVal val="0"/>
          <c:showCatName val="0"/>
          <c:showSerName val="0"/>
          <c:showPercent val="0"/>
          <c:showBubbleSize val="0"/>
        </c:dLbls>
        <c:gapWidth val="219"/>
        <c:overlap val="-27"/>
        <c:axId val="691907944"/>
        <c:axId val="691902368"/>
      </c:barChart>
      <c:catAx>
        <c:axId val="691907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crossAx val="691902368"/>
        <c:crosses val="autoZero"/>
        <c:auto val="1"/>
        <c:lblAlgn val="ctr"/>
        <c:lblOffset val="100"/>
        <c:noMultiLvlLbl val="0"/>
      </c:catAx>
      <c:valAx>
        <c:axId val="69190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crossAx val="691907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PT"/>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dirty="0" err="1"/>
              <a:t>Epic</a:t>
            </a:r>
            <a:r>
              <a:rPr lang="pt-PT" dirty="0"/>
              <a:t> </a:t>
            </a:r>
            <a:r>
              <a:rPr lang="pt-PT" dirty="0" err="1"/>
              <a:t>or</a:t>
            </a:r>
            <a:r>
              <a:rPr lang="pt-PT" dirty="0"/>
              <a:t> </a:t>
            </a:r>
            <a:r>
              <a:rPr lang="pt-PT" dirty="0" err="1"/>
              <a:t>Component</a:t>
            </a:r>
            <a:r>
              <a:rPr lang="pt-PT" dirty="0"/>
              <a:t> </a:t>
            </a:r>
            <a:r>
              <a:rPr lang="pt-PT" dirty="0" err="1"/>
              <a:t>or</a:t>
            </a:r>
            <a:r>
              <a:rPr lang="pt-PT" dirty="0"/>
              <a:t> UC</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PT"/>
        </a:p>
      </c:txPr>
    </c:title>
    <c:autoTitleDeleted val="0"/>
    <c:plotArea>
      <c:layout/>
      <c:pieChart>
        <c:varyColors val="1"/>
        <c:ser>
          <c:idx val="0"/>
          <c:order val="0"/>
          <c:tx>
            <c:strRef>
              <c:f>Folha1!$B$1</c:f>
              <c:strCache>
                <c:ptCount val="1"/>
                <c:pt idx="0">
                  <c:v>Componente</c:v>
                </c:pt>
              </c:strCache>
            </c:strRef>
          </c:tx>
          <c:dPt>
            <c:idx val="0"/>
            <c:bubble3D val="0"/>
            <c:spPr>
              <a:solidFill>
                <a:schemeClr val="accent6">
                  <a:tint val="58000"/>
                </a:schemeClr>
              </a:solidFill>
              <a:ln w="19050">
                <a:solidFill>
                  <a:schemeClr val="lt1"/>
                </a:solidFill>
              </a:ln>
              <a:effectLst/>
            </c:spPr>
            <c:extLst>
              <c:ext xmlns:c16="http://schemas.microsoft.com/office/drawing/2014/chart" uri="{C3380CC4-5D6E-409C-BE32-E72D297353CC}">
                <c16:uniqueId val="{00000001-0D5E-44D3-AE05-D0CC3596364F}"/>
              </c:ext>
            </c:extLst>
          </c:dPt>
          <c:dPt>
            <c:idx val="1"/>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3-0D5E-44D3-AE05-D0CC3596364F}"/>
              </c:ext>
            </c:extLst>
          </c:dPt>
          <c:dPt>
            <c:idx val="2"/>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5-0D5E-44D3-AE05-D0CC3596364F}"/>
              </c:ext>
            </c:extLst>
          </c:dPt>
          <c:dPt>
            <c:idx val="3"/>
            <c:bubble3D val="0"/>
            <c:spPr>
              <a:solidFill>
                <a:schemeClr val="accent6">
                  <a:shade val="58000"/>
                </a:schemeClr>
              </a:solidFill>
              <a:ln w="19050">
                <a:solidFill>
                  <a:schemeClr val="lt1"/>
                </a:solidFill>
              </a:ln>
              <a:effectLst/>
            </c:spPr>
            <c:extLst>
              <c:ext xmlns:c16="http://schemas.microsoft.com/office/drawing/2014/chart" uri="{C3380CC4-5D6E-409C-BE32-E72D297353CC}">
                <c16:uniqueId val="{00000007-0D5E-44D3-AE05-D0CC3596364F}"/>
              </c:ext>
            </c:extLst>
          </c:dPt>
          <c:cat>
            <c:strRef>
              <c:f>Folha1!$A$2:$A$5</c:f>
              <c:strCache>
                <c:ptCount val="4"/>
                <c:pt idx="0">
                  <c:v>ESINF</c:v>
                </c:pt>
                <c:pt idx="1">
                  <c:v>ARQC</c:v>
                </c:pt>
                <c:pt idx="2">
                  <c:v>LAPR</c:v>
                </c:pt>
                <c:pt idx="3">
                  <c:v>BDDAD</c:v>
                </c:pt>
              </c:strCache>
            </c:strRef>
          </c:cat>
          <c:val>
            <c:numRef>
              <c:f>Folha1!$B$2:$B$5</c:f>
              <c:numCache>
                <c:formatCode>General</c:formatCode>
                <c:ptCount val="4"/>
                <c:pt idx="0">
                  <c:v>2</c:v>
                </c:pt>
                <c:pt idx="1">
                  <c:v>6</c:v>
                </c:pt>
                <c:pt idx="2">
                  <c:v>1</c:v>
                </c:pt>
                <c:pt idx="3">
                  <c:v>4</c:v>
                </c:pt>
              </c:numCache>
            </c:numRef>
          </c:val>
          <c:extLst>
            <c:ext xmlns:c16="http://schemas.microsoft.com/office/drawing/2014/chart" uri="{C3380CC4-5D6E-409C-BE32-E72D297353CC}">
              <c16:uniqueId val="{00000000-A2C6-47B5-9769-0633602DAAC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PT"/>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PT"/>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2"/>
          <c:order val="2"/>
          <c:tx>
            <c:strRef>
              <c:f>Folha1!$D$1</c:f>
              <c:strCache>
                <c:ptCount val="1"/>
                <c:pt idx="0">
                  <c:v>Hours</c:v>
                </c:pt>
              </c:strCache>
            </c:strRef>
          </c:tx>
          <c:spPr>
            <a:solidFill>
              <a:schemeClr val="accent6">
                <a:shade val="65000"/>
              </a:schemeClr>
            </a:solidFill>
            <a:ln>
              <a:noFill/>
            </a:ln>
            <a:effectLst/>
          </c:spPr>
          <c:invertIfNegative val="0"/>
          <c:cat>
            <c:strRef>
              <c:f>Folha1!$A$2:$A$5</c:f>
              <c:strCache>
                <c:ptCount val="4"/>
                <c:pt idx="0">
                  <c:v>dia 1</c:v>
                </c:pt>
                <c:pt idx="1">
                  <c:v>dia 5</c:v>
                </c:pt>
                <c:pt idx="2">
                  <c:v>dia 10</c:v>
                </c:pt>
                <c:pt idx="3">
                  <c:v>dia 15</c:v>
                </c:pt>
              </c:strCache>
            </c:strRef>
          </c:cat>
          <c:val>
            <c:numRef>
              <c:f>Folha1!$D$2:$D$5</c:f>
              <c:numCache>
                <c:formatCode>General</c:formatCode>
                <c:ptCount val="4"/>
                <c:pt idx="0">
                  <c:v>0</c:v>
                </c:pt>
                <c:pt idx="1">
                  <c:v>8</c:v>
                </c:pt>
                <c:pt idx="2">
                  <c:v>12</c:v>
                </c:pt>
                <c:pt idx="3">
                  <c:v>15</c:v>
                </c:pt>
              </c:numCache>
            </c:numRef>
          </c:val>
          <c:extLst>
            <c:ext xmlns:c16="http://schemas.microsoft.com/office/drawing/2014/chart" uri="{C3380CC4-5D6E-409C-BE32-E72D297353CC}">
              <c16:uniqueId val="{00000002-E53F-4131-925C-6F2D23AB8F8E}"/>
            </c:ext>
          </c:extLst>
        </c:ser>
        <c:dLbls>
          <c:showLegendKey val="0"/>
          <c:showVal val="0"/>
          <c:showCatName val="0"/>
          <c:showSerName val="0"/>
          <c:showPercent val="0"/>
          <c:showBubbleSize val="0"/>
        </c:dLbls>
        <c:gapWidth val="150"/>
        <c:axId val="707176016"/>
        <c:axId val="707178176"/>
      </c:barChart>
      <c:lineChart>
        <c:grouping val="standard"/>
        <c:varyColors val="0"/>
        <c:ser>
          <c:idx val="0"/>
          <c:order val="0"/>
          <c:tx>
            <c:strRef>
              <c:f>Folha1!$B$1</c:f>
              <c:strCache>
                <c:ptCount val="1"/>
                <c:pt idx="0">
                  <c:v>Real</c:v>
                </c:pt>
              </c:strCache>
            </c:strRef>
          </c:tx>
          <c:spPr>
            <a:ln w="28575" cap="rnd">
              <a:solidFill>
                <a:schemeClr val="accent6">
                  <a:tint val="65000"/>
                </a:schemeClr>
              </a:solidFill>
              <a:round/>
            </a:ln>
            <a:effectLst/>
          </c:spPr>
          <c:marker>
            <c:symbol val="none"/>
          </c:marker>
          <c:cat>
            <c:strRef>
              <c:f>Folha1!$A$2:$A$5</c:f>
              <c:strCache>
                <c:ptCount val="4"/>
                <c:pt idx="0">
                  <c:v>dia 1</c:v>
                </c:pt>
                <c:pt idx="1">
                  <c:v>dia 5</c:v>
                </c:pt>
                <c:pt idx="2">
                  <c:v>dia 10</c:v>
                </c:pt>
                <c:pt idx="3">
                  <c:v>dia 15</c:v>
                </c:pt>
              </c:strCache>
            </c:strRef>
          </c:cat>
          <c:val>
            <c:numRef>
              <c:f>Folha1!$B$2:$B$5</c:f>
              <c:numCache>
                <c:formatCode>General</c:formatCode>
                <c:ptCount val="4"/>
                <c:pt idx="0">
                  <c:v>15</c:v>
                </c:pt>
                <c:pt idx="1">
                  <c:v>14</c:v>
                </c:pt>
                <c:pt idx="2">
                  <c:v>6</c:v>
                </c:pt>
                <c:pt idx="3">
                  <c:v>0</c:v>
                </c:pt>
              </c:numCache>
            </c:numRef>
          </c:val>
          <c:smooth val="0"/>
          <c:extLst>
            <c:ext xmlns:c16="http://schemas.microsoft.com/office/drawing/2014/chart" uri="{C3380CC4-5D6E-409C-BE32-E72D297353CC}">
              <c16:uniqueId val="{00000000-E53F-4131-925C-6F2D23AB8F8E}"/>
            </c:ext>
          </c:extLst>
        </c:ser>
        <c:ser>
          <c:idx val="1"/>
          <c:order val="1"/>
          <c:tx>
            <c:strRef>
              <c:f>Folha1!$C$1</c:f>
              <c:strCache>
                <c:ptCount val="1"/>
                <c:pt idx="0">
                  <c:v>Ideal</c:v>
                </c:pt>
              </c:strCache>
            </c:strRef>
          </c:tx>
          <c:spPr>
            <a:ln w="28575" cap="rnd">
              <a:solidFill>
                <a:schemeClr val="accent6"/>
              </a:solidFill>
              <a:round/>
            </a:ln>
            <a:effectLst/>
          </c:spPr>
          <c:marker>
            <c:symbol val="none"/>
          </c:marker>
          <c:cat>
            <c:strRef>
              <c:f>Folha1!$A$2:$A$5</c:f>
              <c:strCache>
                <c:ptCount val="4"/>
                <c:pt idx="0">
                  <c:v>dia 1</c:v>
                </c:pt>
                <c:pt idx="1">
                  <c:v>dia 5</c:v>
                </c:pt>
                <c:pt idx="2">
                  <c:v>dia 10</c:v>
                </c:pt>
                <c:pt idx="3">
                  <c:v>dia 15</c:v>
                </c:pt>
              </c:strCache>
            </c:strRef>
          </c:cat>
          <c:val>
            <c:numRef>
              <c:f>Folha1!$C$2:$C$5</c:f>
              <c:numCache>
                <c:formatCode>General</c:formatCode>
                <c:ptCount val="4"/>
                <c:pt idx="0">
                  <c:v>15</c:v>
                </c:pt>
                <c:pt idx="1">
                  <c:v>10</c:v>
                </c:pt>
                <c:pt idx="2">
                  <c:v>5</c:v>
                </c:pt>
                <c:pt idx="3">
                  <c:v>0</c:v>
                </c:pt>
              </c:numCache>
            </c:numRef>
          </c:val>
          <c:smooth val="0"/>
          <c:extLst>
            <c:ext xmlns:c16="http://schemas.microsoft.com/office/drawing/2014/chart" uri="{C3380CC4-5D6E-409C-BE32-E72D297353CC}">
              <c16:uniqueId val="{00000001-E53F-4131-925C-6F2D23AB8F8E}"/>
            </c:ext>
          </c:extLst>
        </c:ser>
        <c:dLbls>
          <c:showLegendKey val="0"/>
          <c:showVal val="0"/>
          <c:showCatName val="0"/>
          <c:showSerName val="0"/>
          <c:showPercent val="0"/>
          <c:showBubbleSize val="0"/>
        </c:dLbls>
        <c:marker val="1"/>
        <c:smooth val="0"/>
        <c:axId val="634089088"/>
        <c:axId val="634090072"/>
      </c:lineChart>
      <c:catAx>
        <c:axId val="634089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crossAx val="634090072"/>
        <c:crosses val="autoZero"/>
        <c:auto val="1"/>
        <c:lblAlgn val="ctr"/>
        <c:lblOffset val="100"/>
        <c:noMultiLvlLbl val="0"/>
      </c:catAx>
      <c:valAx>
        <c:axId val="634090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crossAx val="634089088"/>
        <c:crosses val="autoZero"/>
        <c:crossBetween val="between"/>
      </c:valAx>
      <c:valAx>
        <c:axId val="707178176"/>
        <c:scaling>
          <c:orientation val="minMax"/>
          <c:max val="10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crossAx val="707176016"/>
        <c:crosses val="max"/>
        <c:crossBetween val="between"/>
      </c:valAx>
      <c:catAx>
        <c:axId val="707176016"/>
        <c:scaling>
          <c:orientation val="minMax"/>
        </c:scaling>
        <c:delete val="1"/>
        <c:axPos val="b"/>
        <c:numFmt formatCode="General" sourceLinked="1"/>
        <c:majorTickMark val="out"/>
        <c:minorTickMark val="none"/>
        <c:tickLblPos val="nextTo"/>
        <c:crossAx val="70717817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P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PT"/>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withinLinearReversed" id="26">
  <a:schemeClr val="accent6"/>
</cs:colorStyle>
</file>

<file path=ppt/charts/colors4.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3.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Imagem 2" descr="Uma imagem com texto, file, Gráfico, diagrama&#10;&#10;Descrição gerada automaticamente">
          <a:extLst xmlns:a="http://schemas.openxmlformats.org/drawingml/2006/main">
            <a:ext uri="{FF2B5EF4-FFF2-40B4-BE49-F238E27FC236}">
              <a16:creationId xmlns:a16="http://schemas.microsoft.com/office/drawing/2014/main" id="{3ED628ED-BA5D-8F78-3848-16D0EFBDDEC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12705613" cy="5394971"/>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AA918-AAAF-A948-AD9D-7282A6CA6554}" type="datetimeFigureOut">
              <a:rPr lang="en-US" smtClean="0"/>
              <a:pPr/>
              <a:t>1/17/2025</a:t>
            </a:fld>
            <a:endParaRPr lang="pt-PT"/>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1B708B-99F0-4F4A-8995-6044E0FFF0C7}" type="slidenum">
              <a:rPr lang="pt-PT" smtClean="0"/>
              <a:pPr/>
              <a:t>‹nº›</a:t>
            </a:fld>
            <a:endParaRPr lang="pt-PT"/>
          </a:p>
        </p:txBody>
      </p:sp>
    </p:spTree>
    <p:extLst>
      <p:ext uri="{BB962C8B-B14F-4D97-AF65-F5344CB8AC3E}">
        <p14:creationId xmlns:p14="http://schemas.microsoft.com/office/powerpoint/2010/main" val="25642093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dirty="0"/>
              <a:t>Não colocar screenshots! Preencher manualmente os valores.</a:t>
            </a:r>
          </a:p>
        </p:txBody>
      </p:sp>
      <p:sp>
        <p:nvSpPr>
          <p:cNvPr id="4" name="Marcador de Posição do Número do Diapositivo 3"/>
          <p:cNvSpPr>
            <a:spLocks noGrp="1"/>
          </p:cNvSpPr>
          <p:nvPr>
            <p:ph type="sldNum" sz="quarter" idx="5"/>
          </p:nvPr>
        </p:nvSpPr>
        <p:spPr/>
        <p:txBody>
          <a:bodyPr/>
          <a:lstStyle/>
          <a:p>
            <a:fld id="{FC1B708B-99F0-4F4A-8995-6044E0FFF0C7}" type="slidenum">
              <a:rPr lang="pt-PT" smtClean="0"/>
              <a:pPr/>
              <a:t>3</a:t>
            </a:fld>
            <a:endParaRPr lang="pt-PT"/>
          </a:p>
        </p:txBody>
      </p:sp>
    </p:spTree>
    <p:extLst>
      <p:ext uri="{BB962C8B-B14F-4D97-AF65-F5344CB8AC3E}">
        <p14:creationId xmlns:p14="http://schemas.microsoft.com/office/powerpoint/2010/main" val="614972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3565-2DA6-B130-3154-74E288B163C2}"/>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4F2CAF28-789F-4BC5-A89D-B8593BD10BFE}"/>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6588BE44-1613-394F-5F69-A06D97B2FBEB}"/>
              </a:ext>
            </a:extLst>
          </p:cNvPr>
          <p:cNvSpPr>
            <a:spLocks noGrp="1"/>
          </p:cNvSpPr>
          <p:nvPr>
            <p:ph type="body" idx="1"/>
          </p:nvPr>
        </p:nvSpPr>
        <p:spPr/>
        <p:txBody>
          <a:bodyPr/>
          <a:lstStyle/>
          <a:p>
            <a:r>
              <a:rPr lang="pt-PT" dirty="0"/>
              <a:t>Não colocar screenshots! Preencher manualmente os valores.</a:t>
            </a:r>
          </a:p>
        </p:txBody>
      </p:sp>
      <p:sp>
        <p:nvSpPr>
          <p:cNvPr id="4" name="Marcador de Posição do Número do Diapositivo 3">
            <a:extLst>
              <a:ext uri="{FF2B5EF4-FFF2-40B4-BE49-F238E27FC236}">
                <a16:creationId xmlns:a16="http://schemas.microsoft.com/office/drawing/2014/main" id="{47D933A9-B24C-CE15-C891-42178D0CC134}"/>
              </a:ext>
            </a:extLst>
          </p:cNvPr>
          <p:cNvSpPr>
            <a:spLocks noGrp="1"/>
          </p:cNvSpPr>
          <p:nvPr>
            <p:ph type="sldNum" sz="quarter" idx="5"/>
          </p:nvPr>
        </p:nvSpPr>
        <p:spPr/>
        <p:txBody>
          <a:bodyPr/>
          <a:lstStyle/>
          <a:p>
            <a:fld id="{FC1B708B-99F0-4F4A-8995-6044E0FFF0C7}" type="slidenum">
              <a:rPr lang="pt-PT" smtClean="0"/>
              <a:pPr/>
              <a:t>4</a:t>
            </a:fld>
            <a:endParaRPr lang="pt-PT"/>
          </a:p>
        </p:txBody>
      </p:sp>
    </p:spTree>
    <p:extLst>
      <p:ext uri="{BB962C8B-B14F-4D97-AF65-F5344CB8AC3E}">
        <p14:creationId xmlns:p14="http://schemas.microsoft.com/office/powerpoint/2010/main" val="1990823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4F7A8-F7FF-43E5-8170-901376D1A824}"/>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10FCDF0A-8B8A-D022-B1CF-3202320FB488}"/>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61025A99-ED36-A852-54F1-DD6F819A9E70}"/>
              </a:ext>
            </a:extLst>
          </p:cNvPr>
          <p:cNvSpPr>
            <a:spLocks noGrp="1"/>
          </p:cNvSpPr>
          <p:nvPr>
            <p:ph type="body" idx="1"/>
          </p:nvPr>
        </p:nvSpPr>
        <p:spPr/>
        <p:txBody>
          <a:bodyPr/>
          <a:lstStyle/>
          <a:p>
            <a:r>
              <a:rPr lang="pt-PT" dirty="0"/>
              <a:t>Não colocar screenshots! Preencher manualmente os valores.</a:t>
            </a:r>
          </a:p>
        </p:txBody>
      </p:sp>
      <p:sp>
        <p:nvSpPr>
          <p:cNvPr id="4" name="Marcador de Posição do Número do Diapositivo 3">
            <a:extLst>
              <a:ext uri="{FF2B5EF4-FFF2-40B4-BE49-F238E27FC236}">
                <a16:creationId xmlns:a16="http://schemas.microsoft.com/office/drawing/2014/main" id="{3125D15F-A1B0-F4ED-9EBE-3C1A7219DE3A}"/>
              </a:ext>
            </a:extLst>
          </p:cNvPr>
          <p:cNvSpPr>
            <a:spLocks noGrp="1"/>
          </p:cNvSpPr>
          <p:nvPr>
            <p:ph type="sldNum" sz="quarter" idx="5"/>
          </p:nvPr>
        </p:nvSpPr>
        <p:spPr/>
        <p:txBody>
          <a:bodyPr/>
          <a:lstStyle/>
          <a:p>
            <a:fld id="{FC1B708B-99F0-4F4A-8995-6044E0FFF0C7}" type="slidenum">
              <a:rPr lang="pt-PT" smtClean="0"/>
              <a:pPr/>
              <a:t>5</a:t>
            </a:fld>
            <a:endParaRPr lang="pt-PT"/>
          </a:p>
        </p:txBody>
      </p:sp>
    </p:spTree>
    <p:extLst>
      <p:ext uri="{BB962C8B-B14F-4D97-AF65-F5344CB8AC3E}">
        <p14:creationId xmlns:p14="http://schemas.microsoft.com/office/powerpoint/2010/main" val="2249258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107FE-6EE6-73B2-E751-9A731EEB55CE}"/>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8C4EEDA8-DEA4-933E-32C5-C70093458573}"/>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17A04764-3022-4D60-CDEE-F9796EF22541}"/>
              </a:ext>
            </a:extLst>
          </p:cNvPr>
          <p:cNvSpPr>
            <a:spLocks noGrp="1"/>
          </p:cNvSpPr>
          <p:nvPr>
            <p:ph type="body" idx="1"/>
          </p:nvPr>
        </p:nvSpPr>
        <p:spPr/>
        <p:txBody>
          <a:bodyPr/>
          <a:lstStyle/>
          <a:p>
            <a:r>
              <a:rPr lang="pt-PT" dirty="0"/>
              <a:t>Não colocar screenshots! Preencher manualmente os valores.</a:t>
            </a:r>
          </a:p>
        </p:txBody>
      </p:sp>
      <p:sp>
        <p:nvSpPr>
          <p:cNvPr id="4" name="Marcador de Posição do Número do Diapositivo 3">
            <a:extLst>
              <a:ext uri="{FF2B5EF4-FFF2-40B4-BE49-F238E27FC236}">
                <a16:creationId xmlns:a16="http://schemas.microsoft.com/office/drawing/2014/main" id="{FB36DDA2-FF75-1B9F-598C-424930C7534F}"/>
              </a:ext>
            </a:extLst>
          </p:cNvPr>
          <p:cNvSpPr>
            <a:spLocks noGrp="1"/>
          </p:cNvSpPr>
          <p:nvPr>
            <p:ph type="sldNum" sz="quarter" idx="5"/>
          </p:nvPr>
        </p:nvSpPr>
        <p:spPr/>
        <p:txBody>
          <a:bodyPr/>
          <a:lstStyle/>
          <a:p>
            <a:fld id="{FC1B708B-99F0-4F4A-8995-6044E0FFF0C7}" type="slidenum">
              <a:rPr lang="pt-PT" smtClean="0"/>
              <a:pPr/>
              <a:t>6</a:t>
            </a:fld>
            <a:endParaRPr lang="pt-PT"/>
          </a:p>
        </p:txBody>
      </p:sp>
    </p:spTree>
    <p:extLst>
      <p:ext uri="{BB962C8B-B14F-4D97-AF65-F5344CB8AC3E}">
        <p14:creationId xmlns:p14="http://schemas.microsoft.com/office/powerpoint/2010/main" val="3731698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dirty="0"/>
              <a:t>Se compilaram o registo de horas colocar as horas de trabalho, caso contrario utilizar o numero de tarefas ou algo que reflita a distribuição de trabalho.</a:t>
            </a:r>
          </a:p>
        </p:txBody>
      </p:sp>
      <p:sp>
        <p:nvSpPr>
          <p:cNvPr id="4" name="Marcador de Posição do Número do Diapositivo 3"/>
          <p:cNvSpPr>
            <a:spLocks noGrp="1"/>
          </p:cNvSpPr>
          <p:nvPr>
            <p:ph type="sldNum" sz="quarter" idx="5"/>
          </p:nvPr>
        </p:nvSpPr>
        <p:spPr/>
        <p:txBody>
          <a:bodyPr/>
          <a:lstStyle/>
          <a:p>
            <a:fld id="{FC1B708B-99F0-4F4A-8995-6044E0FFF0C7}" type="slidenum">
              <a:rPr lang="pt-PT" smtClean="0"/>
              <a:pPr/>
              <a:t>7</a:t>
            </a:fld>
            <a:endParaRPr lang="pt-PT"/>
          </a:p>
        </p:txBody>
      </p:sp>
    </p:spTree>
    <p:extLst>
      <p:ext uri="{BB962C8B-B14F-4D97-AF65-F5344CB8AC3E}">
        <p14:creationId xmlns:p14="http://schemas.microsoft.com/office/powerpoint/2010/main" val="2740272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31BD7-C531-5B6F-E5C6-754691599C3B}"/>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C039CFC5-CA5B-88CC-8BBB-064471BBEAC3}"/>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9D5ABA82-94BF-AC81-7508-E68CC3AE01D9}"/>
              </a:ext>
            </a:extLst>
          </p:cNvPr>
          <p:cNvSpPr>
            <a:spLocks noGrp="1"/>
          </p:cNvSpPr>
          <p:nvPr>
            <p:ph type="body" idx="1"/>
          </p:nvPr>
        </p:nvSpPr>
        <p:spPr/>
        <p:txBody>
          <a:bodyPr/>
          <a:lstStyle/>
          <a:p>
            <a:r>
              <a:rPr lang="pt-PT" dirty="0"/>
              <a:t>Se compilaram o registo de horas colocar as horas de trabalho, caso contrario utilizar o numero de tarefas ou algo que reflita a distribuição de trabalho.</a:t>
            </a:r>
          </a:p>
        </p:txBody>
      </p:sp>
      <p:sp>
        <p:nvSpPr>
          <p:cNvPr id="4" name="Marcador de Posição do Número do Diapositivo 3">
            <a:extLst>
              <a:ext uri="{FF2B5EF4-FFF2-40B4-BE49-F238E27FC236}">
                <a16:creationId xmlns:a16="http://schemas.microsoft.com/office/drawing/2014/main" id="{5228E7AB-3F07-5124-0B0D-CD9FB8130C30}"/>
              </a:ext>
            </a:extLst>
          </p:cNvPr>
          <p:cNvSpPr>
            <a:spLocks noGrp="1"/>
          </p:cNvSpPr>
          <p:nvPr>
            <p:ph type="sldNum" sz="quarter" idx="5"/>
          </p:nvPr>
        </p:nvSpPr>
        <p:spPr/>
        <p:txBody>
          <a:bodyPr/>
          <a:lstStyle/>
          <a:p>
            <a:fld id="{FC1B708B-99F0-4F4A-8995-6044E0FFF0C7}" type="slidenum">
              <a:rPr lang="pt-PT" smtClean="0"/>
              <a:pPr/>
              <a:t>8</a:t>
            </a:fld>
            <a:endParaRPr lang="pt-PT"/>
          </a:p>
        </p:txBody>
      </p:sp>
    </p:spTree>
    <p:extLst>
      <p:ext uri="{BB962C8B-B14F-4D97-AF65-F5344CB8AC3E}">
        <p14:creationId xmlns:p14="http://schemas.microsoft.com/office/powerpoint/2010/main" val="3383117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pt-PT" dirty="0"/>
              <a:t>Podem criar mais páginas se estas não forem suficientes</a:t>
            </a:r>
          </a:p>
        </p:txBody>
      </p:sp>
      <p:sp>
        <p:nvSpPr>
          <p:cNvPr id="4" name="Marcador de Posição do Número do Diapositivo 3"/>
          <p:cNvSpPr>
            <a:spLocks noGrp="1"/>
          </p:cNvSpPr>
          <p:nvPr>
            <p:ph type="sldNum" sz="quarter" idx="5"/>
          </p:nvPr>
        </p:nvSpPr>
        <p:spPr/>
        <p:txBody>
          <a:bodyPr/>
          <a:lstStyle/>
          <a:p>
            <a:fld id="{FC1B708B-99F0-4F4A-8995-6044E0FFF0C7}" type="slidenum">
              <a:rPr lang="pt-PT" smtClean="0"/>
              <a:pPr/>
              <a:t>12</a:t>
            </a:fld>
            <a:endParaRPr lang="pt-PT"/>
          </a:p>
        </p:txBody>
      </p:sp>
    </p:spTree>
    <p:extLst>
      <p:ext uri="{BB962C8B-B14F-4D97-AF65-F5344CB8AC3E}">
        <p14:creationId xmlns:p14="http://schemas.microsoft.com/office/powerpoint/2010/main" val="2933238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31236-C54D-8838-3E02-C301223B01D6}"/>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5A758ECB-DE11-0CAF-CC3D-9CAD90B39C0F}"/>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9A1889BE-93D7-3CCC-41E4-078DFA6B0B02}"/>
              </a:ext>
            </a:extLst>
          </p:cNvPr>
          <p:cNvSpPr>
            <a:spLocks noGrp="1"/>
          </p:cNvSpPr>
          <p:nvPr>
            <p:ph type="body" idx="1"/>
          </p:nvPr>
        </p:nvSpPr>
        <p:spPr/>
        <p:txBody>
          <a:bodyPr/>
          <a:lstStyle/>
          <a:p>
            <a:r>
              <a:rPr lang="pt-PT" dirty="0"/>
              <a:t>Podem criar mais páginas se estas não forem suficientes</a:t>
            </a:r>
          </a:p>
        </p:txBody>
      </p:sp>
      <p:sp>
        <p:nvSpPr>
          <p:cNvPr id="4" name="Marcador de Posição do Número do Diapositivo 3">
            <a:extLst>
              <a:ext uri="{FF2B5EF4-FFF2-40B4-BE49-F238E27FC236}">
                <a16:creationId xmlns:a16="http://schemas.microsoft.com/office/drawing/2014/main" id="{FA5209FD-FE54-D90D-60D2-9A95D87BF540}"/>
              </a:ext>
            </a:extLst>
          </p:cNvPr>
          <p:cNvSpPr>
            <a:spLocks noGrp="1"/>
          </p:cNvSpPr>
          <p:nvPr>
            <p:ph type="sldNum" sz="quarter" idx="5"/>
          </p:nvPr>
        </p:nvSpPr>
        <p:spPr/>
        <p:txBody>
          <a:bodyPr/>
          <a:lstStyle/>
          <a:p>
            <a:fld id="{FC1B708B-99F0-4F4A-8995-6044E0FFF0C7}" type="slidenum">
              <a:rPr lang="pt-PT" smtClean="0"/>
              <a:pPr/>
              <a:t>13</a:t>
            </a:fld>
            <a:endParaRPr lang="pt-PT"/>
          </a:p>
        </p:txBody>
      </p:sp>
    </p:spTree>
    <p:extLst>
      <p:ext uri="{BB962C8B-B14F-4D97-AF65-F5344CB8AC3E}">
        <p14:creationId xmlns:p14="http://schemas.microsoft.com/office/powerpoint/2010/main" val="420988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Shape 14"/>
        <p:cNvGrpSpPr/>
        <p:nvPr/>
      </p:nvGrpSpPr>
      <p:grpSpPr>
        <a:xfrm>
          <a:off x="0" y="0"/>
          <a:ext cx="0" cy="0"/>
          <a:chOff x="0" y="0"/>
          <a:chExt cx="0" cy="0"/>
        </a:xfrm>
      </p:grpSpPr>
      <p:sp>
        <p:nvSpPr>
          <p:cNvPr id="2" name="Retângulo 1">
            <a:extLst>
              <a:ext uri="{FF2B5EF4-FFF2-40B4-BE49-F238E27FC236}">
                <a16:creationId xmlns:a16="http://schemas.microsoft.com/office/drawing/2014/main" id="{E3986928-2F1A-05D5-49A7-ECF44F7E6983}"/>
              </a:ext>
            </a:extLst>
          </p:cNvPr>
          <p:cNvSpPr/>
          <p:nvPr userDrawn="1"/>
        </p:nvSpPr>
        <p:spPr>
          <a:xfrm>
            <a:off x="1" y="1093304"/>
            <a:ext cx="9906000" cy="5764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15" name="Shape 15"/>
          <p:cNvSpPr txBox="1">
            <a:spLocks noGrp="1"/>
          </p:cNvSpPr>
          <p:nvPr>
            <p:ph type="title"/>
          </p:nvPr>
        </p:nvSpPr>
        <p:spPr>
          <a:xfrm>
            <a:off x="414000" y="4000503"/>
            <a:ext cx="8182338"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Shape 1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871060492"/>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Em branco">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685800" y="1066800"/>
            <a:ext cx="8534399" cy="571503"/>
          </a:xfrm>
          <a:prstGeom prst="rect">
            <a:avLst/>
          </a:prstGeom>
          <a:noFill/>
          <a:ln>
            <a:noFill/>
          </a:ln>
        </p:spPr>
        <p:txBody>
          <a:bodyPr wrap="square" lIns="91425" tIns="91425" rIns="91425" bIns="91425" anchor="t" anchorCtr="0"/>
          <a:lstStyle>
            <a:lvl1pPr marL="0" marR="0" lvl="0" indent="0" algn="l" rtl="0">
              <a:spcBef>
                <a:spcPts val="0"/>
              </a:spcBef>
              <a:buClr>
                <a:srgbClr val="000000"/>
              </a:buClr>
              <a:buFont typeface="Calibri"/>
              <a:buNone/>
              <a:defRPr sz="3200" b="1" i="0" u="none" strike="noStrike" cap="none">
                <a:solidFill>
                  <a:srgbClr val="00000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9" name="Shape 19"/>
          <p:cNvSpPr txBox="1">
            <a:spLocks noGrp="1"/>
          </p:cNvSpPr>
          <p:nvPr>
            <p:ph type="body" idx="1"/>
          </p:nvPr>
        </p:nvSpPr>
        <p:spPr>
          <a:xfrm>
            <a:off x="685800" y="1714488"/>
            <a:ext cx="8534399" cy="4305312"/>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SzPct val="100000"/>
              <a:buFont typeface="Arial"/>
              <a:buChar char="•"/>
              <a:defRPr sz="1800" b="0" i="0" u="none" strike="noStrike" cap="none">
                <a:latin typeface="Calibri"/>
                <a:ea typeface="Calibri"/>
                <a:cs typeface="Calibri"/>
                <a:sym typeface="Calibri"/>
              </a:defRPr>
            </a:lvl1pPr>
            <a:lvl2pPr marL="742950" marR="0" lvl="1" indent="-171450" algn="l" rtl="0">
              <a:spcBef>
                <a:spcPts val="0"/>
              </a:spcBef>
              <a:spcAft>
                <a:spcPts val="400"/>
              </a:spcAft>
              <a:buSzPct val="100000"/>
              <a:buFont typeface="Arial"/>
              <a:buChar char="–"/>
              <a:defRPr sz="1800" b="0" i="0" u="none" strike="noStrike" cap="none">
                <a:latin typeface="Calibri"/>
                <a:ea typeface="Calibri"/>
                <a:cs typeface="Calibri"/>
                <a:sym typeface="Calibri"/>
              </a:defRPr>
            </a:lvl2pPr>
            <a:lvl3pPr marL="1143000" marR="0" lvl="2" indent="-228600" algn="l" rtl="0">
              <a:spcBef>
                <a:spcPts val="0"/>
              </a:spcBef>
              <a:spcAft>
                <a:spcPts val="400"/>
              </a:spcAft>
              <a:buFont typeface="Arial"/>
              <a:buChar char="■"/>
              <a:defRPr sz="1800" b="0" i="0" u="none" strike="noStrike" cap="none">
                <a:latin typeface="Calibri"/>
                <a:ea typeface="Calibri"/>
                <a:cs typeface="Calibri"/>
                <a:sym typeface="Calibri"/>
              </a:defRPr>
            </a:lvl3pPr>
            <a:lvl4pPr marL="1600200" marR="0" lvl="3"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4pPr>
            <a:lvl5pPr marL="2057400" marR="0" lvl="4"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dirty="0"/>
          </a:p>
        </p:txBody>
      </p:sp>
      <p:sp>
        <p:nvSpPr>
          <p:cNvPr id="2" name="Retângulo 1">
            <a:extLst>
              <a:ext uri="{FF2B5EF4-FFF2-40B4-BE49-F238E27FC236}">
                <a16:creationId xmlns:a16="http://schemas.microsoft.com/office/drawing/2014/main" id="{761D1FC4-6243-41CD-9D5B-A6553C84873C}"/>
              </a:ext>
            </a:extLst>
          </p:cNvPr>
          <p:cNvSpPr/>
          <p:nvPr userDrawn="1"/>
        </p:nvSpPr>
        <p:spPr>
          <a:xfrm>
            <a:off x="579188" y="6525785"/>
            <a:ext cx="1451038" cy="276999"/>
          </a:xfrm>
          <a:prstGeom prst="rect">
            <a:avLst/>
          </a:prstGeom>
        </p:spPr>
        <p:txBody>
          <a:bodyPr wrap="none">
            <a:spAutoFit/>
          </a:bodyPr>
          <a:lstStyle/>
          <a:p>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Internal</a:t>
            </a:r>
            <a:r>
              <a:rPr lang="pt-PT" sz="1200" b="1"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 Use </a:t>
            </a:r>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Only</a:t>
            </a:r>
            <a:endParaRPr lang="pt-PT" sz="1200"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endParaRPr>
          </a:p>
        </p:txBody>
      </p:sp>
    </p:spTree>
    <p:extLst>
      <p:ext uri="{BB962C8B-B14F-4D97-AF65-F5344CB8AC3E}">
        <p14:creationId xmlns:p14="http://schemas.microsoft.com/office/powerpoint/2010/main" val="273965312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380967" y="4000503"/>
            <a:ext cx="821537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3" name="Shape 23"/>
          <p:cNvSpPr txBox="1">
            <a:spLocks noGrp="1"/>
          </p:cNvSpPr>
          <p:nvPr>
            <p:ph type="body" idx="1"/>
          </p:nvPr>
        </p:nvSpPr>
        <p:spPr>
          <a:xfrm>
            <a:off x="390552" y="4808553"/>
            <a:ext cx="6848464" cy="406396"/>
          </a:xfrm>
          <a:prstGeom prst="rect">
            <a:avLst/>
          </a:prstGeom>
          <a:noFill/>
          <a:ln>
            <a:noFill/>
          </a:ln>
        </p:spPr>
        <p:txBody>
          <a:bodyPr wrap="square" lIns="91425" tIns="91425" rIns="91425" bIns="91425" anchor="b" anchorCtr="0"/>
          <a:lstStyle>
            <a:lvl1pPr marL="0" marR="0" lvl="0" indent="0" algn="l" rtl="0">
              <a:spcBef>
                <a:spcPts val="0"/>
              </a:spcBef>
              <a:spcAft>
                <a:spcPts val="400"/>
              </a:spcAft>
              <a:buClr>
                <a:srgbClr val="888888"/>
              </a:buClr>
              <a:buFont typeface="Arial"/>
              <a:buChar char="●"/>
              <a:defRPr sz="2000" b="0" i="0" u="none" strike="noStrike" cap="none">
                <a:solidFill>
                  <a:srgbClr val="888888"/>
                </a:solidFill>
                <a:latin typeface="Calibri"/>
                <a:ea typeface="Calibri"/>
                <a:cs typeface="Calibri"/>
                <a:sym typeface="Calibri"/>
              </a:defRPr>
            </a:lvl1pPr>
            <a:lvl2pPr marL="457200" marR="0" lvl="1" indent="0" algn="l" rtl="0">
              <a:spcBef>
                <a:spcPts val="0"/>
              </a:spcBef>
              <a:spcAft>
                <a:spcPts val="400"/>
              </a:spcAft>
              <a:buClr>
                <a:srgbClr val="888888"/>
              </a:buClr>
              <a:buFont typeface="Arial"/>
              <a:buChar char="○"/>
              <a:defRPr sz="1800" b="0" i="0" u="none" strike="noStrike" cap="none">
                <a:solidFill>
                  <a:srgbClr val="888888"/>
                </a:solidFill>
                <a:latin typeface="Calibri"/>
                <a:ea typeface="Calibri"/>
                <a:cs typeface="Calibri"/>
                <a:sym typeface="Calibri"/>
              </a:defRPr>
            </a:lvl2pPr>
            <a:lvl3pPr marL="914400" marR="0" lvl="2" indent="0" algn="l" rtl="0">
              <a:spcBef>
                <a:spcPts val="0"/>
              </a:spcBef>
              <a:spcAft>
                <a:spcPts val="400"/>
              </a:spcAft>
              <a:buClr>
                <a:srgbClr val="888888"/>
              </a:buClr>
              <a:buFont typeface="Arial"/>
              <a:buChar char="■"/>
              <a:defRPr sz="1600" b="0" i="0" u="none" strike="noStrike" cap="none">
                <a:solidFill>
                  <a:srgbClr val="888888"/>
                </a:solidFill>
                <a:latin typeface="Calibri"/>
                <a:ea typeface="Calibri"/>
                <a:cs typeface="Calibri"/>
                <a:sym typeface="Calibri"/>
              </a:defRPr>
            </a:lvl3pPr>
            <a:lvl4pPr marL="1371600" marR="0" lvl="3"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4pPr>
            <a:lvl5pPr marL="1828800" marR="0" lvl="4"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5pPr>
            <a:lvl6pPr marL="2286000" marR="0" lvl="5"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6pPr>
            <a:lvl7pPr marL="2743200" marR="0" lvl="6"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7pPr>
            <a:lvl8pPr marL="3200400" marR="0" lvl="7"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8pPr>
            <a:lvl9pPr marL="3657600" marR="0" lvl="8"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9pPr>
          </a:lstStyle>
          <a:p>
            <a:endParaRPr dirty="0"/>
          </a:p>
        </p:txBody>
      </p:sp>
      <p:sp>
        <p:nvSpPr>
          <p:cNvPr id="24" name="Shape 24"/>
          <p:cNvSpPr txBox="1">
            <a:spLocks noGrp="1"/>
          </p:cNvSpPr>
          <p:nvPr>
            <p:ph type="dt" idx="10"/>
          </p:nvPr>
        </p:nvSpPr>
        <p:spPr>
          <a:xfrm>
            <a:off x="452406"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518983840"/>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414000" y="1000108"/>
            <a:ext cx="904320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414000" y="1714486"/>
            <a:ext cx="90432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0" name="Shape 30"/>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379991936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údo Duplo">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414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4" name="Shape 34"/>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
        <p:nvSpPr>
          <p:cNvPr id="37" name="Shape 37"/>
          <p:cNvSpPr txBox="1">
            <a:spLocks noGrp="1"/>
          </p:cNvSpPr>
          <p:nvPr>
            <p:ph type="body" idx="2"/>
          </p:nvPr>
        </p:nvSpPr>
        <p:spPr>
          <a:xfrm>
            <a:off x="4968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64908252"/>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Shape 38"/>
        <p:cNvGrpSpPr/>
        <p:nvPr/>
      </p:nvGrpSpPr>
      <p:grpSpPr>
        <a:xfrm>
          <a:off x="0" y="0"/>
          <a:ext cx="0" cy="0"/>
          <a:chOff x="0" y="0"/>
          <a:chExt cx="0" cy="0"/>
        </a:xfrm>
      </p:grpSpPr>
      <p:sp>
        <p:nvSpPr>
          <p:cNvPr id="39" name="Shape 39"/>
          <p:cNvSpPr>
            <a:spLocks noGrp="1"/>
          </p:cNvSpPr>
          <p:nvPr>
            <p:ph type="pic" idx="2"/>
          </p:nvPr>
        </p:nvSpPr>
        <p:spPr>
          <a:xfrm>
            <a:off x="414000" y="1004400"/>
            <a:ext cx="9043200" cy="5309999"/>
          </a:xfrm>
          <a:prstGeom prst="rect">
            <a:avLst/>
          </a:prstGeom>
          <a:no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None/>
              <a:defRPr sz="32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None/>
              <a:defRPr sz="28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None/>
              <a:defRPr sz="24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5pPr>
            <a:lvl6pPr marL="2286000" marR="0" lvl="5"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6pPr>
            <a:lvl7pPr marL="2743200" marR="0" lvl="6"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7pPr>
            <a:lvl8pPr marL="3200400" marR="0" lvl="7"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8pPr>
            <a:lvl9pPr marL="3657600" marR="0" lvl="8"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9pPr>
          </a:lstStyle>
          <a:p>
            <a:endParaRPr/>
          </a:p>
        </p:txBody>
      </p:sp>
      <p:sp>
        <p:nvSpPr>
          <p:cNvPr id="40" name="Shape 40"/>
          <p:cNvSpPr txBox="1">
            <a:spLocks noGrp="1"/>
          </p:cNvSpPr>
          <p:nvPr>
            <p:ph type="title"/>
          </p:nvPr>
        </p:nvSpPr>
        <p:spPr>
          <a:xfrm>
            <a:off x="523843" y="5505467"/>
            <a:ext cx="5943599" cy="352424"/>
          </a:xfrm>
          <a:prstGeom prst="rect">
            <a:avLst/>
          </a:prstGeom>
          <a:solidFill>
            <a:schemeClr val="lt1"/>
          </a:solidFill>
          <a:ln>
            <a:noFill/>
          </a:ln>
        </p:spPr>
        <p:txBody>
          <a:bodyPr wrap="square" lIns="91425" tIns="91425" rIns="91425" bIns="91425" anchor="b" anchorCtr="0"/>
          <a:lstStyle>
            <a:lvl1pPr marL="0" marR="0" lvl="0" indent="0" algn="l" rtl="0">
              <a:spcBef>
                <a:spcPts val="0"/>
              </a:spcBef>
              <a:buClr>
                <a:schemeClr val="lt1"/>
              </a:buClr>
              <a:buFont typeface="Calibri"/>
              <a:buNone/>
              <a:defRPr sz="2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1" name="Shape 41"/>
          <p:cNvSpPr txBox="1">
            <a:spLocks noGrp="1"/>
          </p:cNvSpPr>
          <p:nvPr>
            <p:ph type="body" idx="1"/>
          </p:nvPr>
        </p:nvSpPr>
        <p:spPr>
          <a:xfrm>
            <a:off x="523843" y="5929330"/>
            <a:ext cx="8858312" cy="276239"/>
          </a:xfrm>
          <a:prstGeom prst="rect">
            <a:avLst/>
          </a:prstGeom>
          <a:solidFill>
            <a:schemeClr val="lt1"/>
          </a:solid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Char char="●"/>
              <a:defRPr sz="14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Char char="○"/>
              <a:defRPr sz="12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Char char="■"/>
              <a:defRPr sz="10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5pPr>
            <a:lvl6pPr marL="2286000" marR="0" lvl="5"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6pPr>
            <a:lvl7pPr marL="2743200" marR="0" lvl="6"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7pPr>
            <a:lvl8pPr marL="3200400" marR="0" lvl="7"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8pPr>
            <a:lvl9pPr marL="3657600" marR="0" lvl="8"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104761556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 branco">
    <p:spTree>
      <p:nvGrpSpPr>
        <p:cNvPr id="1" name="Shape 45"/>
        <p:cNvGrpSpPr/>
        <p:nvPr/>
      </p:nvGrpSpPr>
      <p:grpSpPr>
        <a:xfrm>
          <a:off x="0" y="0"/>
          <a:ext cx="0" cy="0"/>
          <a:chOff x="0" y="0"/>
          <a:chExt cx="0" cy="0"/>
        </a:xfrm>
      </p:grpSpPr>
      <p:sp>
        <p:nvSpPr>
          <p:cNvPr id="46" name="Shape 4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7" name="Shape 47"/>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8" name="Shape 48"/>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a:solidFill>
                <a:srgbClr val="888888"/>
              </a:solidFill>
              <a:latin typeface="Arial"/>
              <a:ea typeface="Arial"/>
              <a:cs typeface="Arial"/>
              <a:sym typeface="Arial"/>
            </a:endParaRPr>
          </a:p>
        </p:txBody>
      </p:sp>
      <p:sp>
        <p:nvSpPr>
          <p:cNvPr id="49" name="Shape 49"/>
          <p:cNvSpPr txBox="1">
            <a:spLocks noGrp="1"/>
          </p:cNvSpPr>
          <p:nvPr>
            <p:ph type="title"/>
          </p:nvPr>
        </p:nvSpPr>
        <p:spPr>
          <a:xfrm>
            <a:off x="685800" y="1066800"/>
            <a:ext cx="86105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0" name="Shape 50"/>
          <p:cNvSpPr txBox="1">
            <a:spLocks noGrp="1"/>
          </p:cNvSpPr>
          <p:nvPr>
            <p:ph type="body" idx="1"/>
          </p:nvPr>
        </p:nvSpPr>
        <p:spPr>
          <a:xfrm>
            <a:off x="685800" y="1714488"/>
            <a:ext cx="8610599" cy="4572031"/>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800" b="0" i="0" u="none" strike="noStrike" cap="none">
                <a:solidFill>
                  <a:srgbClr val="D8D8D8"/>
                </a:solidFill>
                <a:latin typeface="Calibri"/>
                <a:ea typeface="Calibri"/>
                <a:cs typeface="Calibri"/>
                <a:sym typeface="Calibri"/>
              </a:defRPr>
            </a:lvl3pPr>
            <a:lvl4pPr marL="1600200" marR="0" lvl="3"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4pPr>
            <a:lvl5pPr marL="2057400" marR="0" lvl="4"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09187231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trada">
    <p:spTree>
      <p:nvGrpSpPr>
        <p:cNvPr id="1" name="Shape 51"/>
        <p:cNvGrpSpPr/>
        <p:nvPr/>
      </p:nvGrpSpPr>
      <p:grpSpPr>
        <a:xfrm>
          <a:off x="0" y="0"/>
          <a:ext cx="0" cy="0"/>
          <a:chOff x="0" y="0"/>
          <a:chExt cx="0" cy="0"/>
        </a:xfrm>
      </p:grpSpPr>
      <p:sp>
        <p:nvSpPr>
          <p:cNvPr id="52" name="Shape 5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3" name="Shape 53"/>
          <p:cNvSpPr txBox="1"/>
          <p:nvPr/>
        </p:nvSpPr>
        <p:spPr>
          <a:xfrm flipH="1">
            <a:off x="6764158" y="4953000"/>
            <a:ext cx="182741" cy="374710"/>
          </a:xfrm>
          <a:prstGeom prst="rect">
            <a:avLst/>
          </a:prstGeom>
          <a:solidFill>
            <a:schemeClr val="lt1">
              <a:alpha val="69803"/>
            </a:schemeClr>
          </a:solidFill>
          <a:ln>
            <a:noFill/>
          </a:ln>
        </p:spPr>
        <p:txBody>
          <a:bodyPr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a:buNone/>
            </a:pPr>
            <a:endParaRPr sz="2000" b="0" i="0" u="none" strike="noStrike" cap="none">
              <a:solidFill>
                <a:srgbClr val="00CAEF"/>
              </a:solidFill>
              <a:latin typeface="Arial"/>
              <a:ea typeface="Arial"/>
              <a:cs typeface="Arial"/>
              <a:sym typeface="Arial"/>
            </a:endParaRPr>
          </a:p>
        </p:txBody>
      </p:sp>
    </p:spTree>
    <p:extLst>
      <p:ext uri="{BB962C8B-B14F-4D97-AF65-F5344CB8AC3E}">
        <p14:creationId xmlns:p14="http://schemas.microsoft.com/office/powerpoint/2010/main" val="267651278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entrada">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291598524"/>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squema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65020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17/01/2025</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‹nº›</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2151704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17/01/2025</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‹nº›</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2694208087"/>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92648683"/>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17/01/2025</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‹nº›</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17/01/2025</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‹nº›</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CD0DF30C-F77B-4F2F-9EB1-3B93EBB0DB99}"/>
              </a:ext>
            </a:extLst>
          </p:cNvPr>
          <p:cNvSpPr/>
          <p:nvPr userDrawn="1"/>
        </p:nvSpPr>
        <p:spPr>
          <a:xfrm>
            <a:off x="324908" y="6390861"/>
            <a:ext cx="9214886" cy="467139"/>
          </a:xfrm>
          <a:prstGeom prst="roundRect">
            <a:avLst>
              <a:gd name="adj" fmla="val 6170"/>
            </a:avLst>
          </a:prstGeom>
          <a:solidFill>
            <a:srgbClr val="9A1A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9A1A24"/>
              </a:solidFill>
            </a:endParaRPr>
          </a:p>
        </p:txBody>
      </p:sp>
      <p:sp>
        <p:nvSpPr>
          <p:cNvPr id="10" name="Shape 10"/>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1" name="Shape 11"/>
          <p:cNvSpPr txBox="1">
            <a:spLocks noGrp="1"/>
          </p:cNvSpPr>
          <p:nvPr>
            <p:ph type="ftr" idx="11"/>
          </p:nvPr>
        </p:nvSpPr>
        <p:spPr>
          <a:xfrm>
            <a:off x="1666851" y="6492898"/>
            <a:ext cx="6831106"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1" u="none" strike="noStrike" cap="none">
                <a:solidFill>
                  <a:srgbClr val="888888"/>
                </a:solidFill>
                <a:latin typeface="Kozuka Gothic Pro M" panose="020B0700000000000000" pitchFamily="34" charset="-128"/>
                <a:ea typeface="Kozuka Gothic Pro M" panose="020B0700000000000000" pitchFamily="34" charset="-128"/>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pt-PT" dirty="0"/>
          </a:p>
        </p:txBody>
      </p:sp>
      <p:sp>
        <p:nvSpPr>
          <p:cNvPr id="12" name="Shape 12"/>
          <p:cNvSpPr txBox="1">
            <a:spLocks noGrp="1"/>
          </p:cNvSpPr>
          <p:nvPr>
            <p:ph type="sldNum" idx="12"/>
          </p:nvPr>
        </p:nvSpPr>
        <p:spPr>
          <a:xfrm>
            <a:off x="8632453" y="6492875"/>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‹nº›</a:t>
            </a:fld>
            <a:endParaRPr lang="pt-PT" sz="1200" b="0" i="0" u="none" strike="noStrike" cap="none" dirty="0">
              <a:solidFill>
                <a:srgbClr val="888888"/>
              </a:solidFill>
              <a:latin typeface="Arial"/>
              <a:ea typeface="Arial"/>
              <a:cs typeface="Arial"/>
              <a:sym typeface="Arial"/>
            </a:endParaRPr>
          </a:p>
        </p:txBody>
      </p:sp>
      <p:sp>
        <p:nvSpPr>
          <p:cNvPr id="13" name="Shape 13"/>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pic>
        <p:nvPicPr>
          <p:cNvPr id="15" name="Imagem 14">
            <a:extLst>
              <a:ext uri="{FF2B5EF4-FFF2-40B4-BE49-F238E27FC236}">
                <a16:creationId xmlns:a16="http://schemas.microsoft.com/office/drawing/2014/main" id="{D3441222-7DC4-AAA3-4880-5CB78D81CC04}"/>
              </a:ext>
            </a:extLst>
          </p:cNvPr>
          <p:cNvPicPr>
            <a:picLocks noChangeAspect="1"/>
          </p:cNvPicPr>
          <p:nvPr userDrawn="1"/>
        </p:nvPicPr>
        <p:blipFill>
          <a:blip r:embed="rId18"/>
          <a:stretch>
            <a:fillRect/>
          </a:stretch>
        </p:blipFill>
        <p:spPr>
          <a:xfrm>
            <a:off x="0" y="-10536"/>
            <a:ext cx="9906000" cy="996500"/>
          </a:xfrm>
          <a:prstGeom prst="rect">
            <a:avLst/>
          </a:prstGeom>
        </p:spPr>
      </p:pic>
    </p:spTree>
    <p:extLst>
      <p:ext uri="{BB962C8B-B14F-4D97-AF65-F5344CB8AC3E}">
        <p14:creationId xmlns:p14="http://schemas.microsoft.com/office/powerpoint/2010/main" val="2703164409"/>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52" r:id="rId14"/>
    <p:sldLayoutId id="2147483655" r:id="rId15"/>
    <p:sldLayoutId id="2147483661" r:id="rId16"/>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36CE6F5-8CA7-4383-A151-C2832D6337AE}"/>
              </a:ext>
            </a:extLst>
          </p:cNvPr>
          <p:cNvSpPr txBox="1"/>
          <p:nvPr/>
        </p:nvSpPr>
        <p:spPr>
          <a:xfrm>
            <a:off x="244593" y="4014065"/>
            <a:ext cx="8913440" cy="307777"/>
          </a:xfrm>
          <a:prstGeom prst="rect">
            <a:avLst/>
          </a:prstGeom>
          <a:noFill/>
        </p:spPr>
        <p:txBody>
          <a:bodyPr wrap="square" lIns="91440" tIns="45720" rIns="91440" bIns="45720" rtlCol="0" anchor="t">
            <a:spAutoFit/>
          </a:bodyPr>
          <a:lstStyle/>
          <a:p>
            <a:pPr>
              <a:spcBef>
                <a:spcPct val="20000"/>
              </a:spcBef>
            </a:pPr>
            <a:r>
              <a:rPr lang="pt-PT" sz="1400" dirty="0" err="1"/>
              <a:t>Group</a:t>
            </a:r>
            <a:r>
              <a:rPr lang="pt-PT" sz="1400" dirty="0"/>
              <a:t> </a:t>
            </a:r>
            <a:r>
              <a:rPr lang="pt-PT" sz="1400" dirty="0" err="1"/>
              <a:t>members</a:t>
            </a:r>
            <a:r>
              <a:rPr kumimoji="0" lang="pt-PT" sz="1400" b="0" i="0" u="none" strike="noStrike" kern="1200" cap="none" spc="0" normalizeH="0" baseline="0" noProof="0" dirty="0">
                <a:ln>
                  <a:noFill/>
                </a:ln>
                <a:effectLst/>
                <a:uLnTx/>
                <a:uFillTx/>
                <a:latin typeface="+mn-lt"/>
                <a:ea typeface="+mn-ea"/>
                <a:cs typeface="+mn-cs"/>
              </a:rPr>
              <a:t>:</a:t>
            </a:r>
          </a:p>
        </p:txBody>
      </p:sp>
      <p:sp>
        <p:nvSpPr>
          <p:cNvPr id="3" name="Título 2">
            <a:extLst>
              <a:ext uri="{FF2B5EF4-FFF2-40B4-BE49-F238E27FC236}">
                <a16:creationId xmlns:a16="http://schemas.microsoft.com/office/drawing/2014/main" id="{A20BB2CE-AD20-4EB4-9198-1AB0990B2FB7}"/>
              </a:ext>
            </a:extLst>
          </p:cNvPr>
          <p:cNvSpPr>
            <a:spLocks noGrp="1"/>
          </p:cNvSpPr>
          <p:nvPr>
            <p:ph type="title"/>
          </p:nvPr>
        </p:nvSpPr>
        <p:spPr>
          <a:xfrm>
            <a:off x="632519" y="2924670"/>
            <a:ext cx="8505945" cy="571503"/>
          </a:xfrm>
        </p:spPr>
        <p:txBody>
          <a:bodyPr/>
          <a:lstStyle/>
          <a:p>
            <a:pPr algn="ctr"/>
            <a:r>
              <a:rPr lang="en-US" sz="3200" cap="none" dirty="0">
                <a:solidFill>
                  <a:schemeClr val="tx1"/>
                </a:solidFill>
                <a:latin typeface="+mn-lt"/>
                <a:ea typeface="+mn-ea"/>
                <a:cs typeface="+mn-cs"/>
              </a:rPr>
              <a:t>Class 2D</a:t>
            </a:r>
            <a:r>
              <a:rPr lang="en-US" sz="3200" dirty="0">
                <a:solidFill>
                  <a:schemeClr val="tx1"/>
                </a:solidFill>
                <a:latin typeface="+mn-lt"/>
                <a:ea typeface="+mn-ea"/>
                <a:cs typeface="+mn-cs"/>
              </a:rPr>
              <a:t>O</a:t>
            </a:r>
            <a:r>
              <a:rPr lang="en-US" sz="3200" cap="none" dirty="0">
                <a:solidFill>
                  <a:schemeClr val="tx1"/>
                </a:solidFill>
                <a:latin typeface="+mn-lt"/>
                <a:ea typeface="+mn-ea"/>
                <a:cs typeface="+mn-cs"/>
              </a:rPr>
              <a:t> Group</a:t>
            </a:r>
            <a:r>
              <a:rPr kumimoji="0" lang="en-US" sz="3200" b="0" i="0" u="none" strike="noStrike" kern="1200" cap="none" spc="0" normalizeH="0" baseline="0" noProof="0" dirty="0">
                <a:ln>
                  <a:noFill/>
                </a:ln>
                <a:solidFill>
                  <a:schemeClr val="tx1"/>
                </a:solidFill>
                <a:effectLst/>
                <a:uLnTx/>
                <a:uFillTx/>
                <a:latin typeface="+mn-lt"/>
                <a:ea typeface="+mn-ea"/>
                <a:cs typeface="+mn-cs"/>
              </a:rPr>
              <a:t> </a:t>
            </a:r>
            <a:r>
              <a:rPr lang="en-US" sz="3200" kern="1200" dirty="0">
                <a:solidFill>
                  <a:schemeClr val="tx1"/>
                </a:solidFill>
                <a:latin typeface="+mn-lt"/>
                <a:ea typeface="+mn-ea"/>
                <a:cs typeface="+mn-cs"/>
              </a:rPr>
              <a:t>152</a:t>
            </a:r>
            <a:r>
              <a:rPr kumimoji="0" lang="en-US" sz="3200" b="0" i="0" u="none" strike="noStrike" kern="1200" cap="none" spc="0" normalizeH="0" baseline="0" noProof="0" dirty="0">
                <a:ln>
                  <a:noFill/>
                </a:ln>
                <a:solidFill>
                  <a:schemeClr val="tx1"/>
                </a:solidFill>
                <a:effectLst/>
                <a:uLnTx/>
                <a:uFillTx/>
                <a:latin typeface="+mn-lt"/>
                <a:ea typeface="+mn-ea"/>
                <a:cs typeface="+mn-cs"/>
              </a:rPr>
              <a:t> </a:t>
            </a:r>
            <a:r>
              <a:rPr kumimoji="0" lang="en-US" sz="3200" b="1" i="0" u="none" strike="noStrike" kern="1200" cap="none" spc="0" normalizeH="0" baseline="0" noProof="0" dirty="0">
                <a:ln>
                  <a:noFill/>
                </a:ln>
                <a:solidFill>
                  <a:schemeClr val="tx1"/>
                </a:solidFill>
                <a:effectLst/>
                <a:uLnTx/>
                <a:uFillTx/>
                <a:latin typeface="+mn-lt"/>
                <a:ea typeface="+mn-ea"/>
                <a:cs typeface="+mn-cs"/>
              </a:rPr>
              <a:t>SPRINT 3</a:t>
            </a:r>
            <a:endParaRPr lang="en-US" sz="3200" b="1" dirty="0">
              <a:solidFill>
                <a:schemeClr val="tx1"/>
              </a:solidFill>
            </a:endParaRPr>
          </a:p>
        </p:txBody>
      </p:sp>
      <p:sp>
        <p:nvSpPr>
          <p:cNvPr id="4" name="Título 2">
            <a:extLst>
              <a:ext uri="{FF2B5EF4-FFF2-40B4-BE49-F238E27FC236}">
                <a16:creationId xmlns:a16="http://schemas.microsoft.com/office/drawing/2014/main" id="{DB1D8FD1-20D5-4B6F-506E-F430DA26CEBA}"/>
              </a:ext>
            </a:extLst>
          </p:cNvPr>
          <p:cNvSpPr txBox="1">
            <a:spLocks/>
          </p:cNvSpPr>
          <p:nvPr/>
        </p:nvSpPr>
        <p:spPr>
          <a:xfrm>
            <a:off x="414000" y="2123855"/>
            <a:ext cx="8182338" cy="571503"/>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lgn="ctr"/>
            <a:r>
              <a:rPr lang="en-US" sz="3200" kern="0" dirty="0">
                <a:solidFill>
                  <a:schemeClr val="tx1"/>
                </a:solidFill>
                <a:latin typeface="+mn-lt"/>
                <a:ea typeface="+mn-ea"/>
                <a:cs typeface="+mn-cs"/>
              </a:rPr>
              <a:t>LAPR3 2024_2025</a:t>
            </a:r>
            <a:endParaRPr lang="en-US" sz="3200" kern="0" dirty="0">
              <a:solidFill>
                <a:schemeClr val="tx1"/>
              </a:solidFill>
            </a:endParaRPr>
          </a:p>
        </p:txBody>
      </p:sp>
      <p:graphicFrame>
        <p:nvGraphicFramePr>
          <p:cNvPr id="5" name="Tabela 4">
            <a:extLst>
              <a:ext uri="{FF2B5EF4-FFF2-40B4-BE49-F238E27FC236}">
                <a16:creationId xmlns:a16="http://schemas.microsoft.com/office/drawing/2014/main" id="{A7A502EE-944E-4A2F-52C8-1234A7F9536C}"/>
              </a:ext>
            </a:extLst>
          </p:cNvPr>
          <p:cNvGraphicFramePr>
            <a:graphicFrameLocks noGrp="1"/>
          </p:cNvGraphicFramePr>
          <p:nvPr>
            <p:extLst>
              <p:ext uri="{D42A27DB-BD31-4B8C-83A1-F6EECF244321}">
                <p14:modId xmlns:p14="http://schemas.microsoft.com/office/powerpoint/2010/main" val="4240747388"/>
              </p:ext>
            </p:extLst>
          </p:nvPr>
        </p:nvGraphicFramePr>
        <p:xfrm>
          <a:off x="317484" y="4554125"/>
          <a:ext cx="9228471" cy="2058843"/>
        </p:xfrm>
        <a:graphic>
          <a:graphicData uri="http://schemas.openxmlformats.org/drawingml/2006/table">
            <a:tbl>
              <a:tblPr firstRow="1" bandRow="1">
                <a:tableStyleId>{93296810-A885-4BE3-A3E7-6D5BEEA58F35}</a:tableStyleId>
              </a:tblPr>
              <a:tblGrid>
                <a:gridCol w="1318353">
                  <a:extLst>
                    <a:ext uri="{9D8B030D-6E8A-4147-A177-3AD203B41FA5}">
                      <a16:colId xmlns:a16="http://schemas.microsoft.com/office/drawing/2014/main" val="1786404924"/>
                    </a:ext>
                  </a:extLst>
                </a:gridCol>
                <a:gridCol w="1318353">
                  <a:extLst>
                    <a:ext uri="{9D8B030D-6E8A-4147-A177-3AD203B41FA5}">
                      <a16:colId xmlns:a16="http://schemas.microsoft.com/office/drawing/2014/main" val="3388003712"/>
                    </a:ext>
                  </a:extLst>
                </a:gridCol>
                <a:gridCol w="1318353">
                  <a:extLst>
                    <a:ext uri="{9D8B030D-6E8A-4147-A177-3AD203B41FA5}">
                      <a16:colId xmlns:a16="http://schemas.microsoft.com/office/drawing/2014/main" val="3217887647"/>
                    </a:ext>
                  </a:extLst>
                </a:gridCol>
                <a:gridCol w="1318353">
                  <a:extLst>
                    <a:ext uri="{9D8B030D-6E8A-4147-A177-3AD203B41FA5}">
                      <a16:colId xmlns:a16="http://schemas.microsoft.com/office/drawing/2014/main" val="2465101990"/>
                    </a:ext>
                  </a:extLst>
                </a:gridCol>
                <a:gridCol w="1318353">
                  <a:extLst>
                    <a:ext uri="{9D8B030D-6E8A-4147-A177-3AD203B41FA5}">
                      <a16:colId xmlns:a16="http://schemas.microsoft.com/office/drawing/2014/main" val="4103172087"/>
                    </a:ext>
                  </a:extLst>
                </a:gridCol>
                <a:gridCol w="1318353">
                  <a:extLst>
                    <a:ext uri="{9D8B030D-6E8A-4147-A177-3AD203B41FA5}">
                      <a16:colId xmlns:a16="http://schemas.microsoft.com/office/drawing/2014/main" val="1522812680"/>
                    </a:ext>
                  </a:extLst>
                </a:gridCol>
                <a:gridCol w="1318353">
                  <a:extLst>
                    <a:ext uri="{9D8B030D-6E8A-4147-A177-3AD203B41FA5}">
                      <a16:colId xmlns:a16="http://schemas.microsoft.com/office/drawing/2014/main" val="1554615450"/>
                    </a:ext>
                  </a:extLst>
                </a:gridCol>
              </a:tblGrid>
              <a:tr h="652897">
                <a:tc>
                  <a:txBody>
                    <a:bodyPr/>
                    <a:lstStyle/>
                    <a:p>
                      <a:pPr algn="ctr"/>
                      <a:r>
                        <a:rPr lang="pt-PT" dirty="0"/>
                        <a:t>Bruno Miguel</a:t>
                      </a:r>
                    </a:p>
                    <a:p>
                      <a:pPr algn="ctr"/>
                      <a:r>
                        <a:rPr lang="pt-PT" dirty="0"/>
                        <a:t>(1221514)</a:t>
                      </a:r>
                    </a:p>
                  </a:txBody>
                  <a:tcPr/>
                </a:tc>
                <a:tc>
                  <a:txBody>
                    <a:bodyPr/>
                    <a:lstStyle/>
                    <a:p>
                      <a:pPr algn="ctr"/>
                      <a:r>
                        <a:rPr lang="pt-PT" dirty="0"/>
                        <a:t>Miguel Gonçalves </a:t>
                      </a:r>
                    </a:p>
                    <a:p>
                      <a:pPr algn="ctr"/>
                      <a:r>
                        <a:rPr lang="pt-PT" dirty="0"/>
                        <a:t>(1221119)</a:t>
                      </a:r>
                    </a:p>
                  </a:txBody>
                  <a:tcPr/>
                </a:tc>
                <a:tc>
                  <a:txBody>
                    <a:bodyPr/>
                    <a:lstStyle/>
                    <a:p>
                      <a:pPr algn="ctr"/>
                      <a:r>
                        <a:rPr lang="pt-PT" dirty="0" err="1"/>
                        <a:t>Vitor</a:t>
                      </a:r>
                      <a:r>
                        <a:rPr lang="pt-PT" dirty="0"/>
                        <a:t> Carneiro</a:t>
                      </a:r>
                    </a:p>
                    <a:p>
                      <a:pPr algn="ctr"/>
                      <a:r>
                        <a:rPr lang="pt-PT" dirty="0"/>
                        <a:t>(1240580)</a:t>
                      </a:r>
                    </a:p>
                  </a:txBody>
                  <a:tcPr/>
                </a:tc>
                <a:tc>
                  <a:txBody>
                    <a:bodyPr/>
                    <a:lstStyle/>
                    <a:p>
                      <a:pPr algn="ctr"/>
                      <a:r>
                        <a:rPr lang="pt-PT" dirty="0"/>
                        <a:t>Tomás Teixeira Silva</a:t>
                      </a:r>
                    </a:p>
                    <a:p>
                      <a:pPr algn="ctr"/>
                      <a:r>
                        <a:rPr lang="pt-PT" dirty="0"/>
                        <a:t>(1240590)</a:t>
                      </a:r>
                    </a:p>
                  </a:txBody>
                  <a:tcPr/>
                </a:tc>
                <a:tc>
                  <a:txBody>
                    <a:bodyPr/>
                    <a:lstStyle/>
                    <a:p>
                      <a:pPr algn="ctr"/>
                      <a:r>
                        <a:rPr lang="pt-PT" dirty="0"/>
                        <a:t>Tiago Silva</a:t>
                      </a:r>
                    </a:p>
                    <a:p>
                      <a:pPr algn="ctr"/>
                      <a:r>
                        <a:rPr lang="pt-PT" dirty="0"/>
                        <a:t>(1241707)</a:t>
                      </a:r>
                    </a:p>
                  </a:txBody>
                  <a:tcPr/>
                </a:tc>
                <a:tc>
                  <a:txBody>
                    <a:bodyPr/>
                    <a:lstStyle/>
                    <a:p>
                      <a:pPr algn="ctr"/>
                      <a:r>
                        <a:rPr lang="pt-PT" dirty="0"/>
                        <a:t>Jorge Almeida</a:t>
                      </a:r>
                    </a:p>
                    <a:p>
                      <a:pPr algn="ctr"/>
                      <a:r>
                        <a:rPr lang="pt-PT" dirty="0"/>
                        <a:t>(1220838)</a:t>
                      </a:r>
                    </a:p>
                  </a:txBody>
                  <a:tcPr/>
                </a:tc>
                <a:tc>
                  <a:txBody>
                    <a:bodyPr/>
                    <a:lstStyle/>
                    <a:p>
                      <a:pPr algn="ctr"/>
                      <a:r>
                        <a:rPr lang="pt-PT" dirty="0"/>
                        <a:t>Eduardo Moreira</a:t>
                      </a:r>
                    </a:p>
                    <a:p>
                      <a:pPr algn="ctr"/>
                      <a:r>
                        <a:rPr lang="pt-PT" dirty="0"/>
                        <a:t>(1190546)</a:t>
                      </a:r>
                    </a:p>
                  </a:txBody>
                  <a:tcPr/>
                </a:tc>
                <a:extLst>
                  <a:ext uri="{0D108BD9-81ED-4DB2-BD59-A6C34878D82A}">
                    <a16:rowId xmlns:a16="http://schemas.microsoft.com/office/drawing/2014/main" val="2471333584"/>
                  </a:ext>
                </a:extLst>
              </a:tr>
              <a:tr h="1327323">
                <a:tc>
                  <a:txBody>
                    <a:bodyPr/>
                    <a:lstStyle/>
                    <a:p>
                      <a:pPr algn="ctr"/>
                      <a:endParaRPr lang="pt-PT" dirty="0"/>
                    </a:p>
                    <a:p>
                      <a:pPr algn="ctr"/>
                      <a:endParaRPr lang="pt-PT" dirty="0"/>
                    </a:p>
                    <a:p>
                      <a:pPr algn="ctr"/>
                      <a:endParaRPr lang="pt-PT" dirty="0"/>
                    </a:p>
                  </a:txBody>
                  <a:tcPr>
                    <a:solidFill>
                      <a:schemeClr val="bg1">
                        <a:lumMod val="95000"/>
                      </a:schemeClr>
                    </a:solidFill>
                  </a:tcPr>
                </a:tc>
                <a:tc>
                  <a:txBody>
                    <a:bodyPr/>
                    <a:lstStyle/>
                    <a:p>
                      <a:endParaRPr lang="pt-PT" dirty="0"/>
                    </a:p>
                    <a:p>
                      <a:endParaRPr lang="pt-PT" dirty="0"/>
                    </a:p>
                    <a:p>
                      <a:pPr algn="ctr"/>
                      <a:endParaRPr lang="pt-PT" dirty="0"/>
                    </a:p>
                  </a:txBody>
                  <a:tcPr>
                    <a:solidFill>
                      <a:schemeClr val="bg1">
                        <a:lumMod val="95000"/>
                      </a:schemeClr>
                    </a:solidFill>
                  </a:tcPr>
                </a:tc>
                <a:tc>
                  <a:txBody>
                    <a:bodyPr/>
                    <a:lstStyle/>
                    <a:p>
                      <a:endParaRPr lang="pt-PT" dirty="0"/>
                    </a:p>
                  </a:txBody>
                  <a:tcPr>
                    <a:solidFill>
                      <a:schemeClr val="bg1">
                        <a:lumMod val="95000"/>
                      </a:schemeClr>
                    </a:solidFill>
                  </a:tcPr>
                </a:tc>
                <a:tc>
                  <a:txBody>
                    <a:bodyPr/>
                    <a:lstStyle/>
                    <a:p>
                      <a:endParaRPr lang="pt-PT" dirty="0"/>
                    </a:p>
                  </a:txBody>
                  <a:tcPr>
                    <a:solidFill>
                      <a:schemeClr val="bg1">
                        <a:lumMod val="95000"/>
                      </a:schemeClr>
                    </a:solidFill>
                  </a:tcPr>
                </a:tc>
                <a:tc>
                  <a:txBody>
                    <a:bodyPr/>
                    <a:lstStyle/>
                    <a:p>
                      <a:endParaRPr lang="pt-PT" dirty="0"/>
                    </a:p>
                  </a:txBody>
                  <a:tcPr>
                    <a:solidFill>
                      <a:schemeClr val="bg1">
                        <a:lumMod val="95000"/>
                      </a:schemeClr>
                    </a:solidFill>
                  </a:tcPr>
                </a:tc>
                <a:tc>
                  <a:txBody>
                    <a:bodyPr/>
                    <a:lstStyle/>
                    <a:p>
                      <a:endParaRPr lang="pt-PT" dirty="0"/>
                    </a:p>
                  </a:txBody>
                  <a:tcPr>
                    <a:solidFill>
                      <a:schemeClr val="bg1">
                        <a:lumMod val="95000"/>
                      </a:schemeClr>
                    </a:solidFill>
                  </a:tcPr>
                </a:tc>
                <a:tc>
                  <a:txBody>
                    <a:bodyPr/>
                    <a:lstStyle/>
                    <a:p>
                      <a:endParaRPr lang="pt-PT" dirty="0"/>
                    </a:p>
                  </a:txBody>
                  <a:tcPr>
                    <a:solidFill>
                      <a:schemeClr val="bg1">
                        <a:lumMod val="95000"/>
                      </a:schemeClr>
                    </a:solidFill>
                  </a:tcPr>
                </a:tc>
                <a:extLst>
                  <a:ext uri="{0D108BD9-81ED-4DB2-BD59-A6C34878D82A}">
                    <a16:rowId xmlns:a16="http://schemas.microsoft.com/office/drawing/2014/main" val="4095273831"/>
                  </a:ext>
                </a:extLst>
              </a:tr>
            </a:tbl>
          </a:graphicData>
        </a:graphic>
      </p:graphicFrame>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Sprint planning – Sprint 3</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741036792"/>
              </p:ext>
            </p:extLst>
          </p:nvPr>
        </p:nvGraphicFramePr>
        <p:xfrm>
          <a:off x="1020165" y="2618910"/>
          <a:ext cx="7830870" cy="2743197"/>
        </p:xfrm>
        <a:graphic>
          <a:graphicData uri="http://schemas.openxmlformats.org/drawingml/2006/table">
            <a:tbl>
              <a:tblPr firstRow="1" bandRow="1">
                <a:tableStyleId>{912C8C85-51F0-491E-9774-3900AFEF0FD7}</a:tableStyleId>
              </a:tblPr>
              <a:tblGrid>
                <a:gridCol w="3960440">
                  <a:extLst>
                    <a:ext uri="{9D8B030D-6E8A-4147-A177-3AD203B41FA5}">
                      <a16:colId xmlns:a16="http://schemas.microsoft.com/office/drawing/2014/main" val="3798560086"/>
                    </a:ext>
                  </a:extLst>
                </a:gridCol>
                <a:gridCol w="3870430">
                  <a:extLst>
                    <a:ext uri="{9D8B030D-6E8A-4147-A177-3AD203B41FA5}">
                      <a16:colId xmlns:a16="http://schemas.microsoft.com/office/drawing/2014/main" val="477562216"/>
                    </a:ext>
                  </a:extLst>
                </a:gridCol>
              </a:tblGrid>
              <a:tr h="370840">
                <a:tc>
                  <a:txBody>
                    <a:bodyPr/>
                    <a:lstStyle/>
                    <a:p>
                      <a:r>
                        <a:rPr lang="pt-PT" dirty="0"/>
                        <a:t>SPRINT BACKLOG</a:t>
                      </a:r>
                    </a:p>
                  </a:txBody>
                  <a:tcPr/>
                </a:tc>
                <a:tc>
                  <a:txBody>
                    <a:bodyPr/>
                    <a:lstStyle/>
                    <a:p>
                      <a:endParaRPr lang="pt-PT"/>
                    </a:p>
                  </a:txBody>
                  <a:tcPr/>
                </a:tc>
                <a:extLst>
                  <a:ext uri="{0D108BD9-81ED-4DB2-BD59-A6C34878D82A}">
                    <a16:rowId xmlns:a16="http://schemas.microsoft.com/office/drawing/2014/main" val="3623111211"/>
                  </a:ext>
                </a:extLst>
              </a:tr>
              <a:tr h="370840">
                <a:tc>
                  <a:txBody>
                    <a:bodyPr/>
                    <a:lstStyle/>
                    <a:p>
                      <a:r>
                        <a:rPr lang="en-US" noProof="0" dirty="0"/>
                        <a:t>Number of stories</a:t>
                      </a:r>
                    </a:p>
                  </a:txBody>
                  <a:tcPr/>
                </a:tc>
                <a:tc>
                  <a:txBody>
                    <a:bodyPr/>
                    <a:lstStyle/>
                    <a:p>
                      <a:r>
                        <a:rPr lang="en-US" noProof="0" dirty="0"/>
                        <a:t>                                   24</a:t>
                      </a:r>
                    </a:p>
                  </a:txBody>
                  <a:tcPr/>
                </a:tc>
                <a:extLst>
                  <a:ext uri="{0D108BD9-81ED-4DB2-BD59-A6C34878D82A}">
                    <a16:rowId xmlns:a16="http://schemas.microsoft.com/office/drawing/2014/main" val="883314903"/>
                  </a:ext>
                </a:extLst>
              </a:tr>
              <a:tr h="370840">
                <a:tc>
                  <a:txBody>
                    <a:bodyPr/>
                    <a:lstStyle/>
                    <a:p>
                      <a:r>
                        <a:rPr lang="en-US" noProof="0" dirty="0"/>
                        <a:t>Number of bugs</a:t>
                      </a:r>
                    </a:p>
                  </a:txBody>
                  <a:tcPr/>
                </a:tc>
                <a:tc>
                  <a:txBody>
                    <a:bodyPr/>
                    <a:lstStyle/>
                    <a:p>
                      <a:r>
                        <a:rPr lang="en-US" noProof="0" dirty="0"/>
                        <a:t>                                    0</a:t>
                      </a:r>
                    </a:p>
                  </a:txBody>
                  <a:tcPr/>
                </a:tc>
                <a:extLst>
                  <a:ext uri="{0D108BD9-81ED-4DB2-BD59-A6C34878D82A}">
                    <a16:rowId xmlns:a16="http://schemas.microsoft.com/office/drawing/2014/main" val="428254498"/>
                  </a:ext>
                </a:extLst>
              </a:tr>
              <a:tr h="370839">
                <a:tc>
                  <a:txBody>
                    <a:bodyPr/>
                    <a:lstStyle/>
                    <a:p>
                      <a:pPr lvl="0">
                        <a:buNone/>
                      </a:pPr>
                      <a:r>
                        <a:rPr lang="en-US" noProof="0" dirty="0"/>
                        <a:t>Number of tasks and Sub-Tasks:</a:t>
                      </a:r>
                    </a:p>
                  </a:txBody>
                  <a:tcPr/>
                </a:tc>
                <a:tc>
                  <a:txBody>
                    <a:bodyPr/>
                    <a:lstStyle/>
                    <a:p>
                      <a:pPr lvl="0">
                        <a:buNone/>
                      </a:pPr>
                      <a:r>
                        <a:rPr lang="en-US" noProof="0" dirty="0"/>
                        <a:t>                                   125</a:t>
                      </a:r>
                    </a:p>
                  </a:txBody>
                  <a:tcPr/>
                </a:tc>
                <a:extLst>
                  <a:ext uri="{0D108BD9-81ED-4DB2-BD59-A6C34878D82A}">
                    <a16:rowId xmlns:a16="http://schemas.microsoft.com/office/drawing/2014/main" val="4185709446"/>
                  </a:ext>
                </a:extLst>
              </a:tr>
              <a:tr h="370839">
                <a:tc>
                  <a:txBody>
                    <a:bodyPr/>
                    <a:lstStyle/>
                    <a:p>
                      <a:pPr lvl="0">
                        <a:buNone/>
                      </a:pPr>
                      <a:r>
                        <a:rPr lang="en-US" noProof="0" dirty="0"/>
                        <a:t>Number of Management Tasks (Scrum)</a:t>
                      </a:r>
                    </a:p>
                  </a:txBody>
                  <a:tcPr/>
                </a:tc>
                <a:tc>
                  <a:txBody>
                    <a:bodyPr/>
                    <a:lstStyle/>
                    <a:p>
                      <a:pPr lvl="0">
                        <a:buNone/>
                      </a:pPr>
                      <a:r>
                        <a:rPr lang="en-US" noProof="0" dirty="0"/>
                        <a:t>                                    31</a:t>
                      </a:r>
                    </a:p>
                  </a:txBody>
                  <a:tcPr/>
                </a:tc>
                <a:extLst>
                  <a:ext uri="{0D108BD9-81ED-4DB2-BD59-A6C34878D82A}">
                    <a16:rowId xmlns:a16="http://schemas.microsoft.com/office/drawing/2014/main" val="563517871"/>
                  </a:ext>
                </a:extLst>
              </a:tr>
              <a:tr h="370839">
                <a:tc>
                  <a:txBody>
                    <a:bodyPr/>
                    <a:lstStyle/>
                    <a:p>
                      <a:pPr lvl="0">
                        <a:buNone/>
                      </a:pPr>
                      <a:r>
                        <a:rPr lang="en-US" noProof="0" dirty="0"/>
                        <a:t>Number of team members 7</a:t>
                      </a:r>
                    </a:p>
                  </a:txBody>
                  <a:tcPr/>
                </a:tc>
                <a:tc>
                  <a:txBody>
                    <a:bodyPr/>
                    <a:lstStyle/>
                    <a:p>
                      <a:pPr lvl="0" algn="ctr">
                        <a:buNone/>
                      </a:pPr>
                      <a:r>
                        <a:rPr lang="en-US" noProof="0" dirty="0"/>
                        <a:t>Planned: 7              Actual: 7</a:t>
                      </a:r>
                    </a:p>
                  </a:txBody>
                  <a:tcPr/>
                </a:tc>
                <a:extLst>
                  <a:ext uri="{0D108BD9-81ED-4DB2-BD59-A6C34878D82A}">
                    <a16:rowId xmlns:a16="http://schemas.microsoft.com/office/drawing/2014/main" val="2843102962"/>
                  </a:ext>
                </a:extLst>
              </a:tr>
              <a:tr h="370838">
                <a:tc>
                  <a:txBody>
                    <a:bodyPr/>
                    <a:lstStyle/>
                    <a:p>
                      <a:pPr lvl="0">
                        <a:buNone/>
                      </a:pPr>
                      <a:r>
                        <a:rPr lang="en-US" noProof="0" dirty="0"/>
                        <a:t>Total planned estimation vs execution</a:t>
                      </a:r>
                    </a:p>
                  </a:txBody>
                  <a:tcPr/>
                </a:tc>
                <a:tc>
                  <a:txBody>
                    <a:bodyPr/>
                    <a:lstStyle/>
                    <a:p>
                      <a:pPr lvl="0" algn="ctr">
                        <a:buNone/>
                      </a:pPr>
                      <a:r>
                        <a:rPr lang="en-US" noProof="0" dirty="0"/>
                        <a:t>Planned hours: 80</a:t>
                      </a:r>
                    </a:p>
                    <a:p>
                      <a:pPr lvl="0" algn="ctr">
                        <a:buNone/>
                      </a:pPr>
                      <a:r>
                        <a:rPr lang="en-US" noProof="0" dirty="0"/>
                        <a:t>Executed hours: 101</a:t>
                      </a:r>
                    </a:p>
                  </a:txBody>
                  <a:tcPr/>
                </a:tc>
                <a:extLst>
                  <a:ext uri="{0D108BD9-81ED-4DB2-BD59-A6C34878D82A}">
                    <a16:rowId xmlns:a16="http://schemas.microsoft.com/office/drawing/2014/main" val="4118989459"/>
                  </a:ext>
                </a:extLst>
              </a:tr>
            </a:tbl>
          </a:graphicData>
        </a:graphic>
      </p:graphicFrame>
      <p:sp>
        <p:nvSpPr>
          <p:cNvPr id="7" name="Marcador de Posição de Conteúdo 5">
            <a:extLst>
              <a:ext uri="{FF2B5EF4-FFF2-40B4-BE49-F238E27FC236}">
                <a16:creationId xmlns:a16="http://schemas.microsoft.com/office/drawing/2014/main" id="{6F8BAF59-30E8-4D49-87D9-D5A1CD648639}"/>
              </a:ext>
            </a:extLst>
          </p:cNvPr>
          <p:cNvSpPr txBox="1">
            <a:spLocks/>
          </p:cNvSpPr>
          <p:nvPr/>
        </p:nvSpPr>
        <p:spPr>
          <a:xfrm>
            <a:off x="448800" y="1626520"/>
            <a:ext cx="9043200" cy="710644"/>
          </a:xfrm>
          <a:prstGeom prst="rect">
            <a:avLst/>
          </a:prstGeom>
        </p:spPr>
        <p:txBody>
          <a:bodyPr lIns="91440" tIns="45720" rIns="91440" bIns="45720" anchor="t"/>
          <a:lstStyle>
            <a:lvl1pPr marL="342900" indent="-342900" algn="l" defTabSz="914400" rtl="0" eaLnBrk="1" latinLnBrk="0" hangingPunct="1">
              <a:spcBef>
                <a:spcPts val="0"/>
              </a:spcBef>
              <a:spcAft>
                <a:spcPts val="400"/>
              </a:spcAft>
              <a:buFont typeface="Arial" pitchFamily="34" charset="0"/>
              <a:buChar char="•"/>
              <a:defRPr sz="2000" kern="1200">
                <a:solidFill>
                  <a:schemeClr val="bg1">
                    <a:lumMod val="85000"/>
                  </a:schemeClr>
                </a:solidFill>
                <a:latin typeface="Calibri"/>
                <a:ea typeface="+mn-ea"/>
                <a:cs typeface="Calibri"/>
              </a:defRPr>
            </a:lvl1pPr>
            <a:lvl2pPr marL="742950" indent="-285750" algn="l" defTabSz="914400" rtl="0" eaLnBrk="1" latinLnBrk="0" hangingPunct="1">
              <a:spcBef>
                <a:spcPts val="0"/>
              </a:spcBef>
              <a:spcAft>
                <a:spcPts val="400"/>
              </a:spcAft>
              <a:buFont typeface="Arial" pitchFamily="34" charset="0"/>
              <a:buChar char="–"/>
              <a:defRPr sz="1800" kern="1200">
                <a:solidFill>
                  <a:schemeClr val="bg1">
                    <a:lumMod val="85000"/>
                  </a:schemeClr>
                </a:solidFill>
                <a:latin typeface="Calibri"/>
                <a:ea typeface="+mn-ea"/>
                <a:cs typeface="Calibri"/>
              </a:defRPr>
            </a:lvl2pPr>
            <a:lvl3pPr marL="1143000" indent="-228600" algn="l" defTabSz="914400" rtl="0" eaLnBrk="1" latinLnBrk="0" hangingPunct="1">
              <a:spcBef>
                <a:spcPts val="0"/>
              </a:spcBef>
              <a:spcAft>
                <a:spcPts val="400"/>
              </a:spcAft>
              <a:buFont typeface="Arial" pitchFamily="34" charset="0"/>
              <a:buNone/>
              <a:defRPr sz="1600" kern="1200">
                <a:solidFill>
                  <a:schemeClr val="bg1">
                    <a:lumMod val="85000"/>
                  </a:schemeClr>
                </a:solidFill>
                <a:latin typeface="Calibri"/>
                <a:ea typeface="+mn-ea"/>
                <a:cs typeface="Calibri"/>
              </a:defRPr>
            </a:lvl3pPr>
            <a:lvl4pPr marL="1600200" indent="-228600" algn="l" defTabSz="914400" rtl="0" eaLnBrk="1" latinLnBrk="0" hangingPunct="1">
              <a:spcBef>
                <a:spcPts val="0"/>
              </a:spcBef>
              <a:spcAft>
                <a:spcPts val="400"/>
              </a:spcAft>
              <a:buFont typeface="Arial" pitchFamily="34" charset="0"/>
              <a:buChar char="–"/>
              <a:defRPr sz="1400" kern="1200">
                <a:solidFill>
                  <a:schemeClr val="bg1">
                    <a:lumMod val="85000"/>
                  </a:schemeClr>
                </a:solidFill>
                <a:latin typeface="Calibri"/>
                <a:ea typeface="+mn-ea"/>
                <a:cs typeface="Calibri"/>
              </a:defRPr>
            </a:lvl4pPr>
            <a:lvl5pPr marL="2057400" indent="-228600" algn="l" defTabSz="914400" rtl="0" eaLnBrk="1" latinLnBrk="0" hangingPunct="1">
              <a:spcBef>
                <a:spcPts val="0"/>
              </a:spcBef>
              <a:spcAft>
                <a:spcPts val="400"/>
              </a:spcAft>
              <a:buFont typeface="Arial" pitchFamily="34" charset="0"/>
              <a:buChar char="»"/>
              <a:defRPr sz="1200" kern="1200">
                <a:solidFill>
                  <a:schemeClr val="bg1">
                    <a:lumMod val="85000"/>
                  </a:schemeClr>
                </a:solidFill>
                <a:latin typeface="Calibri"/>
                <a:ea typeface="+mn-ea"/>
                <a:cs typeface="Calibr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solidFill>
                  <a:schemeClr val="tx1"/>
                </a:solidFill>
              </a:rPr>
              <a:t>Planned Start Date: 25/11/2024                            Real Start Date:27/11/2024  </a:t>
            </a:r>
          </a:p>
          <a:p>
            <a:pPr marL="0" indent="0">
              <a:buNone/>
            </a:pPr>
            <a:r>
              <a:rPr lang="en-US" sz="1800" dirty="0">
                <a:solidFill>
                  <a:schemeClr val="tx1"/>
                </a:solidFill>
              </a:rPr>
              <a:t>Planned Finished Date:05/01/2025                       Real Finish Date:05/01/2025</a:t>
            </a:r>
          </a:p>
          <a:p>
            <a:pPr marL="0" indent="0">
              <a:buFont typeface="Arial" pitchFamily="34" charset="0"/>
              <a:buNone/>
            </a:pPr>
            <a:endParaRPr lang="en-US" dirty="0">
              <a:solidFill>
                <a:schemeClr val="tx1"/>
              </a:solidFill>
            </a:endParaRPr>
          </a:p>
        </p:txBody>
      </p:sp>
    </p:spTree>
    <p:extLst>
      <p:ext uri="{BB962C8B-B14F-4D97-AF65-F5344CB8AC3E}">
        <p14:creationId xmlns:p14="http://schemas.microsoft.com/office/powerpoint/2010/main" val="244167943"/>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a:xfrm>
            <a:off x="414000" y="1000108"/>
            <a:ext cx="9219520" cy="571504"/>
          </a:xfrm>
        </p:spPr>
        <p:txBody>
          <a:bodyPr/>
          <a:lstStyle/>
          <a:p>
            <a:r>
              <a:rPr lang="en-US" sz="3200" cap="none">
                <a:solidFill>
                  <a:schemeClr val="tx1"/>
                </a:solidFill>
              </a:rPr>
              <a:t>Sprint planning</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3986087453"/>
              </p:ext>
            </p:extLst>
          </p:nvPr>
        </p:nvGraphicFramePr>
        <p:xfrm>
          <a:off x="414000" y="1673805"/>
          <a:ext cx="9008401" cy="4561827"/>
        </p:xfrm>
        <a:graphic>
          <a:graphicData uri="http://schemas.openxmlformats.org/drawingml/2006/table">
            <a:tbl>
              <a:tblPr firstRow="1" bandRow="1">
                <a:tableStyleId>{912C8C85-51F0-491E-9774-3900AFEF0FD7}</a:tableStyleId>
              </a:tblPr>
              <a:tblGrid>
                <a:gridCol w="1715886">
                  <a:extLst>
                    <a:ext uri="{9D8B030D-6E8A-4147-A177-3AD203B41FA5}">
                      <a16:colId xmlns:a16="http://schemas.microsoft.com/office/drawing/2014/main" val="3798560086"/>
                    </a:ext>
                  </a:extLst>
                </a:gridCol>
                <a:gridCol w="1382241">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Assignment US</a:t>
                      </a:r>
                    </a:p>
                    <a:p>
                      <a:r>
                        <a:rPr lang="en-US" sz="1200" noProof="0" dirty="0"/>
                        <a:t>(as stated on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USBD20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USBD21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dirty="0"/>
                        <a:t>USBD22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dirty="0"/>
                        <a:t>USBD23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USBD24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dirty="0"/>
                        <a:t>USBD25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dirty="0"/>
                        <a:t>USBD26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dirty="0"/>
                        <a:t>USBD27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r>
                        <a:rPr lang="pt-PT" dirty="0"/>
                        <a:t>USBD28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r>
                        <a:rPr lang="pt-PT" dirty="0"/>
                        <a:t>USBD29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417337576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43B00-20D2-D867-46F0-AC67E7F0FD59}"/>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7653FBFF-55B3-A1AD-2771-312AAAB62A1A}"/>
              </a:ext>
            </a:extLst>
          </p:cNvPr>
          <p:cNvSpPr>
            <a:spLocks noGrp="1"/>
          </p:cNvSpPr>
          <p:nvPr>
            <p:ph type="title"/>
          </p:nvPr>
        </p:nvSpPr>
        <p:spPr>
          <a:xfrm>
            <a:off x="414000" y="1000108"/>
            <a:ext cx="9219520" cy="571504"/>
          </a:xfrm>
        </p:spPr>
        <p:txBody>
          <a:bodyPr/>
          <a:lstStyle/>
          <a:p>
            <a:r>
              <a:rPr lang="en-US" sz="3200" cap="none">
                <a:solidFill>
                  <a:schemeClr val="tx1"/>
                </a:solidFill>
              </a:rPr>
              <a:t>Sprint planning</a:t>
            </a:r>
          </a:p>
        </p:txBody>
      </p:sp>
      <p:graphicFrame>
        <p:nvGraphicFramePr>
          <p:cNvPr id="2" name="Tabela 2">
            <a:extLst>
              <a:ext uri="{FF2B5EF4-FFF2-40B4-BE49-F238E27FC236}">
                <a16:creationId xmlns:a16="http://schemas.microsoft.com/office/drawing/2014/main" id="{EEB2A19C-51D2-2D26-B83D-EE8A05927989}"/>
              </a:ext>
            </a:extLst>
          </p:cNvPr>
          <p:cNvGraphicFramePr>
            <a:graphicFrameLocks noGrp="1"/>
          </p:cNvGraphicFramePr>
          <p:nvPr>
            <p:extLst>
              <p:ext uri="{D42A27DB-BD31-4B8C-83A1-F6EECF244321}">
                <p14:modId xmlns:p14="http://schemas.microsoft.com/office/powerpoint/2010/main" val="2636343021"/>
              </p:ext>
            </p:extLst>
          </p:nvPr>
        </p:nvGraphicFramePr>
        <p:xfrm>
          <a:off x="414000" y="1673805"/>
          <a:ext cx="9008401" cy="4561827"/>
        </p:xfrm>
        <a:graphic>
          <a:graphicData uri="http://schemas.openxmlformats.org/drawingml/2006/table">
            <a:tbl>
              <a:tblPr firstRow="1" bandRow="1">
                <a:tableStyleId>{912C8C85-51F0-491E-9774-3900AFEF0FD7}</a:tableStyleId>
              </a:tblPr>
              <a:tblGrid>
                <a:gridCol w="1715886">
                  <a:extLst>
                    <a:ext uri="{9D8B030D-6E8A-4147-A177-3AD203B41FA5}">
                      <a16:colId xmlns:a16="http://schemas.microsoft.com/office/drawing/2014/main" val="3798560086"/>
                    </a:ext>
                  </a:extLst>
                </a:gridCol>
                <a:gridCol w="1382241">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Assignment US</a:t>
                      </a:r>
                    </a:p>
                    <a:p>
                      <a:r>
                        <a:rPr lang="en-US" sz="1200" noProof="0" dirty="0"/>
                        <a:t>(as stated on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USAC11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USAC12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dirty="0"/>
                        <a:t>USAC13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dirty="0"/>
                        <a:t>USAC14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USAC15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dirty="0"/>
                        <a:t>USAC16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r>
                        <a:rPr lang="pt-PT" dirty="0"/>
                        <a:t>USAC17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r>
                        <a:rPr lang="pt-PT" dirty="0"/>
                        <a:t>USAC18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2451808743"/>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F88D0-840C-E6EF-BC25-AD7087B7A92A}"/>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D5963846-C5A5-1CD2-8FA4-8488B84A9602}"/>
              </a:ext>
            </a:extLst>
          </p:cNvPr>
          <p:cNvSpPr>
            <a:spLocks noGrp="1"/>
          </p:cNvSpPr>
          <p:nvPr>
            <p:ph type="title"/>
          </p:nvPr>
        </p:nvSpPr>
        <p:spPr>
          <a:xfrm>
            <a:off x="414000" y="1000108"/>
            <a:ext cx="9219520" cy="571504"/>
          </a:xfrm>
        </p:spPr>
        <p:txBody>
          <a:bodyPr/>
          <a:lstStyle/>
          <a:p>
            <a:r>
              <a:rPr lang="en-US" sz="3200" cap="none">
                <a:solidFill>
                  <a:schemeClr val="tx1"/>
                </a:solidFill>
              </a:rPr>
              <a:t>Sprint planning</a:t>
            </a:r>
          </a:p>
        </p:txBody>
      </p:sp>
      <p:graphicFrame>
        <p:nvGraphicFramePr>
          <p:cNvPr id="2" name="Tabela 2">
            <a:extLst>
              <a:ext uri="{FF2B5EF4-FFF2-40B4-BE49-F238E27FC236}">
                <a16:creationId xmlns:a16="http://schemas.microsoft.com/office/drawing/2014/main" id="{BC303494-18F9-D5FF-D30F-CE856CBA0F65}"/>
              </a:ext>
            </a:extLst>
          </p:cNvPr>
          <p:cNvGraphicFramePr>
            <a:graphicFrameLocks noGrp="1"/>
          </p:cNvGraphicFramePr>
          <p:nvPr>
            <p:extLst>
              <p:ext uri="{D42A27DB-BD31-4B8C-83A1-F6EECF244321}">
                <p14:modId xmlns:p14="http://schemas.microsoft.com/office/powerpoint/2010/main" val="3184754429"/>
              </p:ext>
            </p:extLst>
          </p:nvPr>
        </p:nvGraphicFramePr>
        <p:xfrm>
          <a:off x="414000" y="1673805"/>
          <a:ext cx="9008401" cy="4561827"/>
        </p:xfrm>
        <a:graphic>
          <a:graphicData uri="http://schemas.openxmlformats.org/drawingml/2006/table">
            <a:tbl>
              <a:tblPr firstRow="1" bandRow="1">
                <a:tableStyleId>{912C8C85-51F0-491E-9774-3900AFEF0FD7}</a:tableStyleId>
              </a:tblPr>
              <a:tblGrid>
                <a:gridCol w="1715886">
                  <a:extLst>
                    <a:ext uri="{9D8B030D-6E8A-4147-A177-3AD203B41FA5}">
                      <a16:colId xmlns:a16="http://schemas.microsoft.com/office/drawing/2014/main" val="3798560086"/>
                    </a:ext>
                  </a:extLst>
                </a:gridCol>
                <a:gridCol w="1382241">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Assignment US</a:t>
                      </a:r>
                    </a:p>
                    <a:p>
                      <a:r>
                        <a:rPr lang="en-US" sz="1200" noProof="0" dirty="0"/>
                        <a:t>(as stated on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USEI17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USEI18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dirty="0"/>
                        <a:t>USEI19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dirty="0"/>
                        <a:t>USEI20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USEI22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r>
                        <a:rPr lang="pt-PT" dirty="0"/>
                        <a:t>USFA03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3514780863"/>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48CF1-40E8-17C5-448D-03A0C0021CBB}"/>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1F753661-549A-9B6E-0C9F-98746CB2B09D}"/>
              </a:ext>
            </a:extLst>
          </p:cNvPr>
          <p:cNvSpPr>
            <a:spLocks noGrp="1"/>
          </p:cNvSpPr>
          <p:nvPr>
            <p:ph type="title"/>
          </p:nvPr>
        </p:nvSpPr>
        <p:spPr>
          <a:xfrm>
            <a:off x="414000" y="1000108"/>
            <a:ext cx="9219520" cy="571504"/>
          </a:xfrm>
        </p:spPr>
        <p:txBody>
          <a:bodyPr/>
          <a:lstStyle/>
          <a:p>
            <a:r>
              <a:rPr lang="en-US" sz="3200" cap="none">
                <a:solidFill>
                  <a:schemeClr val="tx1"/>
                </a:solidFill>
              </a:rPr>
              <a:t>Sprint planning</a:t>
            </a:r>
          </a:p>
        </p:txBody>
      </p:sp>
      <p:graphicFrame>
        <p:nvGraphicFramePr>
          <p:cNvPr id="2" name="Tabela 2">
            <a:extLst>
              <a:ext uri="{FF2B5EF4-FFF2-40B4-BE49-F238E27FC236}">
                <a16:creationId xmlns:a16="http://schemas.microsoft.com/office/drawing/2014/main" id="{A14429F0-F50D-12C2-AB9B-F596E380E19E}"/>
              </a:ext>
            </a:extLst>
          </p:cNvPr>
          <p:cNvGraphicFramePr>
            <a:graphicFrameLocks noGrp="1"/>
          </p:cNvGraphicFramePr>
          <p:nvPr>
            <p:extLst>
              <p:ext uri="{D42A27DB-BD31-4B8C-83A1-F6EECF244321}">
                <p14:modId xmlns:p14="http://schemas.microsoft.com/office/powerpoint/2010/main" val="93771331"/>
              </p:ext>
            </p:extLst>
          </p:nvPr>
        </p:nvGraphicFramePr>
        <p:xfrm>
          <a:off x="414000" y="1673805"/>
          <a:ext cx="9008401" cy="4561827"/>
        </p:xfrm>
        <a:graphic>
          <a:graphicData uri="http://schemas.openxmlformats.org/drawingml/2006/table">
            <a:tbl>
              <a:tblPr firstRow="1" bandRow="1">
                <a:tableStyleId>{912C8C85-51F0-491E-9774-3900AFEF0FD7}</a:tableStyleId>
              </a:tblPr>
              <a:tblGrid>
                <a:gridCol w="1715886">
                  <a:extLst>
                    <a:ext uri="{9D8B030D-6E8A-4147-A177-3AD203B41FA5}">
                      <a16:colId xmlns:a16="http://schemas.microsoft.com/office/drawing/2014/main" val="3798560086"/>
                    </a:ext>
                  </a:extLst>
                </a:gridCol>
                <a:gridCol w="1382241">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Assignment US</a:t>
                      </a:r>
                    </a:p>
                    <a:p>
                      <a:r>
                        <a:rPr lang="en-US" sz="1200" noProof="0" dirty="0"/>
                        <a:t>(as stated on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USLP05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USLP06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dirty="0"/>
                        <a:t>USLP07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err="1"/>
                        <a:t>Yes</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dirty="0"/>
                        <a:t>USLP08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09061"/>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301020"/>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7636612"/>
                  </a:ext>
                </a:extLst>
              </a:tr>
              <a:tr h="370838">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82771"/>
                  </a:ext>
                </a:extLst>
              </a:tr>
            </a:tbl>
          </a:graphicData>
        </a:graphic>
      </p:graphicFrame>
    </p:spTree>
    <p:extLst>
      <p:ext uri="{BB962C8B-B14F-4D97-AF65-F5344CB8AC3E}">
        <p14:creationId xmlns:p14="http://schemas.microsoft.com/office/powerpoint/2010/main" val="285572584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dirty="0">
                <a:solidFill>
                  <a:schemeClr val="tx1"/>
                </a:solidFill>
              </a:rPr>
              <a:t>Work </a:t>
            </a:r>
            <a:r>
              <a:rPr lang="pt-PT" sz="3200" cap="none" dirty="0" err="1">
                <a:solidFill>
                  <a:schemeClr val="tx1"/>
                </a:solidFill>
              </a:rPr>
              <a:t>by</a:t>
            </a:r>
            <a:r>
              <a:rPr lang="pt-PT" sz="3200" cap="none" dirty="0">
                <a:solidFill>
                  <a:schemeClr val="tx1"/>
                </a:solidFill>
              </a:rPr>
              <a:t> team </a:t>
            </a:r>
            <a:r>
              <a:rPr lang="pt-PT" sz="3200" cap="none" dirty="0" err="1">
                <a:solidFill>
                  <a:schemeClr val="tx1"/>
                </a:solidFill>
              </a:rPr>
              <a:t>member</a:t>
            </a:r>
            <a:r>
              <a:rPr lang="pt-PT" sz="3200" cap="none" dirty="0">
                <a:solidFill>
                  <a:schemeClr val="tx1"/>
                </a:solidFill>
              </a:rPr>
              <a:t> (Sprint 3)</a:t>
            </a:r>
          </a:p>
        </p:txBody>
      </p:sp>
      <p:graphicFrame>
        <p:nvGraphicFramePr>
          <p:cNvPr id="6" name="Gráfico 5">
            <a:extLst>
              <a:ext uri="{FF2B5EF4-FFF2-40B4-BE49-F238E27FC236}">
                <a16:creationId xmlns:a16="http://schemas.microsoft.com/office/drawing/2014/main" id="{CC0ADD5B-A00D-489E-9390-B75485840C80}"/>
              </a:ext>
            </a:extLst>
          </p:cNvPr>
          <p:cNvGraphicFramePr/>
          <p:nvPr>
            <p:extLst>
              <p:ext uri="{D42A27DB-BD31-4B8C-83A1-F6EECF244321}">
                <p14:modId xmlns:p14="http://schemas.microsoft.com/office/powerpoint/2010/main" val="1194886697"/>
              </p:ext>
            </p:extLst>
          </p:nvPr>
        </p:nvGraphicFramePr>
        <p:xfrm>
          <a:off x="1622630" y="1673805"/>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2576471"/>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D9E13-5B7A-F279-273E-677B6F1F82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238826-294E-44D2-AF23-4BC709C60A0D}"/>
              </a:ext>
            </a:extLst>
          </p:cNvPr>
          <p:cNvSpPr>
            <a:spLocks noGrp="1"/>
          </p:cNvSpPr>
          <p:nvPr>
            <p:ph type="title"/>
          </p:nvPr>
        </p:nvSpPr>
        <p:spPr/>
        <p:txBody>
          <a:bodyPr/>
          <a:lstStyle/>
          <a:p>
            <a:r>
              <a:rPr lang="pt-PT" sz="3200" cap="none" dirty="0">
                <a:solidFill>
                  <a:schemeClr val="tx1"/>
                </a:solidFill>
              </a:rPr>
              <a:t>Work </a:t>
            </a:r>
            <a:r>
              <a:rPr lang="pt-PT" sz="3200" cap="none" dirty="0" err="1">
                <a:solidFill>
                  <a:schemeClr val="tx1"/>
                </a:solidFill>
              </a:rPr>
              <a:t>by</a:t>
            </a:r>
            <a:r>
              <a:rPr lang="pt-PT" sz="3200" cap="none" dirty="0">
                <a:solidFill>
                  <a:schemeClr val="tx1"/>
                </a:solidFill>
              </a:rPr>
              <a:t> team </a:t>
            </a:r>
            <a:r>
              <a:rPr lang="pt-PT" sz="3200" cap="none" dirty="0" err="1">
                <a:solidFill>
                  <a:schemeClr val="tx1"/>
                </a:solidFill>
              </a:rPr>
              <a:t>member</a:t>
            </a:r>
            <a:r>
              <a:rPr lang="pt-PT" sz="3200" cap="none" dirty="0">
                <a:solidFill>
                  <a:schemeClr val="tx1"/>
                </a:solidFill>
              </a:rPr>
              <a:t> (</a:t>
            </a:r>
            <a:r>
              <a:rPr lang="pt-PT" sz="3200" dirty="0" err="1">
                <a:solidFill>
                  <a:schemeClr val="tx1"/>
                </a:solidFill>
              </a:rPr>
              <a:t>All</a:t>
            </a:r>
            <a:r>
              <a:rPr lang="pt-PT" sz="3200" dirty="0">
                <a:solidFill>
                  <a:schemeClr val="tx1"/>
                </a:solidFill>
              </a:rPr>
              <a:t> Sprints</a:t>
            </a:r>
            <a:r>
              <a:rPr lang="pt-PT" sz="3200" cap="none" dirty="0">
                <a:solidFill>
                  <a:schemeClr val="tx1"/>
                </a:solidFill>
              </a:rPr>
              <a:t>)</a:t>
            </a:r>
          </a:p>
        </p:txBody>
      </p:sp>
      <p:graphicFrame>
        <p:nvGraphicFramePr>
          <p:cNvPr id="6" name="Gráfico 5">
            <a:extLst>
              <a:ext uri="{FF2B5EF4-FFF2-40B4-BE49-F238E27FC236}">
                <a16:creationId xmlns:a16="http://schemas.microsoft.com/office/drawing/2014/main" id="{56C248D7-D4A1-92B1-C376-4D2E59F6AC24}"/>
              </a:ext>
            </a:extLst>
          </p:cNvPr>
          <p:cNvGraphicFramePr/>
          <p:nvPr>
            <p:extLst>
              <p:ext uri="{D42A27DB-BD31-4B8C-83A1-F6EECF244321}">
                <p14:modId xmlns:p14="http://schemas.microsoft.com/office/powerpoint/2010/main" val="2314453410"/>
              </p:ext>
            </p:extLst>
          </p:nvPr>
        </p:nvGraphicFramePr>
        <p:xfrm>
          <a:off x="1622630" y="1673805"/>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2985964"/>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dirty="0">
                <a:solidFill>
                  <a:schemeClr val="tx1"/>
                </a:solidFill>
              </a:rPr>
              <a:t>Work </a:t>
            </a:r>
            <a:r>
              <a:rPr lang="pt-PT" sz="3200" cap="none" dirty="0" err="1">
                <a:solidFill>
                  <a:schemeClr val="tx1"/>
                </a:solidFill>
              </a:rPr>
              <a:t>by</a:t>
            </a:r>
            <a:r>
              <a:rPr lang="pt-PT" sz="3200" cap="none" dirty="0">
                <a:solidFill>
                  <a:schemeClr val="tx1"/>
                </a:solidFill>
              </a:rPr>
              <a:t> </a:t>
            </a:r>
            <a:r>
              <a:rPr lang="pt-PT" sz="3200" cap="none" dirty="0" err="1">
                <a:solidFill>
                  <a:schemeClr val="tx1"/>
                </a:solidFill>
              </a:rPr>
              <a:t>type</a:t>
            </a:r>
            <a:endParaRPr lang="pt-PT" sz="3200" cap="none" dirty="0">
              <a:solidFill>
                <a:schemeClr val="tx1"/>
              </a:solidFill>
            </a:endParaRPr>
          </a:p>
        </p:txBody>
      </p:sp>
      <p:graphicFrame>
        <p:nvGraphicFramePr>
          <p:cNvPr id="5" name="Gráfico 4">
            <a:extLst>
              <a:ext uri="{FF2B5EF4-FFF2-40B4-BE49-F238E27FC236}">
                <a16:creationId xmlns:a16="http://schemas.microsoft.com/office/drawing/2014/main" id="{90ED7699-5188-411A-AA61-860BAD3DF6D1}"/>
              </a:ext>
            </a:extLst>
          </p:cNvPr>
          <p:cNvGraphicFramePr/>
          <p:nvPr>
            <p:extLst>
              <p:ext uri="{D42A27DB-BD31-4B8C-83A1-F6EECF244321}">
                <p14:modId xmlns:p14="http://schemas.microsoft.com/office/powerpoint/2010/main" val="3640955701"/>
              </p:ext>
            </p:extLst>
          </p:nvPr>
        </p:nvGraphicFramePr>
        <p:xfrm>
          <a:off x="1487615" y="1898830"/>
          <a:ext cx="6604000" cy="4402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06292261"/>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B96577C-34ED-48A2-A7FD-C6822D87959C}"/>
              </a:ext>
            </a:extLst>
          </p:cNvPr>
          <p:cNvSpPr>
            <a:spLocks noGrp="1"/>
          </p:cNvSpPr>
          <p:nvPr>
            <p:ph type="title"/>
          </p:nvPr>
        </p:nvSpPr>
        <p:spPr/>
        <p:txBody>
          <a:bodyPr/>
          <a:lstStyle/>
          <a:p>
            <a:r>
              <a:rPr lang="pt-PT" sz="3200" cap="none" dirty="0">
                <a:solidFill>
                  <a:schemeClr val="tx1"/>
                </a:solidFill>
              </a:rPr>
              <a:t>Sprint </a:t>
            </a:r>
            <a:r>
              <a:rPr lang="pt-PT" sz="3200" cap="none" dirty="0" err="1">
                <a:solidFill>
                  <a:schemeClr val="tx1"/>
                </a:solidFill>
              </a:rPr>
              <a:t>Burndown</a:t>
            </a:r>
            <a:r>
              <a:rPr lang="pt-PT" sz="3200" cap="none" dirty="0">
                <a:solidFill>
                  <a:schemeClr val="tx1"/>
                </a:solidFill>
              </a:rPr>
              <a:t> </a:t>
            </a:r>
            <a:r>
              <a:rPr lang="pt-PT" sz="3200" cap="none" dirty="0" err="1">
                <a:solidFill>
                  <a:schemeClr val="tx1"/>
                </a:solidFill>
              </a:rPr>
              <a:t>Chart</a:t>
            </a:r>
            <a:endParaRPr lang="pt-PT" sz="3200" cap="none" dirty="0"/>
          </a:p>
        </p:txBody>
      </p:sp>
      <p:graphicFrame>
        <p:nvGraphicFramePr>
          <p:cNvPr id="6" name="Gráfico 5">
            <a:extLst>
              <a:ext uri="{FF2B5EF4-FFF2-40B4-BE49-F238E27FC236}">
                <a16:creationId xmlns:a16="http://schemas.microsoft.com/office/drawing/2014/main" id="{2BF887C0-5DF2-4D41-801D-7439CE2C6EBE}"/>
              </a:ext>
            </a:extLst>
          </p:cNvPr>
          <p:cNvGraphicFramePr/>
          <p:nvPr>
            <p:extLst>
              <p:ext uri="{D42A27DB-BD31-4B8C-83A1-F6EECF244321}">
                <p14:modId xmlns:p14="http://schemas.microsoft.com/office/powerpoint/2010/main" val="1635865675"/>
              </p:ext>
            </p:extLst>
          </p:nvPr>
        </p:nvGraphicFramePr>
        <p:xfrm>
          <a:off x="767535" y="1853825"/>
          <a:ext cx="7487465" cy="40040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34701807"/>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B96577C-34ED-48A2-A7FD-C6822D87959C}"/>
              </a:ext>
            </a:extLst>
          </p:cNvPr>
          <p:cNvSpPr>
            <a:spLocks noGrp="1"/>
          </p:cNvSpPr>
          <p:nvPr>
            <p:ph type="title"/>
          </p:nvPr>
        </p:nvSpPr>
        <p:spPr/>
        <p:txBody>
          <a:bodyPr/>
          <a:lstStyle/>
          <a:p>
            <a:r>
              <a:rPr lang="en-US" sz="3200" dirty="0">
                <a:solidFill>
                  <a:schemeClr val="tx1"/>
                </a:solidFill>
              </a:rPr>
              <a:t>Issues / Assumptions / unanswered questions</a:t>
            </a:r>
          </a:p>
        </p:txBody>
      </p:sp>
      <p:graphicFrame>
        <p:nvGraphicFramePr>
          <p:cNvPr id="3" name="Tabela 2">
            <a:extLst>
              <a:ext uri="{FF2B5EF4-FFF2-40B4-BE49-F238E27FC236}">
                <a16:creationId xmlns:a16="http://schemas.microsoft.com/office/drawing/2014/main" id="{2765780B-B941-BB03-F491-AFEFC4822F45}"/>
              </a:ext>
            </a:extLst>
          </p:cNvPr>
          <p:cNvGraphicFramePr>
            <a:graphicFrameLocks noGrp="1"/>
          </p:cNvGraphicFramePr>
          <p:nvPr>
            <p:extLst>
              <p:ext uri="{D42A27DB-BD31-4B8C-83A1-F6EECF244321}">
                <p14:modId xmlns:p14="http://schemas.microsoft.com/office/powerpoint/2010/main" val="384576266"/>
              </p:ext>
            </p:extLst>
          </p:nvPr>
        </p:nvGraphicFramePr>
        <p:xfrm>
          <a:off x="414000" y="1673805"/>
          <a:ext cx="9129510" cy="5263030"/>
        </p:xfrm>
        <a:graphic>
          <a:graphicData uri="http://schemas.openxmlformats.org/drawingml/2006/table">
            <a:tbl>
              <a:tblPr firstRow="1" bandRow="1">
                <a:tableStyleId>{912C8C85-51F0-491E-9774-3900AFEF0FD7}</a:tableStyleId>
              </a:tblPr>
              <a:tblGrid>
                <a:gridCol w="4133955">
                  <a:extLst>
                    <a:ext uri="{9D8B030D-6E8A-4147-A177-3AD203B41FA5}">
                      <a16:colId xmlns:a16="http://schemas.microsoft.com/office/drawing/2014/main" val="3798560086"/>
                    </a:ext>
                  </a:extLst>
                </a:gridCol>
                <a:gridCol w="1575175">
                  <a:extLst>
                    <a:ext uri="{9D8B030D-6E8A-4147-A177-3AD203B41FA5}">
                      <a16:colId xmlns:a16="http://schemas.microsoft.com/office/drawing/2014/main" val="477562216"/>
                    </a:ext>
                  </a:extLst>
                </a:gridCol>
                <a:gridCol w="1530170">
                  <a:extLst>
                    <a:ext uri="{9D8B030D-6E8A-4147-A177-3AD203B41FA5}">
                      <a16:colId xmlns:a16="http://schemas.microsoft.com/office/drawing/2014/main" val="1777303491"/>
                    </a:ext>
                  </a:extLst>
                </a:gridCol>
                <a:gridCol w="1890210">
                  <a:extLst>
                    <a:ext uri="{9D8B030D-6E8A-4147-A177-3AD203B41FA5}">
                      <a16:colId xmlns:a16="http://schemas.microsoft.com/office/drawing/2014/main" val="2634392098"/>
                    </a:ext>
                  </a:extLst>
                </a:gridCol>
              </a:tblGrid>
              <a:tr h="630070">
                <a:tc>
                  <a:txBody>
                    <a:bodyPr/>
                    <a:lstStyle/>
                    <a:p>
                      <a:r>
                        <a:rPr lang="en-US" sz="1200" b="1" i="0" u="none" strike="noStrike" cap="none" noProof="0" dirty="0">
                          <a:solidFill>
                            <a:schemeClr val="bg1"/>
                          </a:solidFill>
                          <a:latin typeface="+mn-lt"/>
                          <a:ea typeface="+mn-ea"/>
                          <a:cs typeface="+mn-cs"/>
                          <a:sym typeface="Aria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Responsible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Date / sprint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Related issue / </a:t>
                      </a:r>
                    </a:p>
                    <a:p>
                      <a:pPr algn="ctr"/>
                      <a:r>
                        <a:rPr lang="en-US" noProof="0" dirty="0"/>
                        <a:t>item in 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934305">
                <a:tc>
                  <a:txBody>
                    <a:bodyPr/>
                    <a:lstStyle/>
                    <a:p>
                      <a:r>
                        <a:rPr lang="pt-PT" dirty="0" err="1"/>
                        <a:t>We</a:t>
                      </a:r>
                      <a:r>
                        <a:rPr lang="pt-PT" dirty="0"/>
                        <a:t> </a:t>
                      </a:r>
                      <a:r>
                        <a:rPr lang="pt-PT" dirty="0" err="1"/>
                        <a:t>didn’t</a:t>
                      </a:r>
                      <a:r>
                        <a:rPr lang="pt-PT" dirty="0"/>
                        <a:t> </a:t>
                      </a:r>
                      <a:r>
                        <a:rPr lang="pt-PT" dirty="0" err="1"/>
                        <a:t>find</a:t>
                      </a:r>
                      <a:r>
                        <a:rPr lang="pt-PT" dirty="0"/>
                        <a:t> a </a:t>
                      </a:r>
                      <a:r>
                        <a:rPr lang="pt-PT" dirty="0" err="1"/>
                        <a:t>way</a:t>
                      </a:r>
                      <a:r>
                        <a:rPr lang="pt-PT" dirty="0"/>
                        <a:t> to </a:t>
                      </a:r>
                      <a:r>
                        <a:rPr lang="pt-PT" dirty="0" err="1"/>
                        <a:t>make</a:t>
                      </a:r>
                      <a:r>
                        <a:rPr lang="pt-PT" dirty="0"/>
                        <a:t> </a:t>
                      </a:r>
                      <a:r>
                        <a:rPr lang="pt-PT" dirty="0" err="1"/>
                        <a:t>the</a:t>
                      </a:r>
                      <a:r>
                        <a:rPr lang="pt-PT" dirty="0"/>
                        <a:t> </a:t>
                      </a:r>
                      <a:r>
                        <a:rPr lang="pt-PT" dirty="0" err="1"/>
                        <a:t>Raspberry</a:t>
                      </a:r>
                      <a:r>
                        <a:rPr lang="pt-PT" dirty="0"/>
                        <a:t> Pie </a:t>
                      </a:r>
                      <a:r>
                        <a:rPr lang="pt-PT" dirty="0" err="1"/>
                        <a:t>connect</a:t>
                      </a:r>
                      <a:r>
                        <a:rPr lang="pt-PT" dirty="0"/>
                        <a:t> </a:t>
                      </a:r>
                      <a:r>
                        <a:rPr lang="pt-PT" dirty="0" err="1"/>
                        <a:t>with</a:t>
                      </a:r>
                      <a:r>
                        <a:rPr lang="pt-PT" dirty="0"/>
                        <a:t> </a:t>
                      </a:r>
                      <a:r>
                        <a:rPr lang="pt-PT" dirty="0" err="1"/>
                        <a:t>our</a:t>
                      </a:r>
                      <a:r>
                        <a:rPr lang="pt-PT" dirty="0"/>
                        <a:t> </a:t>
                      </a:r>
                      <a:r>
                        <a:rPr lang="pt-PT" dirty="0" err="1"/>
                        <a:t>personal</a:t>
                      </a:r>
                      <a:r>
                        <a:rPr lang="pt-PT" dirty="0"/>
                        <a:t> </a:t>
                      </a:r>
                      <a:r>
                        <a:rPr lang="pt-PT" dirty="0" err="1"/>
                        <a:t>computers</a:t>
                      </a:r>
                      <a:r>
                        <a:rPr lang="pt-PT" dirty="0"/>
                        <a:t>, for </a:t>
                      </a:r>
                      <a:r>
                        <a:rPr lang="pt-PT" dirty="0" err="1"/>
                        <a:t>wich</a:t>
                      </a:r>
                      <a:r>
                        <a:rPr lang="pt-PT" dirty="0"/>
                        <a:t> </a:t>
                      </a:r>
                      <a:r>
                        <a:rPr lang="pt-PT" dirty="0" err="1"/>
                        <a:t>we</a:t>
                      </a:r>
                      <a:r>
                        <a:rPr lang="pt-PT" dirty="0"/>
                        <a:t> </a:t>
                      </a:r>
                      <a:r>
                        <a:rPr lang="pt-PT" dirty="0" err="1"/>
                        <a:t>had</a:t>
                      </a:r>
                      <a:r>
                        <a:rPr lang="pt-PT" dirty="0"/>
                        <a:t> to </a:t>
                      </a:r>
                      <a:r>
                        <a:rPr lang="pt-PT" dirty="0" err="1"/>
                        <a:t>simulate</a:t>
                      </a:r>
                      <a:r>
                        <a:rPr lang="pt-PT" dirty="0"/>
                        <a:t> </a:t>
                      </a:r>
                      <a:r>
                        <a:rPr lang="pt-PT" dirty="0" err="1"/>
                        <a:t>the</a:t>
                      </a:r>
                      <a:r>
                        <a:rPr lang="pt-PT" dirty="0"/>
                        <a:t> </a:t>
                      </a:r>
                      <a:r>
                        <a:rPr lang="pt-PT" dirty="0" err="1"/>
                        <a:t>machine</a:t>
                      </a:r>
                      <a:r>
                        <a:rPr lang="pt-PT" dirty="0"/>
                        <a:t> </a:t>
                      </a:r>
                      <a:r>
                        <a:rPr lang="pt-PT" dirty="0" err="1"/>
                        <a:t>another</a:t>
                      </a:r>
                      <a:r>
                        <a:rPr lang="pt-PT" dirty="0"/>
                        <a:t> </a:t>
                      </a:r>
                      <a:r>
                        <a:rPr lang="pt-PT" dirty="0" err="1"/>
                        <a:t>way</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err="1"/>
                        <a:t>Members</a:t>
                      </a:r>
                      <a:r>
                        <a:rPr lang="pt-PT" dirty="0"/>
                        <a:t> ARQCP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Sprint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USAC15 – </a:t>
                      </a:r>
                      <a:r>
                        <a:rPr lang="pt-PT" dirty="0" err="1"/>
                        <a:t>Assign</a:t>
                      </a:r>
                      <a:r>
                        <a:rPr lang="pt-PT" dirty="0"/>
                        <a:t> na </a:t>
                      </a:r>
                      <a:r>
                        <a:rPr lang="pt-PT" dirty="0" err="1"/>
                        <a:t>Operatin</a:t>
                      </a:r>
                      <a:r>
                        <a:rPr lang="pt-PT" dirty="0"/>
                        <a:t> to a </a:t>
                      </a:r>
                      <a:r>
                        <a:rPr lang="pt-PT" dirty="0" err="1"/>
                        <a:t>Machine</a:t>
                      </a:r>
                      <a:r>
                        <a:rPr lang="pt-PT" dirty="0"/>
                        <a:t> </a:t>
                      </a:r>
                      <a:r>
                        <a:rPr lang="pt-PT" dirty="0" err="1"/>
                        <a:t>on</a:t>
                      </a:r>
                      <a:r>
                        <a:rPr lang="pt-PT" dirty="0"/>
                        <a:t> </a:t>
                      </a:r>
                      <a:r>
                        <a:rPr lang="pt-PT" dirty="0" err="1"/>
                        <a:t>the</a:t>
                      </a:r>
                      <a:r>
                        <a:rPr lang="pt-PT" dirty="0"/>
                        <a:t> </a:t>
                      </a:r>
                      <a:r>
                        <a:rPr lang="pt-PT" dirty="0" err="1"/>
                        <a:t>Plant</a:t>
                      </a:r>
                      <a:r>
                        <a:rPr lang="pt-PT" dirty="0"/>
                        <a:t> </a:t>
                      </a:r>
                      <a:r>
                        <a:rPr lang="pt-PT" dirty="0" err="1"/>
                        <a:t>Floor</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endParaRPr lang="pt-PT" dirty="0"/>
                    </a:p>
                    <a:p>
                      <a:r>
                        <a:rPr lang="en-US" dirty="0"/>
                        <a:t>The issue was mainly due to a lack of time, as he was supposed to complete USLP 5, which involved creating the database, but he initially set it up locally instead of using the ISEP server, preventing shared access.</a:t>
                      </a:r>
                      <a:endParaRPr lang="pt-PT" dirty="0"/>
                    </a:p>
                    <a:p>
                      <a:endParaRPr lang="pt-PT" dirty="0"/>
                    </a:p>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Bruno Silva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PT" dirty="0"/>
                        <a:t>       Sprint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PT" dirty="0"/>
                        <a:t>USPL06 </a:t>
                      </a:r>
                      <a:r>
                        <a:rPr lang="pt-PT" dirty="0" err="1"/>
                        <a:t>and</a:t>
                      </a:r>
                      <a:r>
                        <a:rPr lang="pt-PT" dirty="0"/>
                        <a:t> USPL08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endParaRPr lang="pt-PT" dirty="0"/>
                    </a:p>
                    <a:p>
                      <a:pPr lvl="0">
                        <a:buNone/>
                      </a:pPr>
                      <a:endParaRPr lang="pt-PT" dirty="0"/>
                    </a:p>
                    <a:p>
                      <a:pPr lvl="0">
                        <a:buNone/>
                      </a:pPr>
                      <a:endParaRPr lang="pt-PT" dirty="0"/>
                    </a:p>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endParaRPr lang="pt-PT" dirty="0"/>
                    </a:p>
                    <a:p>
                      <a:pPr lvl="0">
                        <a:buNone/>
                      </a:pPr>
                      <a:endParaRPr lang="pt-PT" dirty="0"/>
                    </a:p>
                    <a:p>
                      <a:pPr lvl="0">
                        <a:buNone/>
                      </a:pPr>
                      <a:endParaRPr lang="pt-PT" dirty="0"/>
                    </a:p>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bl>
          </a:graphicData>
        </a:graphic>
      </p:graphicFrame>
    </p:spTree>
    <p:extLst>
      <p:ext uri="{BB962C8B-B14F-4D97-AF65-F5344CB8AC3E}">
        <p14:creationId xmlns:p14="http://schemas.microsoft.com/office/powerpoint/2010/main" val="3745336153"/>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29E7-3FFD-D203-2288-6373118FC011}"/>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4485DCF-CD7D-9487-0175-274A08E056DE}"/>
              </a:ext>
            </a:extLst>
          </p:cNvPr>
          <p:cNvSpPr>
            <a:spLocks noGrp="1"/>
          </p:cNvSpPr>
          <p:nvPr>
            <p:ph type="title"/>
          </p:nvPr>
        </p:nvSpPr>
        <p:spPr/>
        <p:txBody>
          <a:bodyPr/>
          <a:lstStyle/>
          <a:p>
            <a:r>
              <a:rPr lang="en-US" sz="3200" cap="none" dirty="0">
                <a:solidFill>
                  <a:schemeClr val="tx1"/>
                </a:solidFill>
              </a:rPr>
              <a:t>Daily Meetings (Sprint 3)</a:t>
            </a:r>
            <a:endParaRPr lang="en-US" sz="3200" cap="none" dirty="0"/>
          </a:p>
        </p:txBody>
      </p:sp>
      <p:sp>
        <p:nvSpPr>
          <p:cNvPr id="2" name="Título 4">
            <a:extLst>
              <a:ext uri="{FF2B5EF4-FFF2-40B4-BE49-F238E27FC236}">
                <a16:creationId xmlns:a16="http://schemas.microsoft.com/office/drawing/2014/main" id="{6298545B-B353-4200-A812-3BB5E336033D}"/>
              </a:ext>
            </a:extLst>
          </p:cNvPr>
          <p:cNvSpPr txBox="1">
            <a:spLocks/>
          </p:cNvSpPr>
          <p:nvPr/>
        </p:nvSpPr>
        <p:spPr>
          <a:xfrm>
            <a:off x="431400" y="1571611"/>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graphicFrame>
        <p:nvGraphicFramePr>
          <p:cNvPr id="3" name="Tabela 2">
            <a:extLst>
              <a:ext uri="{FF2B5EF4-FFF2-40B4-BE49-F238E27FC236}">
                <a16:creationId xmlns:a16="http://schemas.microsoft.com/office/drawing/2014/main" id="{9A760796-9F6B-C0FD-165B-0762CD07EBDE}"/>
              </a:ext>
            </a:extLst>
          </p:cNvPr>
          <p:cNvGraphicFramePr>
            <a:graphicFrameLocks noGrp="1"/>
          </p:cNvGraphicFramePr>
          <p:nvPr>
            <p:extLst>
              <p:ext uri="{D42A27DB-BD31-4B8C-83A1-F6EECF244321}">
                <p14:modId xmlns:p14="http://schemas.microsoft.com/office/powerpoint/2010/main" val="3540837386"/>
              </p:ext>
            </p:extLst>
          </p:nvPr>
        </p:nvGraphicFramePr>
        <p:xfrm>
          <a:off x="414000" y="1673805"/>
          <a:ext cx="9129510" cy="4788510"/>
        </p:xfrm>
        <a:graphic>
          <a:graphicData uri="http://schemas.openxmlformats.org/drawingml/2006/table">
            <a:tbl>
              <a:tblPr firstRow="1" bandRow="1">
                <a:tableStyleId>{912C8C85-51F0-491E-9774-3900AFEF0FD7}</a:tableStyleId>
              </a:tblPr>
              <a:tblGrid>
                <a:gridCol w="1703685">
                  <a:extLst>
                    <a:ext uri="{9D8B030D-6E8A-4147-A177-3AD203B41FA5}">
                      <a16:colId xmlns:a16="http://schemas.microsoft.com/office/drawing/2014/main" val="3798560086"/>
                    </a:ext>
                  </a:extLst>
                </a:gridCol>
                <a:gridCol w="1575175">
                  <a:extLst>
                    <a:ext uri="{9D8B030D-6E8A-4147-A177-3AD203B41FA5}">
                      <a16:colId xmlns:a16="http://schemas.microsoft.com/office/drawing/2014/main" val="477562216"/>
                    </a:ext>
                  </a:extLst>
                </a:gridCol>
                <a:gridCol w="1080120">
                  <a:extLst>
                    <a:ext uri="{9D8B030D-6E8A-4147-A177-3AD203B41FA5}">
                      <a16:colId xmlns:a16="http://schemas.microsoft.com/office/drawing/2014/main" val="1777303491"/>
                    </a:ext>
                  </a:extLst>
                </a:gridCol>
                <a:gridCol w="1215135">
                  <a:extLst>
                    <a:ext uri="{9D8B030D-6E8A-4147-A177-3AD203B41FA5}">
                      <a16:colId xmlns:a16="http://schemas.microsoft.com/office/drawing/2014/main" val="4055970072"/>
                    </a:ext>
                  </a:extLst>
                </a:gridCol>
                <a:gridCol w="1170130">
                  <a:extLst>
                    <a:ext uri="{9D8B030D-6E8A-4147-A177-3AD203B41FA5}">
                      <a16:colId xmlns:a16="http://schemas.microsoft.com/office/drawing/2014/main" val="2634392098"/>
                    </a:ext>
                  </a:extLst>
                </a:gridCol>
                <a:gridCol w="1215135">
                  <a:extLst>
                    <a:ext uri="{9D8B030D-6E8A-4147-A177-3AD203B41FA5}">
                      <a16:colId xmlns:a16="http://schemas.microsoft.com/office/drawing/2014/main" val="3954452917"/>
                    </a:ext>
                  </a:extLst>
                </a:gridCol>
                <a:gridCol w="1170130">
                  <a:extLst>
                    <a:ext uri="{9D8B030D-6E8A-4147-A177-3AD203B41FA5}">
                      <a16:colId xmlns:a16="http://schemas.microsoft.com/office/drawing/2014/main" val="1328943202"/>
                    </a:ext>
                  </a:extLst>
                </a:gridCol>
              </a:tblGrid>
              <a:tr h="630070">
                <a:tc>
                  <a:txBody>
                    <a:bodyPr/>
                    <a:lstStyle/>
                    <a:p>
                      <a:r>
                        <a:rPr lang="en-US" sz="1200" noProof="0" dirty="0"/>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sz="1200" noProof="0" dirty="0"/>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Bruno Miguel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Miguel Gonçalves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Vitor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Tiago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Tomas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450050">
                <a:tc>
                  <a:txBody>
                    <a:bodyPr/>
                    <a:lstStyle/>
                    <a:p>
                      <a:r>
                        <a:rPr lang="pt-PT" dirty="0"/>
                        <a:t>26-11-2024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(online)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39">
                <a:tc>
                  <a:txBody>
                    <a:bodyPr/>
                    <a:lstStyle/>
                    <a:p>
                      <a:pPr lvl="0">
                        <a:buNone/>
                      </a:pPr>
                      <a:r>
                        <a:rPr lang="pt-PT" dirty="0"/>
                        <a:t>27-11-2024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lvl="0">
                        <a:buNone/>
                      </a:pPr>
                      <a:r>
                        <a:rPr lang="pt-PT" dirty="0"/>
                        <a:t>28-11-2024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70839">
                <a:tc>
                  <a:txBody>
                    <a:bodyPr/>
                    <a:lstStyle/>
                    <a:p>
                      <a:pPr lvl="0">
                        <a:buNone/>
                      </a:pPr>
                      <a:r>
                        <a:rPr lang="pt-PT" dirty="0"/>
                        <a:t>29-11-2024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48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70839">
                <a:tc>
                  <a:txBody>
                    <a:bodyPr/>
                    <a:lstStyle/>
                    <a:p>
                      <a:pPr lvl="0">
                        <a:buNone/>
                      </a:pPr>
                      <a:r>
                        <a:rPr lang="pt-PT" dirty="0"/>
                        <a:t>03-12-2024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28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70839">
                <a:tc>
                  <a:txBody>
                    <a:bodyPr/>
                    <a:lstStyle/>
                    <a:p>
                      <a:pPr lvl="0">
                        <a:buNone/>
                      </a:pPr>
                      <a:r>
                        <a:rPr lang="pt-PT" dirty="0"/>
                        <a:t>04-12-2024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26 min.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r h="370839">
                <a:tc>
                  <a:txBody>
                    <a:bodyPr/>
                    <a:lstStyle/>
                    <a:p>
                      <a:pPr lvl="0">
                        <a:buNone/>
                      </a:pPr>
                      <a:r>
                        <a:rPr lang="pt-PT" dirty="0"/>
                        <a:t>05-12-2024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55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213997"/>
                  </a:ext>
                </a:extLst>
              </a:tr>
              <a:tr h="370839">
                <a:tc>
                  <a:txBody>
                    <a:bodyPr/>
                    <a:lstStyle/>
                    <a:p>
                      <a:pPr lvl="0">
                        <a:buNone/>
                      </a:pPr>
                      <a:r>
                        <a:rPr lang="pt-PT" dirty="0"/>
                        <a:t>06-12-2024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19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893408"/>
                  </a:ext>
                </a:extLst>
              </a:tr>
              <a:tr h="370839">
                <a:tc>
                  <a:txBody>
                    <a:bodyPr/>
                    <a:lstStyle/>
                    <a:p>
                      <a:pPr lvl="0">
                        <a:buNone/>
                      </a:pPr>
                      <a:r>
                        <a:rPr lang="pt-PT" dirty="0"/>
                        <a:t>10-12-2024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(online) 48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11371"/>
                  </a:ext>
                </a:extLst>
              </a:tr>
              <a:tr h="370839">
                <a:tc>
                  <a:txBody>
                    <a:bodyPr/>
                    <a:lstStyle/>
                    <a:p>
                      <a:pPr lvl="0">
                        <a:buNone/>
                      </a:pPr>
                      <a:r>
                        <a:rPr lang="pt-PT" dirty="0"/>
                        <a:t>11-12-2024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(online) 34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07302"/>
                  </a:ext>
                </a:extLst>
              </a:tr>
              <a:tr h="370839">
                <a:tc>
                  <a:txBody>
                    <a:bodyPr/>
                    <a:lstStyle/>
                    <a:p>
                      <a:pPr lvl="0">
                        <a:buNone/>
                      </a:pPr>
                      <a:r>
                        <a:rPr lang="pt-PT" dirty="0"/>
                        <a:t>12-12-2024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20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151432"/>
                  </a:ext>
                </a:extLst>
              </a:tr>
            </a:tbl>
          </a:graphicData>
        </a:graphic>
      </p:graphicFrame>
    </p:spTree>
    <p:extLst>
      <p:ext uri="{BB962C8B-B14F-4D97-AF65-F5344CB8AC3E}">
        <p14:creationId xmlns:p14="http://schemas.microsoft.com/office/powerpoint/2010/main" val="1272851376"/>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6E22C-368F-9E9F-B70F-474F0AB6F17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516667A3-B222-1286-7DB1-25724933E723}"/>
              </a:ext>
            </a:extLst>
          </p:cNvPr>
          <p:cNvSpPr>
            <a:spLocks noGrp="1"/>
          </p:cNvSpPr>
          <p:nvPr>
            <p:ph type="title"/>
          </p:nvPr>
        </p:nvSpPr>
        <p:spPr/>
        <p:txBody>
          <a:bodyPr/>
          <a:lstStyle/>
          <a:p>
            <a:r>
              <a:rPr lang="en-US" sz="3200" cap="none" dirty="0">
                <a:solidFill>
                  <a:schemeClr val="tx1"/>
                </a:solidFill>
              </a:rPr>
              <a:t>Daily Meetings (Sprint 3)</a:t>
            </a:r>
            <a:endParaRPr lang="en-US" sz="3200" cap="none" dirty="0"/>
          </a:p>
        </p:txBody>
      </p:sp>
      <p:sp>
        <p:nvSpPr>
          <p:cNvPr id="2" name="Título 4">
            <a:extLst>
              <a:ext uri="{FF2B5EF4-FFF2-40B4-BE49-F238E27FC236}">
                <a16:creationId xmlns:a16="http://schemas.microsoft.com/office/drawing/2014/main" id="{E4E68E92-C78D-B05F-E5C6-20BF43AAD600}"/>
              </a:ext>
            </a:extLst>
          </p:cNvPr>
          <p:cNvSpPr txBox="1">
            <a:spLocks/>
          </p:cNvSpPr>
          <p:nvPr/>
        </p:nvSpPr>
        <p:spPr>
          <a:xfrm>
            <a:off x="431400" y="1571611"/>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graphicFrame>
        <p:nvGraphicFramePr>
          <p:cNvPr id="3" name="Tabela 2">
            <a:extLst>
              <a:ext uri="{FF2B5EF4-FFF2-40B4-BE49-F238E27FC236}">
                <a16:creationId xmlns:a16="http://schemas.microsoft.com/office/drawing/2014/main" id="{43B68126-25E1-AF7B-5088-AC10B3F1A2DC}"/>
              </a:ext>
            </a:extLst>
          </p:cNvPr>
          <p:cNvGraphicFramePr>
            <a:graphicFrameLocks noGrp="1"/>
          </p:cNvGraphicFramePr>
          <p:nvPr>
            <p:extLst>
              <p:ext uri="{D42A27DB-BD31-4B8C-83A1-F6EECF244321}">
                <p14:modId xmlns:p14="http://schemas.microsoft.com/office/powerpoint/2010/main" val="921682269"/>
              </p:ext>
            </p:extLst>
          </p:nvPr>
        </p:nvGraphicFramePr>
        <p:xfrm>
          <a:off x="414000" y="1673805"/>
          <a:ext cx="9129510" cy="4788510"/>
        </p:xfrm>
        <a:graphic>
          <a:graphicData uri="http://schemas.openxmlformats.org/drawingml/2006/table">
            <a:tbl>
              <a:tblPr firstRow="1" bandRow="1">
                <a:tableStyleId>{912C8C85-51F0-491E-9774-3900AFEF0FD7}</a:tableStyleId>
              </a:tblPr>
              <a:tblGrid>
                <a:gridCol w="1703685">
                  <a:extLst>
                    <a:ext uri="{9D8B030D-6E8A-4147-A177-3AD203B41FA5}">
                      <a16:colId xmlns:a16="http://schemas.microsoft.com/office/drawing/2014/main" val="3798560086"/>
                    </a:ext>
                  </a:extLst>
                </a:gridCol>
                <a:gridCol w="1575175">
                  <a:extLst>
                    <a:ext uri="{9D8B030D-6E8A-4147-A177-3AD203B41FA5}">
                      <a16:colId xmlns:a16="http://schemas.microsoft.com/office/drawing/2014/main" val="477562216"/>
                    </a:ext>
                  </a:extLst>
                </a:gridCol>
                <a:gridCol w="1080120">
                  <a:extLst>
                    <a:ext uri="{9D8B030D-6E8A-4147-A177-3AD203B41FA5}">
                      <a16:colId xmlns:a16="http://schemas.microsoft.com/office/drawing/2014/main" val="1777303491"/>
                    </a:ext>
                  </a:extLst>
                </a:gridCol>
                <a:gridCol w="1215135">
                  <a:extLst>
                    <a:ext uri="{9D8B030D-6E8A-4147-A177-3AD203B41FA5}">
                      <a16:colId xmlns:a16="http://schemas.microsoft.com/office/drawing/2014/main" val="4055970072"/>
                    </a:ext>
                  </a:extLst>
                </a:gridCol>
                <a:gridCol w="1170130">
                  <a:extLst>
                    <a:ext uri="{9D8B030D-6E8A-4147-A177-3AD203B41FA5}">
                      <a16:colId xmlns:a16="http://schemas.microsoft.com/office/drawing/2014/main" val="2634392098"/>
                    </a:ext>
                  </a:extLst>
                </a:gridCol>
                <a:gridCol w="1215135">
                  <a:extLst>
                    <a:ext uri="{9D8B030D-6E8A-4147-A177-3AD203B41FA5}">
                      <a16:colId xmlns:a16="http://schemas.microsoft.com/office/drawing/2014/main" val="3954452917"/>
                    </a:ext>
                  </a:extLst>
                </a:gridCol>
                <a:gridCol w="1170130">
                  <a:extLst>
                    <a:ext uri="{9D8B030D-6E8A-4147-A177-3AD203B41FA5}">
                      <a16:colId xmlns:a16="http://schemas.microsoft.com/office/drawing/2014/main" val="1328943202"/>
                    </a:ext>
                  </a:extLst>
                </a:gridCol>
              </a:tblGrid>
              <a:tr h="630070">
                <a:tc>
                  <a:txBody>
                    <a:bodyPr/>
                    <a:lstStyle/>
                    <a:p>
                      <a:r>
                        <a:rPr lang="en-US" sz="1200" noProof="0" dirty="0"/>
                        <a:t>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en-US" sz="1200" noProof="0" dirty="0"/>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Bruno Miguel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Miguel Gonçalves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Vitor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Tiago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a:t>Team member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450050">
                <a:tc>
                  <a:txBody>
                    <a:bodyPr/>
                    <a:lstStyle/>
                    <a:p>
                      <a:r>
                        <a:rPr lang="pt-PT" dirty="0"/>
                        <a:t>13-12-2024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(online) 51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39">
                <a:tc>
                  <a:txBody>
                    <a:bodyPr/>
                    <a:lstStyle/>
                    <a:p>
                      <a:pPr lvl="0">
                        <a:buNone/>
                      </a:pPr>
                      <a:r>
                        <a:rPr lang="pt-PT" dirty="0"/>
                        <a:t>17-12-2024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24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lvl="0">
                        <a:buNone/>
                      </a:pPr>
                      <a:r>
                        <a:rPr lang="pt-PT" dirty="0"/>
                        <a:t>18-11-2024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11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70839">
                <a:tc>
                  <a:txBody>
                    <a:bodyPr/>
                    <a:lstStyle/>
                    <a:p>
                      <a:pPr lvl="0">
                        <a:buNone/>
                      </a:pPr>
                      <a:r>
                        <a:rPr lang="pt-PT" dirty="0"/>
                        <a:t>19-11-2024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23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70839">
                <a:tc>
                  <a:txBody>
                    <a:bodyPr/>
                    <a:lstStyle/>
                    <a:p>
                      <a:pPr lvl="0">
                        <a:buNone/>
                      </a:pPr>
                      <a:r>
                        <a:rPr lang="pt-PT" dirty="0"/>
                        <a:t>20-12-2024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(online) 17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dirty="0"/>
                        <a:t>          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pt-PT"/>
                        <a:t>         x</a:t>
                      </a: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70839">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r h="370839">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213997"/>
                  </a:ext>
                </a:extLst>
              </a:tr>
              <a:tr h="370839">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893408"/>
                  </a:ext>
                </a:extLst>
              </a:tr>
              <a:tr h="370839">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411371"/>
                  </a:ext>
                </a:extLst>
              </a:tr>
              <a:tr h="370839">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07302"/>
                  </a:ext>
                </a:extLst>
              </a:tr>
              <a:tr h="370839">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151432"/>
                  </a:ext>
                </a:extLst>
              </a:tr>
            </a:tbl>
          </a:graphicData>
        </a:graphic>
      </p:graphicFrame>
    </p:spTree>
    <p:extLst>
      <p:ext uri="{BB962C8B-B14F-4D97-AF65-F5344CB8AC3E}">
        <p14:creationId xmlns:p14="http://schemas.microsoft.com/office/powerpoint/2010/main" val="4183693930"/>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Final Sprint Retrospective (FLAP)  </a:t>
            </a:r>
            <a:r>
              <a:rPr lang="en-US" sz="1600" dirty="0">
                <a:solidFill>
                  <a:schemeClr val="tx1"/>
                </a:solidFill>
              </a:rPr>
              <a:t>Date: </a:t>
            </a:r>
            <a:br>
              <a:rPr lang="en-US" sz="1600" dirty="0">
                <a:solidFill>
                  <a:schemeClr val="tx1"/>
                </a:solidFill>
              </a:rPr>
            </a:br>
            <a:endParaRPr lang="en-US" sz="3200" cap="none" dirty="0">
              <a:solidFill>
                <a:schemeClr val="tx1"/>
              </a:solidFill>
            </a:endParaRPr>
          </a:p>
        </p:txBody>
      </p:sp>
      <p:sp>
        <p:nvSpPr>
          <p:cNvPr id="3" name="Rectangle 2">
            <a:extLst>
              <a:ext uri="{FF2B5EF4-FFF2-40B4-BE49-F238E27FC236}">
                <a16:creationId xmlns:a16="http://schemas.microsoft.com/office/drawing/2014/main" id="{0B46F64C-4411-4F59-B546-FCD8654F7B3C}"/>
              </a:ext>
            </a:extLst>
          </p:cNvPr>
          <p:cNvSpPr/>
          <p:nvPr/>
        </p:nvSpPr>
        <p:spPr>
          <a:xfrm>
            <a:off x="448800" y="1714487"/>
            <a:ext cx="2884020" cy="288464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Future considerations: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Improve sprint planning to ensure tasks are completed more efficiently.</a:t>
            </a:r>
          </a:p>
          <a:p>
            <a:pPr marL="285750" indent="-285750">
              <a:buFont typeface="Arial" panose="020B0604020202020204" pitchFamily="34" charset="0"/>
              <a:buChar char="•"/>
            </a:pPr>
            <a:r>
              <a:rPr lang="en-US" sz="1400" dirty="0">
                <a:solidFill>
                  <a:schemeClr val="tx1"/>
                </a:solidFill>
              </a:rPr>
              <a:t>Focus on better time management to stay on track and avoid last-minute rushes.</a:t>
            </a:r>
          </a:p>
          <a:p>
            <a:pPr marL="285750" indent="-285750">
              <a:buFont typeface="Arial" panose="020B0604020202020204" pitchFamily="34" charset="0"/>
              <a:buChar char="•"/>
            </a:pPr>
            <a:r>
              <a:rPr lang="en-US" sz="1400" dirty="0">
                <a:solidFill>
                  <a:schemeClr val="tx1"/>
                </a:solidFill>
              </a:rPr>
              <a:t>Enhance Git management processes to further streamline collaboration.</a:t>
            </a:r>
            <a:endParaRPr lang="en-US" sz="1400" u="sng" dirty="0">
              <a:solidFill>
                <a:schemeClr val="tx1"/>
              </a:solidFill>
            </a:endParaRPr>
          </a:p>
          <a:p>
            <a:pPr marL="285750" indent="-285750">
              <a:buFont typeface="Arial" panose="020B0604020202020204" pitchFamily="34" charset="0"/>
              <a:buChar char="•"/>
            </a:pPr>
            <a:endParaRPr lang="en-US" sz="1400" dirty="0">
              <a:solidFill>
                <a:schemeClr val="tx1"/>
              </a:solidFill>
            </a:endParaRPr>
          </a:p>
        </p:txBody>
      </p:sp>
      <p:sp>
        <p:nvSpPr>
          <p:cNvPr id="7" name="Rectangle 6">
            <a:extLst>
              <a:ext uri="{FF2B5EF4-FFF2-40B4-BE49-F238E27FC236}">
                <a16:creationId xmlns:a16="http://schemas.microsoft.com/office/drawing/2014/main" id="{73B9FD58-6876-4E87-998E-ACA36985B86E}"/>
              </a:ext>
            </a:extLst>
          </p:cNvPr>
          <p:cNvSpPr/>
          <p:nvPr/>
        </p:nvSpPr>
        <p:spPr>
          <a:xfrm>
            <a:off x="3535342" y="1721636"/>
            <a:ext cx="2970330" cy="288464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Lessons Learned:</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Effective communication within the group greatly contributed to progress.</a:t>
            </a:r>
          </a:p>
          <a:p>
            <a:pPr marL="285750" indent="-285750">
              <a:buFont typeface="Arial" panose="020B0604020202020204" pitchFamily="34" charset="0"/>
              <a:buChar char="•"/>
            </a:pPr>
            <a:r>
              <a:rPr lang="en-US" sz="1400" dirty="0">
                <a:solidFill>
                  <a:schemeClr val="tx1"/>
                </a:solidFill>
              </a:rPr>
              <a:t>Mutual support and teamwork are key strengths that should be maintained</a:t>
            </a:r>
          </a:p>
          <a:p>
            <a:pPr marL="285750" indent="-285750">
              <a:buFont typeface="Arial" panose="020B0604020202020204" pitchFamily="34" charset="0"/>
              <a:buChar char="•"/>
            </a:pPr>
            <a:r>
              <a:rPr lang="en-US" sz="1400" dirty="0">
                <a:solidFill>
                  <a:schemeClr val="tx1"/>
                </a:solidFill>
              </a:rPr>
              <a:t>There's always room for improvement in planning and execution for better outcomes</a:t>
            </a:r>
            <a:r>
              <a:rPr lang="en-US" sz="1400" dirty="0"/>
              <a:t>.</a:t>
            </a:r>
            <a:endParaRPr lang="en-US" sz="1400" dirty="0">
              <a:solidFill>
                <a:schemeClr val="tx1"/>
              </a:solidFill>
            </a:endParaRPr>
          </a:p>
        </p:txBody>
      </p:sp>
      <p:sp>
        <p:nvSpPr>
          <p:cNvPr id="8" name="Rectangle 7">
            <a:extLst>
              <a:ext uri="{FF2B5EF4-FFF2-40B4-BE49-F238E27FC236}">
                <a16:creationId xmlns:a16="http://schemas.microsoft.com/office/drawing/2014/main" id="{39B8E455-F8DD-4DEF-9E49-A26421870FC1}"/>
              </a:ext>
            </a:extLst>
          </p:cNvPr>
          <p:cNvSpPr/>
          <p:nvPr/>
        </p:nvSpPr>
        <p:spPr>
          <a:xfrm>
            <a:off x="6656684" y="1721636"/>
            <a:ext cx="2800516" cy="287749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Problem Areas: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Sprint planning and time allocation could have been more effective</a:t>
            </a:r>
            <a:r>
              <a:rPr lang="en-US" sz="1400" dirty="0"/>
              <a:t>.</a:t>
            </a:r>
          </a:p>
          <a:p>
            <a:pPr marL="285750" indent="-285750">
              <a:buFont typeface="Arial" panose="020B0604020202020204" pitchFamily="34" charset="0"/>
              <a:buChar char="•"/>
            </a:pPr>
            <a:r>
              <a:rPr lang="en-US" sz="1400" dirty="0">
                <a:solidFill>
                  <a:schemeClr val="tx1"/>
                </a:solidFill>
              </a:rPr>
              <a:t>Some aspects of Git management, though good, had minor challenges that need refinement.</a:t>
            </a:r>
          </a:p>
        </p:txBody>
      </p:sp>
      <p:sp>
        <p:nvSpPr>
          <p:cNvPr id="2" name="Rectangle 6">
            <a:extLst>
              <a:ext uri="{FF2B5EF4-FFF2-40B4-BE49-F238E27FC236}">
                <a16:creationId xmlns:a16="http://schemas.microsoft.com/office/drawing/2014/main" id="{C5F6B887-26BF-1BB6-8E70-81F188D3D3BC}"/>
              </a:ext>
            </a:extLst>
          </p:cNvPr>
          <p:cNvSpPr>
            <a:spLocks noGrp="1"/>
          </p:cNvSpPr>
          <p:nvPr>
            <p:ph type="body" idx="1"/>
          </p:nvPr>
        </p:nvSpPr>
        <p:spPr>
          <a:xfrm>
            <a:off x="448800" y="4742007"/>
            <a:ext cx="9007938" cy="156195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27000" indent="0">
              <a:buNone/>
            </a:pPr>
            <a:r>
              <a:rPr lang="en-US" u="sng" dirty="0">
                <a:solidFill>
                  <a:schemeClr val="tx1"/>
                </a:solidFill>
              </a:rPr>
              <a:t>Accomplishments: </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200" dirty="0">
                <a:solidFill>
                  <a:schemeClr val="tx1"/>
                </a:solidFill>
              </a:rPr>
              <a:t>The project ultimately had a positive outcome, reflecting the team's effort and dedication.</a:t>
            </a:r>
          </a:p>
          <a:p>
            <a:pPr marL="285750" indent="-285750">
              <a:buFont typeface="Arial" panose="020B0604020202020204" pitchFamily="34" charset="0"/>
              <a:buChar char="•"/>
            </a:pPr>
            <a:endParaRPr lang="en-US" sz="1400" dirty="0">
              <a:solidFill>
                <a:schemeClr val="tx1"/>
              </a:solidFill>
            </a:endParaRPr>
          </a:p>
        </p:txBody>
      </p:sp>
    </p:spTree>
    <p:extLst>
      <p:ext uri="{BB962C8B-B14F-4D97-AF65-F5344CB8AC3E}">
        <p14:creationId xmlns:p14="http://schemas.microsoft.com/office/powerpoint/2010/main" val="3250254882"/>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2CD9A-A6B3-4B07-0147-82C89E59F6C2}"/>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768FE494-922C-E1E1-79A1-7A1F0B467C92}"/>
              </a:ext>
            </a:extLst>
          </p:cNvPr>
          <p:cNvSpPr>
            <a:spLocks noGrp="1"/>
          </p:cNvSpPr>
          <p:nvPr>
            <p:ph type="title"/>
          </p:nvPr>
        </p:nvSpPr>
        <p:spPr/>
        <p:txBody>
          <a:bodyPr/>
          <a:lstStyle/>
          <a:p>
            <a:r>
              <a:rPr lang="en-US" sz="3200" cap="none" dirty="0">
                <a:solidFill>
                  <a:schemeClr val="tx1"/>
                </a:solidFill>
              </a:rPr>
              <a:t>Overall Final Project Mood:</a:t>
            </a:r>
          </a:p>
        </p:txBody>
      </p:sp>
      <p:sp>
        <p:nvSpPr>
          <p:cNvPr id="2" name="Marcador de Posição do Texto 1">
            <a:extLst>
              <a:ext uri="{FF2B5EF4-FFF2-40B4-BE49-F238E27FC236}">
                <a16:creationId xmlns:a16="http://schemas.microsoft.com/office/drawing/2014/main" id="{C4182299-A087-9A61-ABDB-1B05269A2689}"/>
              </a:ext>
            </a:extLst>
          </p:cNvPr>
          <p:cNvSpPr>
            <a:spLocks noGrp="1"/>
          </p:cNvSpPr>
          <p:nvPr>
            <p:ph type="body" idx="1"/>
          </p:nvPr>
        </p:nvSpPr>
        <p:spPr/>
        <p:txBody>
          <a:bodyPr/>
          <a:lstStyle/>
          <a:p>
            <a:pPr marL="127000" indent="0">
              <a:buNone/>
            </a:pPr>
            <a:r>
              <a:rPr lang="en-US" dirty="0">
                <a:solidFill>
                  <a:schemeClr val="tx1"/>
                </a:solidFill>
              </a:rPr>
              <a:t>Independently on the team performance, what's the final Team feeling: </a:t>
            </a:r>
          </a:p>
          <a:p>
            <a:endParaRPr lang="en-US" dirty="0">
              <a:solidFill>
                <a:schemeClr val="bg1">
                  <a:lumMod val="50000"/>
                </a:schemeClr>
              </a:solidFill>
            </a:endParaRPr>
          </a:p>
          <a:p>
            <a:endParaRPr lang="en-US" dirty="0">
              <a:solidFill>
                <a:schemeClr val="bg1">
                  <a:lumMod val="50000"/>
                </a:schemeClr>
              </a:solidFill>
            </a:endParaRPr>
          </a:p>
          <a:p>
            <a:endParaRPr lang="en-US" dirty="0">
              <a:solidFill>
                <a:schemeClr val="bg1">
                  <a:lumMod val="50000"/>
                </a:schemeClr>
              </a:solidFill>
            </a:endParaRPr>
          </a:p>
          <a:p>
            <a:endParaRPr lang="en-US" dirty="0">
              <a:solidFill>
                <a:schemeClr val="bg1">
                  <a:lumMod val="50000"/>
                </a:schemeClr>
              </a:solidFill>
            </a:endParaRPr>
          </a:p>
          <a:p>
            <a:endParaRPr lang="en-US" dirty="0">
              <a:solidFill>
                <a:schemeClr val="bg1">
                  <a:lumMod val="50000"/>
                </a:schemeClr>
              </a:solidFill>
            </a:endParaRPr>
          </a:p>
          <a:p>
            <a:endParaRPr lang="en-US" dirty="0">
              <a:solidFill>
                <a:schemeClr val="bg1">
                  <a:lumMod val="50000"/>
                </a:schemeClr>
              </a:solidFill>
            </a:endParaRPr>
          </a:p>
          <a:p>
            <a:endParaRPr lang="en-US" dirty="0">
              <a:solidFill>
                <a:schemeClr val="bg1">
                  <a:lumMod val="50000"/>
                </a:schemeClr>
              </a:solidFill>
            </a:endParaRPr>
          </a:p>
          <a:p>
            <a:endParaRPr lang="en-US" dirty="0">
              <a:solidFill>
                <a:schemeClr val="bg1">
                  <a:lumMod val="50000"/>
                </a:schemeClr>
              </a:solidFill>
            </a:endParaRPr>
          </a:p>
          <a:p>
            <a:endParaRPr lang="en-US" dirty="0">
              <a:solidFill>
                <a:schemeClr val="bg1">
                  <a:lumMod val="50000"/>
                </a:schemeClr>
              </a:solidFill>
            </a:endParaRPr>
          </a:p>
          <a:p>
            <a:pPr marL="127000" indent="0">
              <a:buNone/>
            </a:pPr>
            <a:r>
              <a:rPr lang="en-US" dirty="0">
                <a:solidFill>
                  <a:schemeClr val="tx1"/>
                </a:solidFill>
              </a:rPr>
              <a:t>Justification:</a:t>
            </a:r>
          </a:p>
        </p:txBody>
      </p:sp>
      <p:pic>
        <p:nvPicPr>
          <p:cNvPr id="6" name="Imagem 5">
            <a:extLst>
              <a:ext uri="{FF2B5EF4-FFF2-40B4-BE49-F238E27FC236}">
                <a16:creationId xmlns:a16="http://schemas.microsoft.com/office/drawing/2014/main" id="{7BA9DB45-4731-47F1-F774-251BCAFA3F68}"/>
              </a:ext>
            </a:extLst>
          </p:cNvPr>
          <p:cNvPicPr>
            <a:picLocks noChangeAspect="1"/>
          </p:cNvPicPr>
          <p:nvPr/>
        </p:nvPicPr>
        <p:blipFill>
          <a:blip r:embed="rId2"/>
          <a:stretch>
            <a:fillRect/>
          </a:stretch>
        </p:blipFill>
        <p:spPr>
          <a:xfrm>
            <a:off x="1487615" y="2438890"/>
            <a:ext cx="6728791" cy="2299857"/>
          </a:xfrm>
          <a:prstGeom prst="rect">
            <a:avLst/>
          </a:prstGeom>
        </p:spPr>
      </p:pic>
    </p:spTree>
    <p:extLst>
      <p:ext uri="{BB962C8B-B14F-4D97-AF65-F5344CB8AC3E}">
        <p14:creationId xmlns:p14="http://schemas.microsoft.com/office/powerpoint/2010/main" val="3828088357"/>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am work">
            <a:extLst>
              <a:ext uri="{FF2B5EF4-FFF2-40B4-BE49-F238E27FC236}">
                <a16:creationId xmlns:a16="http://schemas.microsoft.com/office/drawing/2014/main" id="{63305713-9999-B782-17EA-DC85021DE3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719"/>
          <a:stretch/>
        </p:blipFill>
        <p:spPr bwMode="auto">
          <a:xfrm>
            <a:off x="0" y="947824"/>
            <a:ext cx="9906000" cy="5910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theme/theme1.xml><?xml version="1.0" encoding="utf-8"?>
<a:theme xmlns:a="http://schemas.openxmlformats.org/drawingml/2006/main" name="1_ISEP">
  <a:themeElements>
    <a:clrScheme name="Laranja-avermelhado">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BA52B1E44048D8469E872E4EAE2C3404" ma:contentTypeVersion="11" ma:contentTypeDescription="Criar um novo documento." ma:contentTypeScope="" ma:versionID="5d6bea2526e958e85fe4b0fdb202b19b">
  <xsd:schema xmlns:xsd="http://www.w3.org/2001/XMLSchema" xmlns:xs="http://www.w3.org/2001/XMLSchema" xmlns:p="http://schemas.microsoft.com/office/2006/metadata/properties" xmlns:ns2="ed04904d-c619-4467-a32f-09812827fd8e" xmlns:ns3="b4fdeaeb-cd21-48a0-91d3-a71b662e0a05" targetNamespace="http://schemas.microsoft.com/office/2006/metadata/properties" ma:root="true" ma:fieldsID="bffbf4134176b596353c185a581a363d" ns2:_="" ns3:_="">
    <xsd:import namespace="ed04904d-c619-4467-a32f-09812827fd8e"/>
    <xsd:import namespace="b4fdeaeb-cd21-48a0-91d3-a71b662e0a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04904d-c619-4467-a32f-09812827fd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m" ma:readOnly="false" ma:fieldId="{5cf76f15-5ced-4ddc-b409-7134ff3c332f}" ma:taxonomyMulti="true" ma:sspId="abd39c20-4416-4a86-a41d-df69d8f2de9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fdeaeb-cd21-48a0-91d3-a71b662e0a0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915ae7b-29a8-45ec-b859-842c81a716b0}" ma:internalName="TaxCatchAll" ma:showField="CatchAllData" ma:web="b4fdeaeb-cd21-48a0-91d3-a71b662e0a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04904d-c619-4467-a32f-09812827fd8e">
      <Terms xmlns="http://schemas.microsoft.com/office/infopath/2007/PartnerControls"/>
    </lcf76f155ced4ddcb4097134ff3c332f>
    <TaxCatchAll xmlns="b4fdeaeb-cd21-48a0-91d3-a71b662e0a05" xsi:nil="true"/>
  </documentManagement>
</p:properties>
</file>

<file path=customXml/itemProps1.xml><?xml version="1.0" encoding="utf-8"?>
<ds:datastoreItem xmlns:ds="http://schemas.openxmlformats.org/officeDocument/2006/customXml" ds:itemID="{4F984168-AABC-4753-B4EC-59CA9D08839F}">
  <ds:schemaRefs>
    <ds:schemaRef ds:uri="http://schemas.microsoft.com/sharepoint/v3/contenttype/forms"/>
  </ds:schemaRefs>
</ds:datastoreItem>
</file>

<file path=customXml/itemProps2.xml><?xml version="1.0" encoding="utf-8"?>
<ds:datastoreItem xmlns:ds="http://schemas.openxmlformats.org/officeDocument/2006/customXml" ds:itemID="{343706E8-7DEF-45BC-8335-95BA84D3C3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04904d-c619-4467-a32f-09812827fd8e"/>
    <ds:schemaRef ds:uri="b4fdeaeb-cd21-48a0-91d3-a71b662e0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9B87164-EF5F-43C8-917E-48B38ACAFD1E}">
  <ds:schemaRefs>
    <ds:schemaRef ds:uri="http://schemas.microsoft.com/office/2006/metadata/properties"/>
    <ds:schemaRef ds:uri="b4fdeaeb-cd21-48a0-91d3-a71b662e0a05"/>
    <ds:schemaRef ds:uri="ed04904d-c619-4467-a32f-09812827fd8e"/>
    <ds:schemaRef ds:uri="http://purl.org/dc/terms/"/>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7197</TotalTime>
  <Words>970</Words>
  <Application>Microsoft Office PowerPoint</Application>
  <PresentationFormat>Papel A4 (210x297 mm)</PresentationFormat>
  <Paragraphs>336</Paragraphs>
  <Slides>16</Slides>
  <Notes>8</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16</vt:i4>
      </vt:variant>
    </vt:vector>
  </HeadingPairs>
  <TitlesOfParts>
    <vt:vector size="20" baseType="lpstr">
      <vt:lpstr>Arial</vt:lpstr>
      <vt:lpstr>Calibri</vt:lpstr>
      <vt:lpstr>Kozuka Gothic Pro M</vt:lpstr>
      <vt:lpstr>1_ISEP</vt:lpstr>
      <vt:lpstr>Class 2DO Group 152 SPRINT 3</vt:lpstr>
      <vt:lpstr>Sprint planning – Sprint 3</vt:lpstr>
      <vt:lpstr>Sprint planning</vt:lpstr>
      <vt:lpstr>Sprint planning</vt:lpstr>
      <vt:lpstr>Sprint planning</vt:lpstr>
      <vt:lpstr>Sprint planning</vt:lpstr>
      <vt:lpstr>Work by team member (Sprint 3)</vt:lpstr>
      <vt:lpstr>Work by team member (All Sprints)</vt:lpstr>
      <vt:lpstr>Work by type</vt:lpstr>
      <vt:lpstr>Sprint Burndown Chart</vt:lpstr>
      <vt:lpstr>Issues / Assumptions / unanswered questions</vt:lpstr>
      <vt:lpstr>Daily Meetings (Sprint 3)</vt:lpstr>
      <vt:lpstr>Daily Meetings (Sprint 3)</vt:lpstr>
      <vt:lpstr>Final Sprint Retrospective (FLAP)  Date:  </vt:lpstr>
      <vt:lpstr>Overall Final Project Mood:</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Diapositivo 1</dc:title>
  <dc:creator>FlavioRamos</dc:creator>
  <cp:lastModifiedBy>Bruno Silva</cp:lastModifiedBy>
  <cp:revision>479</cp:revision>
  <dcterms:created xsi:type="dcterms:W3CDTF">2010-10-20T15:48:12Z</dcterms:created>
  <dcterms:modified xsi:type="dcterms:W3CDTF">2025-01-17T15:01:59Z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0x010100BA52B1E44048D8469E872E4EAE2C3404</vt:lpwstr>
  </property>
  <property fmtid="{D5CDD505-2E9C-101B-9397-08002B2CF9AE}" pid="3" name="MediaServiceImageTags">
    <vt:lpwstr/>
  </property>
</Properties>
</file>