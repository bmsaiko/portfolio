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9"/>
  </p:notesMasterIdLst>
  <p:sldIdLst>
    <p:sldId id="295" r:id="rId5"/>
    <p:sldId id="409" r:id="rId6"/>
    <p:sldId id="404" r:id="rId7"/>
    <p:sldId id="415" r:id="rId8"/>
    <p:sldId id="416" r:id="rId9"/>
    <p:sldId id="417" r:id="rId10"/>
    <p:sldId id="406" r:id="rId11"/>
    <p:sldId id="407" r:id="rId12"/>
    <p:sldId id="408" r:id="rId13"/>
    <p:sldId id="418" r:id="rId14"/>
    <p:sldId id="411" r:id="rId15"/>
    <p:sldId id="398" r:id="rId16"/>
    <p:sldId id="413" r:id="rId17"/>
    <p:sldId id="387" r:id="rId18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Miguel Da Silva" initials="BMDS" lastIdx="1" clrIdx="0">
    <p:extLst>
      <p:ext uri="{19B8F6BF-5375-455C-9EA6-DF929625EA0E}">
        <p15:presenceInfo xmlns:p15="http://schemas.microsoft.com/office/powerpoint/2012/main" userId="Bruno Miguel Da Sil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432"/>
    <a:srgbClr val="404040"/>
    <a:srgbClr val="7F7F7F"/>
    <a:srgbClr val="FF8600"/>
    <a:srgbClr val="FF6600"/>
    <a:srgbClr val="5B5B5B"/>
    <a:srgbClr val="7F7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com Tema 2 - Destaqu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Estilo Claro 2 - Destaqu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82092" autoAdjust="0"/>
  </p:normalViewPr>
  <p:slideViewPr>
    <p:cSldViewPr>
      <p:cViewPr varScale="1">
        <p:scale>
          <a:sx n="93" d="100"/>
          <a:sy n="93" d="100"/>
        </p:scale>
        <p:origin x="2040" y="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 err="1"/>
              <a:t>Hours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n. </a:t>
            </a:r>
            <a:r>
              <a:rPr lang="pt-PT" dirty="0" err="1"/>
              <a:t>tasks</a:t>
            </a:r>
            <a:endParaRPr lang="pt-P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Horas / tarefas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Folha1!$A$2:$A$8</c:f>
              <c:strCache>
                <c:ptCount val="7"/>
                <c:pt idx="0">
                  <c:v>Bruno 1221514</c:v>
                </c:pt>
                <c:pt idx="1">
                  <c:v>Miguel 1221119</c:v>
                </c:pt>
                <c:pt idx="2">
                  <c:v>Vitor 1240580</c:v>
                </c:pt>
                <c:pt idx="3">
                  <c:v>Tomás 1240590</c:v>
                </c:pt>
                <c:pt idx="4">
                  <c:v>Tiago 1241707</c:v>
                </c:pt>
                <c:pt idx="5">
                  <c:v>Jorge 1220838</c:v>
                </c:pt>
                <c:pt idx="6">
                  <c:v>Eduardo 1190546</c:v>
                </c:pt>
              </c:strCache>
            </c:strRef>
          </c:cat>
          <c:val>
            <c:numRef>
              <c:f>Folha1!$B$2:$B$8</c:f>
              <c:numCache>
                <c:formatCode>General</c:formatCode>
                <c:ptCount val="7"/>
                <c:pt idx="0">
                  <c:v>42.33</c:v>
                </c:pt>
                <c:pt idx="1">
                  <c:v>18.329999999999998</c:v>
                </c:pt>
                <c:pt idx="2">
                  <c:v>13.5</c:v>
                </c:pt>
                <c:pt idx="3">
                  <c:v>10.5</c:v>
                </c:pt>
                <c:pt idx="4">
                  <c:v>8</c:v>
                </c:pt>
                <c:pt idx="5">
                  <c:v>5.33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6-4A64-B307-80E9A359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907944"/>
        <c:axId val="691902368"/>
      </c:barChart>
      <c:catAx>
        <c:axId val="691907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91902368"/>
        <c:crosses val="autoZero"/>
        <c:auto val="1"/>
        <c:lblAlgn val="ctr"/>
        <c:lblOffset val="100"/>
        <c:noMultiLvlLbl val="0"/>
      </c:catAx>
      <c:valAx>
        <c:axId val="69190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91907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 err="1"/>
              <a:t>Epic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Component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UC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Componente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E-44D3-AE05-D0CC3596364F}"/>
              </c:ext>
            </c:extLst>
          </c:dPt>
          <c:dPt>
            <c:idx val="1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E-44D3-AE05-D0CC3596364F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E-44D3-AE05-D0CC3596364F}"/>
              </c:ext>
            </c:extLst>
          </c:dPt>
          <c:dPt>
            <c:idx val="3"/>
            <c:bubble3D val="0"/>
            <c:spPr>
              <a:solidFill>
                <a:schemeClr val="accent6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E-44D3-AE05-D0CC3596364F}"/>
              </c:ext>
            </c:extLst>
          </c:dPt>
          <c:dPt>
            <c:idx val="4"/>
            <c:bubble3D val="0"/>
            <c:spPr>
              <a:solidFill>
                <a:schemeClr val="accent6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Folha1!$A$2:$A$6</c:f>
              <c:strCache>
                <c:ptCount val="5"/>
                <c:pt idx="0">
                  <c:v>ESINF</c:v>
                </c:pt>
                <c:pt idx="1">
                  <c:v>ARQC</c:v>
                </c:pt>
                <c:pt idx="2">
                  <c:v>BDDAD</c:v>
                </c:pt>
                <c:pt idx="3">
                  <c:v>LPRA3</c:v>
                </c:pt>
                <c:pt idx="4">
                  <c:v>FSIAP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8</c:v>
                </c:pt>
                <c:pt idx="1">
                  <c:v>10</c:v>
                </c:pt>
                <c:pt idx="2">
                  <c:v>14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6-47B5-9769-0633602DA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11/25/2024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Não colocar screenshots! Preencher manualmente os valores.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972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Não colocar screenshots! Preencher manualmente os valores.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2087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Não colocar screenshots! Preencher manualmente os valores.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3516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Não colocar screenshots! Preencher manualmente os valores.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5609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Se compilaram o registo de horas colocar as horas de trabalho, caso contrario utilizar o numero de tarefas ou algo que reflita a distribuição de trabalho.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40272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2285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Podem criar mais páginas se estas não forem suficientes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9848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Podem criar mais páginas se estas não forem suficientes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3238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86928-2F1A-05D5-49A7-ECF44F7E6983}"/>
              </a:ext>
            </a:extLst>
          </p:cNvPr>
          <p:cNvSpPr/>
          <p:nvPr userDrawn="1"/>
        </p:nvSpPr>
        <p:spPr>
          <a:xfrm>
            <a:off x="1" y="1093304"/>
            <a:ext cx="9906000" cy="57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/>
              </a:solidFill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14000" y="4000503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106049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 branc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534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534399" cy="43053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•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Font typeface="Arial"/>
              <a:buChar char="■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»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1D1FC4-6243-41CD-9D5B-A6553C84873C}"/>
              </a:ext>
            </a:extLst>
          </p:cNvPr>
          <p:cNvSpPr/>
          <p:nvPr userDrawn="1"/>
        </p:nvSpPr>
        <p:spPr>
          <a:xfrm>
            <a:off x="579188" y="6525785"/>
            <a:ext cx="14510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Internal</a:t>
            </a:r>
            <a:r>
              <a:rPr lang="pt-PT" sz="1200" b="1" i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 Use </a:t>
            </a:r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Only</a:t>
            </a:r>
            <a:endParaRPr lang="pt-PT" sz="1200" i="1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531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80967" y="4000503"/>
            <a:ext cx="821537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452406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89838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4000" y="1714486"/>
            <a:ext cx="90432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991936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Dup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14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4968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08252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14000" y="1004400"/>
            <a:ext cx="9043200" cy="530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3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523843" y="5505467"/>
            <a:ext cx="5943599" cy="352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523843" y="5929330"/>
            <a:ext cx="8858312" cy="2762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●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○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761556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6105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610599" cy="45720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87231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ra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/>
          <p:nvPr/>
        </p:nvSpPr>
        <p:spPr>
          <a:xfrm flipH="1">
            <a:off x="6764158" y="4953000"/>
            <a:ext cx="182741" cy="37471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b="0" i="0" u="none" strike="noStrike" cap="none">
              <a:solidFill>
                <a:srgbClr val="00CA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51278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tra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15985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5020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25/11/2024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2151704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25/11/2024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9420808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9264868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25/11/2024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25/11/2024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0DF30C-F77B-4F2F-9EB1-3B93EBB0DB99}"/>
              </a:ext>
            </a:extLst>
          </p:cNvPr>
          <p:cNvSpPr/>
          <p:nvPr userDrawn="1"/>
        </p:nvSpPr>
        <p:spPr>
          <a:xfrm>
            <a:off x="324908" y="6390861"/>
            <a:ext cx="9214886" cy="467139"/>
          </a:xfrm>
          <a:prstGeom prst="roundRect">
            <a:avLst>
              <a:gd name="adj" fmla="val 6170"/>
            </a:avLst>
          </a:prstGeom>
          <a:solidFill>
            <a:srgbClr val="9A1A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9A1A24"/>
              </a:solidFill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6831106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1" u="none" strike="noStrike" cap="none">
                <a:solidFill>
                  <a:srgbClr val="888888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PT" dirty="0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632453" y="6492875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3441222-7DC4-AAA3-4880-5CB78D81CC04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-10536"/>
            <a:ext cx="9906000" cy="9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644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52" r:id="rId14"/>
    <p:sldLayoutId id="2147483655" r:id="rId15"/>
    <p:sldLayoutId id="2147483661" r:id="rId16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36CE6F5-8CA7-4383-A151-C2832D6337AE}"/>
              </a:ext>
            </a:extLst>
          </p:cNvPr>
          <p:cNvSpPr txBox="1"/>
          <p:nvPr/>
        </p:nvSpPr>
        <p:spPr>
          <a:xfrm>
            <a:off x="244593" y="4014065"/>
            <a:ext cx="891344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pt-PT" sz="1400" dirty="0" err="1"/>
              <a:t>Group</a:t>
            </a:r>
            <a:r>
              <a:rPr lang="pt-PT" sz="1400" dirty="0"/>
              <a:t> </a:t>
            </a:r>
            <a:r>
              <a:rPr lang="pt-PT" sz="1400" dirty="0" err="1"/>
              <a:t>members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0BB2CE-AD20-4EB4-9198-1AB0990B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19" y="2924670"/>
            <a:ext cx="8505945" cy="57150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Class 2DO Group</a:t>
            </a:r>
            <a:r>
              <a:rPr lang="en-US" sz="3200" kern="1200" dirty="0">
                <a:solidFill>
                  <a:schemeClr val="tx1"/>
                </a:solidFill>
              </a:rPr>
              <a:t> 152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SPRINT 2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DB1D8FD1-20D5-4B6F-506E-F430DA26CEBA}"/>
              </a:ext>
            </a:extLst>
          </p:cNvPr>
          <p:cNvSpPr txBox="1">
            <a:spLocks/>
          </p:cNvSpPr>
          <p:nvPr/>
        </p:nvSpPr>
        <p:spPr>
          <a:xfrm>
            <a:off x="414000" y="2123855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algn="ctr"/>
            <a:r>
              <a:rPr lang="en-US" sz="3200" kern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LAPR3 2024_2025</a:t>
            </a:r>
            <a:endParaRPr lang="en-US" sz="3200" kern="0" dirty="0">
              <a:solidFill>
                <a:schemeClr val="tx1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7A502EE-944E-4A2F-52C8-1234A7F95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346127"/>
              </p:ext>
            </p:extLst>
          </p:nvPr>
        </p:nvGraphicFramePr>
        <p:xfrm>
          <a:off x="317484" y="4554125"/>
          <a:ext cx="9228471" cy="944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8353">
                  <a:extLst>
                    <a:ext uri="{9D8B030D-6E8A-4147-A177-3AD203B41FA5}">
                      <a16:colId xmlns:a16="http://schemas.microsoft.com/office/drawing/2014/main" val="1786404924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3388003712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3217887647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2465101990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1554615450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512828364"/>
                    </a:ext>
                  </a:extLst>
                </a:gridCol>
                <a:gridCol w="1318353">
                  <a:extLst>
                    <a:ext uri="{9D8B030D-6E8A-4147-A177-3AD203B41FA5}">
                      <a16:colId xmlns:a16="http://schemas.microsoft.com/office/drawing/2014/main" val="1679818001"/>
                    </a:ext>
                  </a:extLst>
                </a:gridCol>
              </a:tblGrid>
              <a:tr h="652897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Bruno Miguel da Silva </a:t>
                      </a:r>
                    </a:p>
                    <a:p>
                      <a:pPr algn="ctr"/>
                      <a:r>
                        <a:rPr lang="pt-PT" dirty="0"/>
                        <a:t>(1221514)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Miguel Gonçalves </a:t>
                      </a:r>
                    </a:p>
                    <a:p>
                      <a:pPr algn="ctr"/>
                      <a:r>
                        <a:rPr lang="pt-PT" dirty="0"/>
                        <a:t>(1221119)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Vitor</a:t>
                      </a:r>
                      <a:r>
                        <a:rPr lang="pt-PT" dirty="0"/>
                        <a:t> Carneiro</a:t>
                      </a:r>
                    </a:p>
                    <a:p>
                      <a:pPr algn="ctr"/>
                      <a:r>
                        <a:rPr lang="pt-PT" dirty="0"/>
                        <a:t>(1240580)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Tomás Teixeira Silva</a:t>
                      </a:r>
                    </a:p>
                    <a:p>
                      <a:pPr algn="ctr"/>
                      <a:r>
                        <a:rPr lang="pt-PT" dirty="0"/>
                        <a:t>(1240590)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Tiago Silva</a:t>
                      </a:r>
                    </a:p>
                    <a:p>
                      <a:pPr algn="ctr"/>
                      <a:r>
                        <a:rPr lang="pt-PT" dirty="0"/>
                        <a:t>(1241707)</a:t>
                      </a:r>
                    </a:p>
                    <a:p>
                      <a:pPr algn="ctr"/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Jorge Almeida</a:t>
                      </a:r>
                    </a:p>
                    <a:p>
                      <a:pPr algn="ctr"/>
                      <a:r>
                        <a:rPr lang="pt-PT" dirty="0"/>
                        <a:t>(1220838)</a:t>
                      </a:r>
                    </a:p>
                    <a:p>
                      <a:pPr algn="ctr"/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Eduardo Moreira</a:t>
                      </a:r>
                    </a:p>
                    <a:p>
                      <a:pPr algn="ctr"/>
                      <a:r>
                        <a:rPr lang="pt-PT" dirty="0"/>
                        <a:t>(1190546)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33358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Sprint planning – Sprint 1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796292"/>
              </p:ext>
            </p:extLst>
          </p:nvPr>
        </p:nvGraphicFramePr>
        <p:xfrm>
          <a:off x="1020165" y="2618910"/>
          <a:ext cx="7830870" cy="274319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387043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Management Tasks (Scrum)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Planned: 6               Actual:   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Total planned estimation vs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 hours: </a:t>
                      </a:r>
                      <a:r>
                        <a:rPr lang="pt-PT" dirty="0"/>
                        <a:t>84 </a:t>
                      </a:r>
                      <a:endParaRPr lang="en-US" noProof="0" dirty="0"/>
                    </a:p>
                    <a:p>
                      <a:pPr lvl="0" algn="ctr">
                        <a:buNone/>
                      </a:pPr>
                      <a:r>
                        <a:rPr lang="en-US" noProof="0" dirty="0"/>
                        <a:t>Executed hours: </a:t>
                      </a:r>
                      <a:r>
                        <a:rPr lang="pt-PT" dirty="0"/>
                        <a:t>100 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  <p:sp>
        <p:nvSpPr>
          <p:cNvPr id="7" name="Marcador de Posição de Conteúdo 5">
            <a:extLst>
              <a:ext uri="{FF2B5EF4-FFF2-40B4-BE49-F238E27FC236}">
                <a16:creationId xmlns:a16="http://schemas.microsoft.com/office/drawing/2014/main" id="{6F8BAF59-30E8-4D49-87D9-D5A1CD648639}"/>
              </a:ext>
            </a:extLst>
          </p:cNvPr>
          <p:cNvSpPr txBox="1">
            <a:spLocks/>
          </p:cNvSpPr>
          <p:nvPr/>
        </p:nvSpPr>
        <p:spPr>
          <a:xfrm>
            <a:off x="448800" y="1626520"/>
            <a:ext cx="9043200" cy="7106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8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  <a:defRPr sz="16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4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»"/>
              <a:defRPr sz="12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Start Date:                                                 Real Start Date:  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Finished Date:                                           Real Finish Date:</a:t>
            </a:r>
          </a:p>
          <a:p>
            <a:pPr marL="0" indent="0">
              <a:buFont typeface="Arial" pitchFamily="34" charset="0"/>
              <a:buNone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794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870415"/>
              </p:ext>
            </p:extLst>
          </p:nvPr>
        </p:nvGraphicFramePr>
        <p:xfrm>
          <a:off x="414000" y="1673805"/>
          <a:ext cx="9008401" cy="456182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Assignment US</a:t>
                      </a:r>
                    </a:p>
                    <a:p>
                      <a:r>
                        <a:rPr lang="en-US" sz="1200" noProof="0" dirty="0"/>
                        <a:t>(as stated on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err="1"/>
                        <a:t>Commited</a:t>
                      </a:r>
                      <a:r>
                        <a:rPr lang="en-US" noProof="0" dirty="0"/>
                        <a:t>?</a:t>
                      </a:r>
                    </a:p>
                    <a:p>
                      <a:pPr algn="ctr"/>
                      <a:r>
                        <a:rPr lang="en-US" sz="1200" noProof="0" dirty="0"/>
                        <a:t>(Yes / no 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USAC10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37576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88787"/>
              </p:ext>
            </p:extLst>
          </p:nvPr>
        </p:nvGraphicFramePr>
        <p:xfrm>
          <a:off x="414000" y="1673805"/>
          <a:ext cx="9008401" cy="456182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Assignment US</a:t>
                      </a:r>
                    </a:p>
                    <a:p>
                      <a:r>
                        <a:rPr lang="en-US" sz="1200" noProof="0" dirty="0"/>
                        <a:t>(as stated on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err="1"/>
                        <a:t>Commited</a:t>
                      </a:r>
                      <a:r>
                        <a:rPr lang="en-US" noProof="0" dirty="0"/>
                        <a:t>?</a:t>
                      </a:r>
                    </a:p>
                    <a:p>
                      <a:pPr algn="ctr"/>
                      <a:r>
                        <a:rPr lang="en-US" sz="1200" noProof="0" dirty="0"/>
                        <a:t>(Yes / no 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USBD14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USBD15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USBD16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USBD17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USBD18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USBD19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09435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789779"/>
              </p:ext>
            </p:extLst>
          </p:nvPr>
        </p:nvGraphicFramePr>
        <p:xfrm>
          <a:off x="414000" y="1673805"/>
          <a:ext cx="9008401" cy="456182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Assignment US</a:t>
                      </a:r>
                    </a:p>
                    <a:p>
                      <a:r>
                        <a:rPr lang="en-US" sz="1200" noProof="0" dirty="0"/>
                        <a:t>(as stated on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err="1"/>
                        <a:t>Commited</a:t>
                      </a:r>
                      <a:r>
                        <a:rPr lang="en-US" noProof="0" dirty="0"/>
                        <a:t>?</a:t>
                      </a:r>
                    </a:p>
                    <a:p>
                      <a:pPr algn="ctr"/>
                      <a:r>
                        <a:rPr lang="en-US" sz="1200" noProof="0" dirty="0"/>
                        <a:t>(Yes / no 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USEI02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USEI05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USEI07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USEI07.2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USEI08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USEI12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USEI14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USEI15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049283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942271"/>
              </p:ext>
            </p:extLst>
          </p:nvPr>
        </p:nvGraphicFramePr>
        <p:xfrm>
          <a:off x="414000" y="1673805"/>
          <a:ext cx="9008401" cy="456182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Assignment US</a:t>
                      </a:r>
                    </a:p>
                    <a:p>
                      <a:r>
                        <a:rPr lang="en-US" sz="1200" noProof="0" dirty="0"/>
                        <a:t>(as stated on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err="1"/>
                        <a:t>Commited</a:t>
                      </a:r>
                      <a:r>
                        <a:rPr lang="en-US" noProof="0" dirty="0"/>
                        <a:t>?</a:t>
                      </a:r>
                    </a:p>
                    <a:p>
                      <a:pPr algn="ctr"/>
                      <a:r>
                        <a:rPr lang="en-US" sz="1200" noProof="0" dirty="0"/>
                        <a:t>(Yes / no 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USFA01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USFA02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USLP03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USLP04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USLP05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USBD45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Yes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99386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team </a:t>
            </a:r>
            <a:r>
              <a:rPr lang="pt-PT" sz="3200" cap="none" dirty="0" err="1">
                <a:solidFill>
                  <a:schemeClr val="tx1"/>
                </a:solidFill>
              </a:rPr>
              <a:t>member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0ADD5B-A00D-489E-9390-B75485840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5688781"/>
              </p:ext>
            </p:extLst>
          </p:nvPr>
        </p:nvGraphicFramePr>
        <p:xfrm>
          <a:off x="1622630" y="1673805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4257647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type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90ED7699-5188-411A-AA61-860BAD3DF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9215905"/>
              </p:ext>
            </p:extLst>
          </p:nvPr>
        </p:nvGraphicFramePr>
        <p:xfrm>
          <a:off x="1487615" y="1898830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06292261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Issues / Assumptions / unanswered questions</a:t>
            </a:r>
            <a:endParaRPr lang="en-US" sz="3200" cap="none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765780B-B941-BB03-F491-AFEFC4822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874760"/>
              </p:ext>
            </p:extLst>
          </p:nvPr>
        </p:nvGraphicFramePr>
        <p:xfrm>
          <a:off x="414000" y="1673805"/>
          <a:ext cx="9129510" cy="439901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133955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75175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1530170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89021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Responsible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Date / sprint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Related issue / </a:t>
                      </a:r>
                    </a:p>
                    <a:p>
                      <a:pPr algn="ctr"/>
                      <a:r>
                        <a:rPr lang="en-US" noProof="0" dirty="0"/>
                        <a:t>item in 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934305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dirty="0"/>
                    </a:p>
                    <a:p>
                      <a:endParaRPr lang="pt-PT" dirty="0"/>
                    </a:p>
                    <a:p>
                      <a:endParaRPr lang="pt-PT" dirty="0"/>
                    </a:p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  <a:p>
                      <a:pPr lvl="0">
                        <a:buNone/>
                      </a:pPr>
                      <a:endParaRPr lang="pt-PT" dirty="0"/>
                    </a:p>
                    <a:p>
                      <a:pPr lvl="0">
                        <a:buNone/>
                      </a:pPr>
                      <a:endParaRPr lang="pt-PT" dirty="0"/>
                    </a:p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  <a:p>
                      <a:pPr lvl="0">
                        <a:buNone/>
                      </a:pPr>
                      <a:endParaRPr lang="pt-PT" dirty="0"/>
                    </a:p>
                    <a:p>
                      <a:pPr lvl="0">
                        <a:buNone/>
                      </a:pPr>
                      <a:endParaRPr lang="pt-PT" dirty="0"/>
                    </a:p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336153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29E7-3FFD-D203-2288-6373118F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4485DCF-CD7D-9487-0175-274A08E05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Daily Meetings</a:t>
            </a:r>
            <a:endParaRPr lang="en-US" sz="3200" cap="none" dirty="0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6298545B-B353-4200-A812-3BB5E336033D}"/>
              </a:ext>
            </a:extLst>
          </p:cNvPr>
          <p:cNvSpPr txBox="1">
            <a:spLocks/>
          </p:cNvSpPr>
          <p:nvPr/>
        </p:nvSpPr>
        <p:spPr>
          <a:xfrm>
            <a:off x="431400" y="1571611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A760796-9F6B-C0FD-165B-0762CD07E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524166"/>
              </p:ext>
            </p:extLst>
          </p:nvPr>
        </p:nvGraphicFramePr>
        <p:xfrm>
          <a:off x="414000" y="1673805"/>
          <a:ext cx="9129509" cy="4876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5607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25378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859735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967202">
                  <a:extLst>
                    <a:ext uri="{9D8B030D-6E8A-4147-A177-3AD203B41FA5}">
                      <a16:colId xmlns:a16="http://schemas.microsoft.com/office/drawing/2014/main" val="4055970072"/>
                    </a:ext>
                  </a:extLst>
                </a:gridCol>
                <a:gridCol w="93138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967202">
                  <a:extLst>
                    <a:ext uri="{9D8B030D-6E8A-4147-A177-3AD203B41FA5}">
                      <a16:colId xmlns:a16="http://schemas.microsoft.com/office/drawing/2014/main" val="3954452917"/>
                    </a:ext>
                  </a:extLst>
                </a:gridCol>
                <a:gridCol w="931380">
                  <a:extLst>
                    <a:ext uri="{9D8B030D-6E8A-4147-A177-3AD203B41FA5}">
                      <a16:colId xmlns:a16="http://schemas.microsoft.com/office/drawing/2014/main" val="1328943202"/>
                    </a:ext>
                  </a:extLst>
                </a:gridCol>
                <a:gridCol w="931380">
                  <a:extLst>
                    <a:ext uri="{9D8B030D-6E8A-4147-A177-3AD203B41FA5}">
                      <a16:colId xmlns:a16="http://schemas.microsoft.com/office/drawing/2014/main" val="1483391695"/>
                    </a:ext>
                  </a:extLst>
                </a:gridCol>
                <a:gridCol w="931380">
                  <a:extLst>
                    <a:ext uri="{9D8B030D-6E8A-4147-A177-3AD203B41FA5}">
                      <a16:colId xmlns:a16="http://schemas.microsoft.com/office/drawing/2014/main" val="1470825992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Place / 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Bruno</a:t>
                      </a:r>
                    </a:p>
                    <a:p>
                      <a:pPr algn="ctr"/>
                      <a:r>
                        <a:rPr lang="en-US" sz="1400" noProof="0" dirty="0"/>
                        <a:t>1221514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Miguel</a:t>
                      </a:r>
                    </a:p>
                    <a:p>
                      <a:pPr algn="ctr"/>
                      <a:r>
                        <a:rPr lang="en-US" sz="1400" noProof="0" dirty="0"/>
                        <a:t>1221119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Vitor</a:t>
                      </a:r>
                    </a:p>
                    <a:p>
                      <a:pPr algn="ctr"/>
                      <a:r>
                        <a:rPr lang="en-US" sz="1400" noProof="0" dirty="0"/>
                        <a:t>1240580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Tomás 1240590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Tiago 1241707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Jorge</a:t>
                      </a:r>
                    </a:p>
                    <a:p>
                      <a:pPr algn="ctr"/>
                      <a:r>
                        <a:rPr lang="en-US" sz="1400" noProof="0" dirty="0"/>
                        <a:t>1220838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Eduardo1190546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450050">
                <a:tc>
                  <a:txBody>
                    <a:bodyPr/>
                    <a:lstStyle/>
                    <a:p>
                      <a:r>
                        <a:rPr lang="pt-PT" dirty="0"/>
                        <a:t>05/11/2024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06/11/2024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07/11/2024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19288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08/11/2024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47331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12/11/2024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75699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13/11/2024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19839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14/11/2024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21399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15/11/2024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893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86351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29E7-3FFD-D203-2288-6373118F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4485DCF-CD7D-9487-0175-274A08E05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Daily Meetings</a:t>
            </a:r>
            <a:endParaRPr lang="en-US" sz="3200" cap="none" dirty="0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6298545B-B353-4200-A812-3BB5E336033D}"/>
              </a:ext>
            </a:extLst>
          </p:cNvPr>
          <p:cNvSpPr txBox="1">
            <a:spLocks/>
          </p:cNvSpPr>
          <p:nvPr/>
        </p:nvSpPr>
        <p:spPr>
          <a:xfrm>
            <a:off x="431400" y="1571611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A760796-9F6B-C0FD-165B-0762CD07E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51067"/>
              </p:ext>
            </p:extLst>
          </p:nvPr>
        </p:nvGraphicFramePr>
        <p:xfrm>
          <a:off x="414000" y="1673805"/>
          <a:ext cx="9129509" cy="28041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5607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25378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859735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967202">
                  <a:extLst>
                    <a:ext uri="{9D8B030D-6E8A-4147-A177-3AD203B41FA5}">
                      <a16:colId xmlns:a16="http://schemas.microsoft.com/office/drawing/2014/main" val="4055970072"/>
                    </a:ext>
                  </a:extLst>
                </a:gridCol>
                <a:gridCol w="93138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967202">
                  <a:extLst>
                    <a:ext uri="{9D8B030D-6E8A-4147-A177-3AD203B41FA5}">
                      <a16:colId xmlns:a16="http://schemas.microsoft.com/office/drawing/2014/main" val="3954452917"/>
                    </a:ext>
                  </a:extLst>
                </a:gridCol>
                <a:gridCol w="931380">
                  <a:extLst>
                    <a:ext uri="{9D8B030D-6E8A-4147-A177-3AD203B41FA5}">
                      <a16:colId xmlns:a16="http://schemas.microsoft.com/office/drawing/2014/main" val="1328943202"/>
                    </a:ext>
                  </a:extLst>
                </a:gridCol>
                <a:gridCol w="931380">
                  <a:extLst>
                    <a:ext uri="{9D8B030D-6E8A-4147-A177-3AD203B41FA5}">
                      <a16:colId xmlns:a16="http://schemas.microsoft.com/office/drawing/2014/main" val="1483391695"/>
                    </a:ext>
                  </a:extLst>
                </a:gridCol>
                <a:gridCol w="931380">
                  <a:extLst>
                    <a:ext uri="{9D8B030D-6E8A-4147-A177-3AD203B41FA5}">
                      <a16:colId xmlns:a16="http://schemas.microsoft.com/office/drawing/2014/main" val="1470825992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Place / 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Bruno</a:t>
                      </a:r>
                    </a:p>
                    <a:p>
                      <a:pPr algn="ctr"/>
                      <a:r>
                        <a:rPr lang="en-US" sz="1400" noProof="0" dirty="0"/>
                        <a:t>1221514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Miguel</a:t>
                      </a:r>
                    </a:p>
                    <a:p>
                      <a:pPr algn="ctr"/>
                      <a:r>
                        <a:rPr lang="en-US" sz="1400" noProof="0" dirty="0"/>
                        <a:t>1221119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Vitor</a:t>
                      </a:r>
                    </a:p>
                    <a:p>
                      <a:pPr algn="ctr"/>
                      <a:r>
                        <a:rPr lang="en-US" sz="1400" noProof="0" dirty="0"/>
                        <a:t>1240580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Tomás 1240590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Tiago 1241707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Jorge</a:t>
                      </a:r>
                    </a:p>
                    <a:p>
                      <a:pPr algn="ctr"/>
                      <a:r>
                        <a:rPr lang="en-US" sz="1400" noProof="0" dirty="0"/>
                        <a:t>1220838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Eduardo1190546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19/11/2024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113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20/11/2024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6073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21/11/2024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5143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22/11/2024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 err="1"/>
                        <a:t>Class</a:t>
                      </a:r>
                      <a:r>
                        <a:rPr lang="pt-PT" dirty="0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766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851376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Date:25/11/2024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250869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well?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Group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Good practice of 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Comunication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9FD58-6876-4E87-998E-ACA36985B86E}"/>
              </a:ext>
            </a:extLst>
          </p:cNvPr>
          <p:cNvSpPr/>
          <p:nvPr/>
        </p:nvSpPr>
        <p:spPr>
          <a:xfrm>
            <a:off x="3480763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Don’ write </a:t>
            </a:r>
            <a:r>
              <a:rPr lang="en-US" sz="1400" dirty="0" err="1">
                <a:solidFill>
                  <a:schemeClr val="tx1"/>
                </a:solidFill>
              </a:rPr>
              <a:t>dailys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Better planning of the sprint to manage time for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Wrong using of board and milestones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E455-F8DD-4DEF-9E49-A26421870FC1}"/>
              </a:ext>
            </a:extLst>
          </p:cNvPr>
          <p:cNvSpPr/>
          <p:nvPr/>
        </p:nvSpPr>
        <p:spPr>
          <a:xfrm>
            <a:off x="6708195" y="2528900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we’ve learned?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 sprint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 time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 </a:t>
            </a:r>
            <a:r>
              <a:rPr lang="en-US" sz="1400" dirty="0" err="1">
                <a:solidFill>
                  <a:schemeClr val="tx1"/>
                </a:solidFill>
              </a:rPr>
              <a:t>dailys</a:t>
            </a:r>
            <a:r>
              <a:rPr lang="en-US" sz="1400" dirty="0">
                <a:solidFill>
                  <a:schemeClr val="tx1"/>
                </a:solidFill>
              </a:rPr>
              <a:t> and better using of board and milestones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254882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60AF2-FD58-E72D-83EF-8D677D3A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B14FF8A-C42A-CC9A-74C2-35EE9425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5E1F438-0539-98F5-D50A-436650EA9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416E1C-4950-D71D-123A-F724531983DC}"/>
              </a:ext>
            </a:extLst>
          </p:cNvPr>
          <p:cNvSpPr/>
          <p:nvPr/>
        </p:nvSpPr>
        <p:spPr>
          <a:xfrm>
            <a:off x="448801" y="2393886"/>
            <a:ext cx="9008400" cy="38254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>
                <a:solidFill>
                  <a:schemeClr val="tx1"/>
                </a:solidFill>
              </a:rPr>
              <a:t>Action items: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4" name="Imagem 3" descr="Uma imagem com texto, file, Gráfico, diagrama&#10;&#10;Descrição gerada automaticamente">
            <a:extLst>
              <a:ext uri="{FF2B5EF4-FFF2-40B4-BE49-F238E27FC236}">
                <a16:creationId xmlns:a16="http://schemas.microsoft.com/office/drawing/2014/main" id="{427BEAE3-1E59-490C-8634-25F15FB5EC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614" y="2413644"/>
            <a:ext cx="6382554" cy="380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7918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am work">
            <a:extLst>
              <a:ext uri="{FF2B5EF4-FFF2-40B4-BE49-F238E27FC236}">
                <a16:creationId xmlns:a16="http://schemas.microsoft.com/office/drawing/2014/main" id="{63305713-9999-B782-17EA-DC85021DE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9"/>
          <a:stretch/>
        </p:blipFill>
        <p:spPr bwMode="auto">
          <a:xfrm>
            <a:off x="0" y="947824"/>
            <a:ext cx="9906000" cy="591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ISEP">
  <a:themeElements>
    <a:clrScheme name="Laranja-avermelhad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04904d-c619-4467-a32f-09812827fd8e">
      <Terms xmlns="http://schemas.microsoft.com/office/infopath/2007/PartnerControls"/>
    </lcf76f155ced4ddcb4097134ff3c332f>
    <TaxCatchAll xmlns="b4fdeaeb-cd21-48a0-91d3-a71b662e0a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A52B1E44048D8469E872E4EAE2C3404" ma:contentTypeVersion="11" ma:contentTypeDescription="Criar um novo documento." ma:contentTypeScope="" ma:versionID="5d6bea2526e958e85fe4b0fdb202b19b">
  <xsd:schema xmlns:xsd="http://www.w3.org/2001/XMLSchema" xmlns:xs="http://www.w3.org/2001/XMLSchema" xmlns:p="http://schemas.microsoft.com/office/2006/metadata/properties" xmlns:ns2="ed04904d-c619-4467-a32f-09812827fd8e" xmlns:ns3="b4fdeaeb-cd21-48a0-91d3-a71b662e0a05" targetNamespace="http://schemas.microsoft.com/office/2006/metadata/properties" ma:root="true" ma:fieldsID="bffbf4134176b596353c185a581a363d" ns2:_="" ns3:_="">
    <xsd:import namespace="ed04904d-c619-4467-a32f-09812827fd8e"/>
    <xsd:import namespace="b4fdeaeb-cd21-48a0-91d3-a71b662e0a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04904d-c619-4467-a32f-09812827fd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abd39c20-4416-4a86-a41d-df69d8f2de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eaeb-cd21-48a0-91d3-a71b662e0a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15ae7b-29a8-45ec-b859-842c81a716b0}" ma:internalName="TaxCatchAll" ma:showField="CatchAllData" ma:web="b4fdeaeb-cd21-48a0-91d3-a71b662e0a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B87164-EF5F-43C8-917E-48B38ACAFD1E}">
  <ds:schemaRefs>
    <ds:schemaRef ds:uri="http://schemas.openxmlformats.org/package/2006/metadata/core-properties"/>
    <ds:schemaRef ds:uri="http://purl.org/dc/elements/1.1/"/>
    <ds:schemaRef ds:uri="b4fdeaeb-cd21-48a0-91d3-a71b662e0a0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ed04904d-c619-4467-a32f-09812827fd8e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F984168-AABC-4753-B4EC-59CA9D0883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3706E8-7DEF-45BC-8335-95BA84D3C3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04904d-c619-4467-a32f-09812827fd8e"/>
    <ds:schemaRef ds:uri="b4fdeaeb-cd21-48a0-91d3-a71b662e0a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5269</TotalTime>
  <Words>670</Words>
  <Application>Microsoft Office PowerPoint</Application>
  <PresentationFormat>Papel A4 (210x297 mm)</PresentationFormat>
  <Paragraphs>343</Paragraphs>
  <Slides>14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8" baseType="lpstr">
      <vt:lpstr>Arial</vt:lpstr>
      <vt:lpstr>Calibri</vt:lpstr>
      <vt:lpstr>Kozuka Gothic Pro M</vt:lpstr>
      <vt:lpstr>1_ISEP</vt:lpstr>
      <vt:lpstr>Class 2DO Group 152 SPRINT 2</vt:lpstr>
      <vt:lpstr>Sprint planning – Sprint 1</vt:lpstr>
      <vt:lpstr>Sprint planning</vt:lpstr>
      <vt:lpstr>Sprint planning</vt:lpstr>
      <vt:lpstr>Sprint planning</vt:lpstr>
      <vt:lpstr>Sprint planning</vt:lpstr>
      <vt:lpstr>Work by team member</vt:lpstr>
      <vt:lpstr>Work by type</vt:lpstr>
      <vt:lpstr>Issues / Assumptions / unanswered questions</vt:lpstr>
      <vt:lpstr>Daily Meetings</vt:lpstr>
      <vt:lpstr>Daily Meetings</vt:lpstr>
      <vt:lpstr>Sprint Retrospective</vt:lpstr>
      <vt:lpstr>Sprint Retrospective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lastModifiedBy>Bruno Miguel Da Silva</cp:lastModifiedBy>
  <cp:revision>472</cp:revision>
  <dcterms:created xsi:type="dcterms:W3CDTF">2010-10-20T15:48:12Z</dcterms:created>
  <dcterms:modified xsi:type="dcterms:W3CDTF">2024-11-25T22:16:17Z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0x010100BA52B1E44048D8469E872E4EAE2C3404</vt:lpwstr>
  </property>
  <property fmtid="{D5CDD505-2E9C-101B-9397-08002B2CF9AE}" pid="3" name="MediaServiceImageTags">
    <vt:lpwstr/>
  </property>
</Properties>
</file>