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modernComment_1A0_0.xml" ContentType="application/vnd.ms-powerpoint.comments+xml"/>
  <Override PartName="/ppt/comments/modernComment_199_E8DB507.xml" ContentType="application/vnd.ms-powerpoint.comments+xml"/>
  <Override PartName="/ppt/comments/modernComment_194_F8C0A913.xml" ContentType="application/vnd.ms-powerpoint.comments+xml"/>
  <Override PartName="/ppt/comments/modernComment_1A1_3A455CBA.xml" ContentType="application/vnd.ms-powerpoint.comments+xml"/>
  <Override PartName="/ppt/comments/modernComment_196_73C95D57.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97_300F0B25.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9B_4BDE2BB0.xml" ContentType="application/vnd.ms-powerpoint.comments+xml"/>
  <Override PartName="/ppt/comments/modernComment_1A2_CE3ADD7.xml" ContentType="application/vnd.ms-powerpoint.comments+xml"/>
  <Override PartName="/ppt/comments/modernComment_19A_18A78E8B.xml" ContentType="application/vnd.ms-powerpoint.comments+xml"/>
  <Override PartName="/ppt/comments/modernComment_19C_3254ACBA.xml" ContentType="application/vnd.ms-powerpoint.comments+xml"/>
  <Override PartName="/ppt/comments/modernComment_19E_492D5C77.xml" ContentType="application/vnd.ms-powerpoint.comments+xml"/>
  <Override PartName="/ppt/comments/modernComment_18E_C1BAF422.xml" ContentType="application/vnd.ms-powerpoint.comments+xml"/>
  <Override PartName="/ppt/comments/modernComment_19D_E1DEDD0F.xml" ContentType="application/vnd.ms-powerpoint.comments+xml"/>
  <Override PartName="/ppt/notesSlides/notesSlide1.xml" ContentType="application/vnd.openxmlformats-officedocument.presentationml.notesSlide+xml"/>
  <Override PartName="/ppt/comments/modernComment_195_4E28A3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1"/>
  </p:notesMasterIdLst>
  <p:sldIdLst>
    <p:sldId id="416" r:id="rId5"/>
    <p:sldId id="409" r:id="rId6"/>
    <p:sldId id="404" r:id="rId7"/>
    <p:sldId id="417" r:id="rId8"/>
    <p:sldId id="406" r:id="rId9"/>
    <p:sldId id="407" r:id="rId10"/>
    <p:sldId id="408" r:id="rId11"/>
    <p:sldId id="411" r:id="rId12"/>
    <p:sldId id="418" r:id="rId13"/>
    <p:sldId id="410" r:id="rId14"/>
    <p:sldId id="412" r:id="rId15"/>
    <p:sldId id="414" r:id="rId16"/>
    <p:sldId id="398" r:id="rId17"/>
    <p:sldId id="413" r:id="rId18"/>
    <p:sldId id="405" r:id="rId19"/>
    <p:sldId id="387" r:id="rId20"/>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1A558A-D303-65E2-8988-E9D20194D4E8}" name="Ana Barata" initials="AB" userId="S::abt@isep.ipp.pt::5b353bcc-9c20-4dd6-9ceb-f15a7e5b32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5432"/>
    <a:srgbClr val="404040"/>
    <a:srgbClr val="7F7F7F"/>
    <a:srgbClr val="FF8600"/>
    <a:srgbClr val="FF6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7BA20-CCBE-4643-8DCE-96DEEBC144B9}" v="189" dt="2026-01-04T21:32:49.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38" y="96"/>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a:t>Number</a:t>
            </a:r>
            <a:r>
              <a:rPr lang="pt-PT" baseline="0"/>
              <a:t> of</a:t>
            </a:r>
            <a:r>
              <a:rPr lang="pt-PT"/>
              <a:t> tasks / Hours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 </c:v>
                </c:pt>
              </c:strCache>
            </c:strRef>
          </c:tx>
          <c:spPr>
            <a:solidFill>
              <a:schemeClr val="accent6">
                <a:shade val="76000"/>
              </a:schemeClr>
            </a:solidFill>
            <a:ln>
              <a:noFill/>
            </a:ln>
            <a:effectLst/>
          </c:spPr>
          <c:invertIfNegative val="0"/>
          <c:cat>
            <c:strRef>
              <c:f>Folha1!$A$2:$A$6</c:f>
              <c:strCache>
                <c:ptCount val="5"/>
                <c:pt idx="0">
                  <c:v>Bruno Silva</c:v>
                </c:pt>
                <c:pt idx="1">
                  <c:v>Carlos Almeida</c:v>
                </c:pt>
                <c:pt idx="2">
                  <c:v>Miguel Pinto</c:v>
                </c:pt>
                <c:pt idx="3">
                  <c:v>João Pereira</c:v>
                </c:pt>
                <c:pt idx="4">
                  <c:v>Francisca Paulos</c:v>
                </c:pt>
              </c:strCache>
            </c:strRef>
          </c:cat>
          <c:val>
            <c:numRef>
              <c:f>Folha1!$B$2:$B$6</c:f>
              <c:numCache>
                <c:formatCode>General</c:formatCode>
                <c:ptCount val="5"/>
                <c:pt idx="0">
                  <c:v>14.5</c:v>
                </c:pt>
                <c:pt idx="1">
                  <c:v>45.5</c:v>
                </c:pt>
                <c:pt idx="2">
                  <c:v>26.5</c:v>
                </c:pt>
                <c:pt idx="3">
                  <c:v>28.5</c:v>
                </c:pt>
                <c:pt idx="4">
                  <c:v>27.5</c:v>
                </c:pt>
              </c:numCache>
            </c:numRef>
          </c:val>
          <c:extLst>
            <c:ext xmlns:c16="http://schemas.microsoft.com/office/drawing/2014/chart" uri="{C3380CC4-5D6E-409C-BE32-E72D297353CC}">
              <c16:uniqueId val="{00000000-0486-4A64-B307-80E9A3590427}"/>
            </c:ext>
          </c:extLst>
        </c:ser>
        <c:ser>
          <c:idx val="1"/>
          <c:order val="1"/>
          <c:tx>
            <c:strRef>
              <c:f>Folha1!$C$1</c:f>
              <c:strCache>
                <c:ptCount val="1"/>
                <c:pt idx="0">
                  <c:v>Tarefas</c:v>
                </c:pt>
              </c:strCache>
            </c:strRef>
          </c:tx>
          <c:spPr>
            <a:solidFill>
              <a:schemeClr val="accent6">
                <a:tint val="77000"/>
              </a:schemeClr>
            </a:solidFill>
            <a:ln>
              <a:noFill/>
            </a:ln>
            <a:effectLst/>
          </c:spPr>
          <c:invertIfNegative val="0"/>
          <c:cat>
            <c:strRef>
              <c:f>Folha1!$A$2:$A$6</c:f>
              <c:strCache>
                <c:ptCount val="5"/>
                <c:pt idx="0">
                  <c:v>Bruno Silva</c:v>
                </c:pt>
                <c:pt idx="1">
                  <c:v>Carlos Almeida</c:v>
                </c:pt>
                <c:pt idx="2">
                  <c:v>Miguel Pinto</c:v>
                </c:pt>
                <c:pt idx="3">
                  <c:v>João Pereira</c:v>
                </c:pt>
                <c:pt idx="4">
                  <c:v>Francisca Paulos</c:v>
                </c:pt>
              </c:strCache>
            </c:strRef>
          </c:cat>
          <c:val>
            <c:numRef>
              <c:f>Folha1!$C$2:$C$6</c:f>
              <c:numCache>
                <c:formatCode>General</c:formatCode>
                <c:ptCount val="5"/>
                <c:pt idx="0">
                  <c:v>22</c:v>
                </c:pt>
                <c:pt idx="1">
                  <c:v>23</c:v>
                </c:pt>
                <c:pt idx="2">
                  <c:v>23</c:v>
                </c:pt>
                <c:pt idx="3">
                  <c:v>24</c:v>
                </c:pt>
                <c:pt idx="4">
                  <c:v>22</c:v>
                </c:pt>
              </c:numCache>
            </c:numRef>
          </c:val>
          <c:extLst>
            <c:ext xmlns:c16="http://schemas.microsoft.com/office/drawing/2014/chart" uri="{C3380CC4-5D6E-409C-BE32-E72D297353CC}">
              <c16:uniqueId val="{00000000-EB90-4D2E-A462-81E8D51A4C43}"/>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err="1"/>
              <a:t>Epic</a:t>
            </a:r>
            <a:r>
              <a:rPr lang="pt-PT"/>
              <a:t> </a:t>
            </a:r>
            <a:r>
              <a:rPr lang="pt-PT" err="1"/>
              <a:t>or</a:t>
            </a:r>
            <a:r>
              <a:rPr lang="pt-PT"/>
              <a:t> </a:t>
            </a:r>
            <a:r>
              <a:rPr lang="pt-PT" err="1"/>
              <a:t>Component</a:t>
            </a:r>
            <a:r>
              <a:rPr lang="pt-PT"/>
              <a:t> </a:t>
            </a:r>
            <a:r>
              <a:rPr lang="pt-PT" err="1"/>
              <a:t>or</a:t>
            </a:r>
            <a:r>
              <a:rPr lang="pt-PT"/>
              <a:t> UC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Folha1!$B$1</c:f>
              <c:strCache>
                <c:ptCount val="1"/>
                <c:pt idx="0">
                  <c:v>Componente</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Folha1!$A$2:$A$5</c:f>
              <c:strCache>
                <c:ptCount val="4"/>
                <c:pt idx="0">
                  <c:v>ESINF</c:v>
                </c:pt>
                <c:pt idx="1">
                  <c:v>ARQCP</c:v>
                </c:pt>
                <c:pt idx="2">
                  <c:v>BDADD</c:v>
                </c:pt>
                <c:pt idx="3">
                  <c:v>LAPR3</c:v>
                </c:pt>
              </c:strCache>
            </c:strRef>
          </c:cat>
          <c:val>
            <c:numRef>
              <c:f>Folha1!$B$2:$B$5</c:f>
              <c:numCache>
                <c:formatCode>General</c:formatCode>
                <c:ptCount val="4"/>
                <c:pt idx="0">
                  <c:v>3</c:v>
                </c:pt>
                <c:pt idx="1">
                  <c:v>6</c:v>
                </c:pt>
                <c:pt idx="2">
                  <c:v>7</c:v>
                </c:pt>
                <c:pt idx="3">
                  <c:v>6</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A0_0.xml><?xml version="1.0" encoding="utf-8"?>
<p188:cmLst xmlns:a="http://schemas.openxmlformats.org/drawingml/2006/main" xmlns:r="http://schemas.openxmlformats.org/officeDocument/2006/relationships" xmlns:p188="http://schemas.microsoft.com/office/powerpoint/2018/8/main">
  <p188:cm id="{5A05288D-53D7-4485-9EC0-C6B72816DB2A}" authorId="{6C1A558A-D303-65E2-8988-E9D20194D4E8}" created="2024-10-22T15:29:55.765">
    <pc:sldMkLst xmlns:pc="http://schemas.microsoft.com/office/powerpoint/2013/main/command">
      <pc:docMk/>
      <pc:sldMk cId="0" sldId="295"/>
    </pc:sldMkLst>
    <p188:txBody>
      <a:bodyPr/>
      <a:lstStyle/>
      <a:p>
        <a:r>
          <a:rPr lang="en-US"/>
          <a:t>Team and SPrint identification</a:t>
        </a:r>
      </a:p>
    </p188:txBody>
  </p188:cm>
</p188:cmLst>
</file>

<file path=ppt/comments/modernComment_1A1_3A455CBA.xml><?xml version="1.0" encoding="utf-8"?>
<p188:cmLst xmlns:a="http://schemas.openxmlformats.org/drawingml/2006/main" xmlns:r="http://schemas.openxmlformats.org/officeDocument/2006/relationships" xmlns:p188="http://schemas.microsoft.com/office/powerpoint/2018/8/main">
  <p188:cm id="{A150B652-0397-4507-A5B3-627FE37827E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A2_CE3ADD7.xml><?xml version="1.0" encoding="utf-8"?>
<p188:cmLst xmlns:a="http://schemas.openxmlformats.org/drawingml/2006/main" xmlns:r="http://schemas.openxmlformats.org/officeDocument/2006/relationships" xmlns:p188="http://schemas.microsoft.com/office/powerpoint/2018/8/main">
  <p188:cm id="{E3215CBC-4839-4F43-9B19-A7FFD736E13D}"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8E_C1BAF422.xml><?xml version="1.0" encoding="utf-8"?>
<p188:cmLst xmlns:a="http://schemas.openxmlformats.org/drawingml/2006/main" xmlns:r="http://schemas.openxmlformats.org/officeDocument/2006/relationships" xmlns:p188="http://schemas.microsoft.com/office/powerpoint/2018/8/main">
  <p188:cm id="{4607405B-E940-4B98-95CF-CA4CDB891EB4}" authorId="{6C1A558A-D303-65E2-8988-E9D20194D4E8}" created="2025-11-18T14:25:17.707">
    <pc:sldMkLst xmlns:pc="http://schemas.microsoft.com/office/powerpoint/2013/main/command">
      <pc:docMk/>
      <pc:sldMk cId="3250254882" sldId="398"/>
    </pc:sldMkLst>
    <p188:txBody>
      <a:bodyPr/>
      <a:lstStyle/>
      <a:p>
        <a:r>
          <a:rPr lang="en-GB"/>
          <a:t>Team perspective.</a:t>
        </a:r>
      </a:p>
    </p188:txBody>
  </p188:cm>
</p188:cmLst>
</file>

<file path=ppt/comments/modernComment_19A_18A78E8B.xml><?xml version="1.0" encoding="utf-8"?>
<p188:cmLst xmlns:a="http://schemas.openxmlformats.org/drawingml/2006/main" xmlns:r="http://schemas.openxmlformats.org/officeDocument/2006/relationships" xmlns:p188="http://schemas.microsoft.com/office/powerpoint/2018/8/main">
  <p188:cm id="{C8F11B5E-A96B-481B-8CB0-A7B8AF14F672}" authorId="{6C1A558A-D303-65E2-8988-E9D20194D4E8}" created="2024-10-22T15:32:15.800">
    <pc:sldMkLst xmlns:pc="http://schemas.microsoft.com/office/powerpoint/2013/main/command">
      <pc:docMk/>
      <pc:sldMk cId="413634187" sldId="410"/>
    </pc:sldMkLst>
    <p188:txBody>
      <a:bodyPr/>
      <a:lstStyle/>
      <a:p>
        <a:r>
          <a:rPr lang="en-GB"/>
          <a:t>To analyse the information registered on the board, from issues to daily meetings, and each team member's performance, and compare it with your own perspective.</a:t>
        </a:r>
      </a:p>
    </p188:txBody>
  </p188:cm>
  <p188:cm id="{04799842-737E-4B2F-88FC-09EA045D1B06}" authorId="{6C1A558A-D303-65E2-8988-E9D20194D4E8}" created="2025-11-18T14:11:19.118">
    <ac:txMkLst xmlns:ac="http://schemas.microsoft.com/office/drawing/2013/main/command">
      <pc:docMk xmlns:pc="http://schemas.microsoft.com/office/powerpoint/2013/main/command"/>
      <pc:sldMk xmlns:pc="http://schemas.microsoft.com/office/powerpoint/2013/main/command" cId="413634187" sldId="410"/>
      <ac:spMk id="2" creationId="{7856DF50-9E5E-4610-FEB2-C4A38022FCFD}"/>
      <ac:txMk cp="0" len="44">
        <ac:context len="386" hash="4272445"/>
      </ac:txMk>
    </ac:txMkLst>
    <p188:pos x="4527646" y="300009"/>
    <p188:replyLst>
      <p188:reply id="{7C358038-2EFE-4FD9-AACE-A16B19CFCAEA}" authorId="{6C1A558A-D303-65E2-8988-E9D20194D4E8}" created="2025-11-18T14:13:29.820">
        <p188:txBody>
          <a:bodyPr/>
          <a:lstStyle/>
          <a:p>
            <a:r>
              <a:rPr lang="en-GB"/>
              <a:t>Include the source file(s) for all the prompts as an attachment or write down the prompt you used.</a:t>
            </a:r>
          </a:p>
        </p188:txBody>
      </p188:reply>
    </p188:replyLst>
    <p188:txBody>
      <a:bodyPr/>
      <a:lstStyle/>
      <a:p>
        <a:r>
          <a:rPr lang="en-GB"/>
          <a:t>Ask LLM to analyse the daily meetings, and to write a summary evaluating each team member, and for the overall group performance.</a:t>
        </a:r>
      </a:p>
    </p188:txBody>
  </p188:cm>
</p188:cmLst>
</file>

<file path=ppt/comments/modernComment_19B_4BDE2BB0.xml><?xml version="1.0" encoding="utf-8"?>
<p188:cmLst xmlns:a="http://schemas.openxmlformats.org/drawingml/2006/main" xmlns:r="http://schemas.openxmlformats.org/officeDocument/2006/relationships" xmlns:p188="http://schemas.microsoft.com/office/powerpoint/2018/8/main">
  <p188:cm id="{A070780B-DB84-4A97-8599-8F8407629B8F}"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9C_3254ACBA.xml><?xml version="1.0" encoding="utf-8"?>
<p188:cmLst xmlns:a="http://schemas.openxmlformats.org/drawingml/2006/main" xmlns:r="http://schemas.openxmlformats.org/officeDocument/2006/relationships" xmlns:p188="http://schemas.microsoft.com/office/powerpoint/2018/8/main">
  <p188:cm id="{42E0F32F-B25D-47AC-9887-88A5AA729FD1}" authorId="{6C1A558A-D303-65E2-8988-E9D20194D4E8}" created="2025-11-18T14:15:36.188">
    <ac:txMkLst xmlns:ac="http://schemas.microsoft.com/office/drawing/2013/main/command">
      <pc:docMk xmlns:pc="http://schemas.microsoft.com/office/powerpoint/2013/main/command"/>
      <pc:sldMk xmlns:pc="http://schemas.microsoft.com/office/powerpoint/2013/main/command" cId="844410042" sldId="412"/>
      <ac:spMk id="3" creationId="{41914A20-7452-6770-365F-62A72A9E05A5}"/>
      <ac:txMk cp="0" len="12">
        <ac:context len="795" hash="1126094562"/>
      </ac:txMk>
    </ac:txMkLst>
    <p188:pos x="1326877" y="294628"/>
    <p188:txBody>
      <a:bodyPr/>
      <a:lstStyle/>
      <a:p>
        <a:r>
          <a:rPr lang="en-GB"/>
          <a:t>Include the complete file generated by the A.I. attached to the Report.</a:t>
        </a:r>
      </a:p>
    </p188:txBody>
  </p188:cm>
  <p188:cm id="{15F74BEC-7A85-4342-BC2E-63549E73A1F1}" authorId="{6C1A558A-D303-65E2-8988-E9D20194D4E8}" created="2025-11-18T14:16:43.107">
    <ac:txMkLst xmlns:ac="http://schemas.microsoft.com/office/drawing/2013/main/command">
      <pc:docMk xmlns:pc="http://schemas.microsoft.com/office/powerpoint/2013/main/command"/>
      <pc:sldMk xmlns:pc="http://schemas.microsoft.com/office/powerpoint/2013/main/command" cId="844410042" sldId="412"/>
      <ac:spMk id="3" creationId="{41914A20-7452-6770-365F-62A72A9E05A5}"/>
      <ac:txMk cp="109" len="6">
        <ac:context len="795" hash="1126094562"/>
      </ac:txMk>
    </ac:txMkLst>
    <p188:pos x="878469" y="1209028"/>
    <p188:txBody>
      <a:bodyPr/>
      <a:lstStyle/>
      <a:p>
        <a:r>
          <a:rPr lang="en-GB"/>
          <a:t>Considering the A.I. output, write one or two sentences for each team member.</a:t>
        </a:r>
      </a:p>
    </p188:txBody>
  </p188:cm>
</p188:cmLst>
</file>

<file path=ppt/comments/modernComment_19D_E1DEDD0F.xml><?xml version="1.0" encoding="utf-8"?>
<p188:cmLst xmlns:a="http://schemas.openxmlformats.org/drawingml/2006/main" xmlns:r="http://schemas.openxmlformats.org/officeDocument/2006/relationships" xmlns:p188="http://schemas.microsoft.com/office/powerpoint/2018/8/main">
  <p188:cm id="{A0A5048C-38B4-4DBB-A2CD-9FD4AECDF942}" authorId="{6C1A558A-D303-65E2-8988-E9D20194D4E8}" created="2025-11-18T14:27:50.665">
    <pc:sldMkLst xmlns:pc="http://schemas.microsoft.com/office/powerpoint/2013/main/command">
      <pc:docMk/>
      <pc:sldMk cId="3789479183" sldId="413"/>
    </pc:sldMkLst>
    <p188:txBody>
      <a:bodyPr/>
      <a:lstStyle/>
      <a:p>
        <a:r>
          <a:rPr lang="en-GB"/>
          <a:t>Team decisions regarding management-and-performance-related actions to implement in the following sprint - what the team decides to do to improve the work and performance.</a:t>
        </a:r>
      </a:p>
    </p188:txBody>
  </p188:cm>
</p188:cmLst>
</file>

<file path=ppt/comments/modernComment_19E_492D5C77.xml><?xml version="1.0" encoding="utf-8"?>
<p188:cmLst xmlns:a="http://schemas.openxmlformats.org/drawingml/2006/main" xmlns:r="http://schemas.openxmlformats.org/officeDocument/2006/relationships" xmlns:p188="http://schemas.microsoft.com/office/powerpoint/2018/8/main">
  <p188:cm id="{41EFBD6F-9E35-4A08-A4A7-AC9DA9DBE287}" authorId="{6C1A558A-D303-65E2-8988-E9D20194D4E8}" created="2025-11-18T14:20:38.039">
    <ac:txMkLst xmlns:ac="http://schemas.microsoft.com/office/drawing/2013/main/command">
      <pc:docMk xmlns:pc="http://schemas.microsoft.com/office/powerpoint/2013/main/command"/>
      <pc:sldMk xmlns:pc="http://schemas.microsoft.com/office/powerpoint/2013/main/command" cId="1227709559" sldId="414"/>
      <ac:spMk id="3" creationId="{26E8AA96-E4FE-2D1F-50B5-1C90B137D285}"/>
      <ac:txMk cp="0" len="43">
        <ac:context len="456" hash="2383864882"/>
      </ac:txMk>
    </ac:txMkLst>
    <p188:pos x="5151531" y="294628"/>
    <p188:replyLst>
      <p188:reply id="{84D0B6DB-D87B-4307-83DB-AA9FFBDC45C5}" authorId="{6C1A558A-D303-65E2-8988-E9D20194D4E8}" created="2025-11-18T14:20:56.202">
        <p188:txBody>
          <a:bodyPr/>
          <a:lstStyle/>
          <a:p>
            <a:r>
              <a:rPr lang="en-GB"/>
              <a:t>Be honest, straightforward, clear.</a:t>
            </a:r>
          </a:p>
        </p188:txBody>
      </p188:reply>
    </p188:replyLst>
    <p188:txBody>
      <a:bodyPr/>
      <a:lstStyle/>
      <a:p>
        <a:r>
          <a:rPr lang="en-GB"/>
          <a:t>Comment(s) from the team about the LLM assessment.</a:t>
        </a:r>
      </a:p>
    </p188:txBody>
  </p188:cm>
  <p188:cm id="{A05D0E2E-F0A3-468E-9252-5D486B8205B7}" authorId="{6C1A558A-D303-65E2-8988-E9D20194D4E8}" created="2025-11-18T14:24:44.211">
    <ac:deMkLst xmlns:ac="http://schemas.microsoft.com/office/drawing/2013/main/command">
      <pc:docMk xmlns:pc="http://schemas.microsoft.com/office/powerpoint/2013/main/command"/>
      <pc:sldMk xmlns:pc="http://schemas.microsoft.com/office/powerpoint/2013/main/command" cId="1227709559" sldId="414"/>
      <ac:spMk id="3" creationId="{26E8AA96-E4FE-2D1F-50B5-1C90B137D285}"/>
    </ac:deMkLst>
    <p188:txBody>
      <a:bodyPr/>
      <a:lstStyle/>
      <a:p>
        <a:r>
          <a:rPr lang="en-GB"/>
          <a:t>Ask the LLM to suggest ways to improve team performance.
Register the input.</a:t>
        </a:r>
      </a:p>
    </p188:txBody>
  </p188:cm>
</p188:cmLst>
</file>

<file path=ppt/comments/modernComment_194_F8C0A913.xml><?xml version="1.0" encoding="utf-8"?>
<p188:cmLst xmlns:a="http://schemas.openxmlformats.org/drawingml/2006/main" xmlns:r="http://schemas.openxmlformats.org/officeDocument/2006/relationships" xmlns:p188="http://schemas.microsoft.com/office/powerpoint/2018/8/main">
  <p188:cm id="{0B49A45F-1BB2-4EE9-9AC3-E3FE75BDA40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5_4E28A34.xml><?xml version="1.0" encoding="utf-8"?>
<p188:cmLst xmlns:a="http://schemas.openxmlformats.org/drawingml/2006/main" xmlns:r="http://schemas.openxmlformats.org/officeDocument/2006/relationships" xmlns:p188="http://schemas.microsoft.com/office/powerpoint/2018/8/main">
  <p188:cm id="{C03E0C3C-4021-4A5B-BC00-32E823C80B52}" authorId="{6C1A558A-D303-65E2-8988-E9D20194D4E8}" created="2025-11-18T14:37:56.861">
    <ac:txMkLst xmlns:ac="http://schemas.microsoft.com/office/drawing/2013/main/command">
      <pc:docMk xmlns:pc="http://schemas.microsoft.com/office/powerpoint/2013/main/command"/>
      <pc:sldMk xmlns:pc="http://schemas.microsoft.com/office/powerpoint/2013/main/command" cId="81955380" sldId="405"/>
      <ac:spMk id="2" creationId="{EEE97808-B786-5C10-6A83-416F88B5C6D2}"/>
      <ac:txMk cp="0" len="15">
        <ac:context len="64" hash="2237324379"/>
      </ac:txMk>
    </ac:txMkLst>
    <p188:pos x="1990524" y="665277"/>
    <p188:txBody>
      <a:bodyPr/>
      <a:lstStyle/>
      <a:p>
        <a:r>
          <a:rPr lang="en-GB"/>
          <a:t>Ask the LLM to evaluate the team performance, considering a value from 0 to 5, using intermediate values (e.g., 4.3), and to write a sentence commenting on the evaluation.</a:t>
        </a:r>
      </a:p>
    </p188:txBody>
  </p188:cm>
  <p188:cm id="{F17D478A-07EA-497A-B66D-2884170B6418}" authorId="{6C1A558A-D303-65E2-8988-E9D20194D4E8}" created="2025-11-18T14:40:06.286">
    <ac:txMkLst xmlns:ac="http://schemas.microsoft.com/office/drawing/2013/main/command">
      <pc:docMk xmlns:pc="http://schemas.microsoft.com/office/powerpoint/2013/main/command"/>
      <pc:sldMk xmlns:pc="http://schemas.microsoft.com/office/powerpoint/2013/main/command" cId="81955380" sldId="405"/>
      <ac:spMk id="2" creationId="{EEE97808-B786-5C10-6A83-416F88B5C6D2}"/>
      <ac:txMk cp="27" len="10">
        <ac:context len="64" hash="2237324379"/>
      </ac:txMk>
    </ac:txMkLst>
    <p188:pos x="1968900" y="1362958"/>
    <p188:txBody>
      <a:bodyPr/>
      <a:lstStyle/>
      <a:p>
        <a:r>
          <a:rPr lang="en-GB"/>
          <a:t>Include your team evaluation average. Use the team and self-assessment file information for this item.</a:t>
        </a:r>
      </a:p>
    </p188:txBody>
  </p188:cm>
</p188:cmLst>
</file>

<file path=ppt/comments/modernComment_196_73C95D57.xml><?xml version="1.0" encoding="utf-8"?>
<p188:cmLst xmlns:a="http://schemas.openxmlformats.org/drawingml/2006/main" xmlns:r="http://schemas.openxmlformats.org/officeDocument/2006/relationships" xmlns:p188="http://schemas.microsoft.com/office/powerpoint/2018/8/main">
  <p188:cm id="{33B10A50-E342-46B1-8A21-69A1F6A00AA6}" authorId="{6C1A558A-D303-65E2-8988-E9D20194D4E8}" created="2024-10-22T15:28:37.653">
    <pc:sldMkLst xmlns:pc="http://schemas.microsoft.com/office/powerpoint/2013/main/command">
      <pc:docMk/>
      <pc:sldMk cId="1942576471" sldId="406"/>
    </pc:sldMkLst>
    <p188:txBody>
      <a:bodyPr/>
      <a:lstStyle/>
      <a:p>
        <a:r>
          <a:rPr lang="en-GB"/>
          <a:t>Este gráfico é apenas um exemplo. 
Devem retirar a informação a partir do menu "insights" no vosso repositório.
Formatem um tipo de gráfico que permita expor o número de tarefas atribuídas e executadas por cada elemento da equipa. Podem incluir todos os elementos, mesmo os que não estão em LAPR3.</a:t>
        </a:r>
      </a:p>
    </p188:txBody>
  </p188:cm>
</p188:cmLst>
</file>

<file path=ppt/comments/modernComment_197_300F0B25.xml><?xml version="1.0" encoding="utf-8"?>
<p188:cmLst xmlns:a="http://schemas.openxmlformats.org/drawingml/2006/main" xmlns:r="http://schemas.openxmlformats.org/officeDocument/2006/relationships" xmlns:p188="http://schemas.microsoft.com/office/powerpoint/2018/8/main">
  <p188:cm id="{98DB55F9-AD37-4F54-B79F-128CDD8B7F4B}" authorId="{6C1A558A-D303-65E2-8988-E9D20194D4E8}" created="2024-10-22T15:30:53.219">
    <pc:sldMkLst xmlns:pc="http://schemas.microsoft.com/office/powerpoint/2013/main/command">
      <pc:docMk/>
      <pc:sldMk cId="806292261" sldId="407"/>
    </pc:sldMkLst>
    <p188:txBody>
      <a:bodyPr/>
      <a:lstStyle/>
      <a:p>
        <a:r>
          <a:rPr lang="en-US"/>
          <a:t>May be created using the data from the board - workoad in each component from each team member.</a:t>
        </a:r>
      </a:p>
    </p188:txBody>
  </p188:cm>
</p188:cmLst>
</file>

<file path=ppt/comments/modernComment_199_E8DB507.xml><?xml version="1.0" encoding="utf-8"?>
<p188:cmLst xmlns:a="http://schemas.openxmlformats.org/drawingml/2006/main" xmlns:r="http://schemas.openxmlformats.org/officeDocument/2006/relationships" xmlns:p188="http://schemas.microsoft.com/office/powerpoint/2018/8/main">
  <p188:cm id="{43E5A7E4-8301-4D04-B856-08C35D122170}" authorId="{6C1A558A-D303-65E2-8988-E9D20194D4E8}" created="2024-10-22T15:29:25.154">
    <pc:sldMkLst xmlns:pc="http://schemas.microsoft.com/office/powerpoint/2013/main/command">
      <pc:docMk/>
      <pc:sldMk cId="244167943" sldId="409"/>
    </pc:sldMkLst>
    <p188:txBody>
      <a:bodyPr/>
      <a:lstStyle/>
      <a:p>
        <a:r>
          <a:rPr lang="en-US"/>
          <a:t>According to the information in the board/repository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1/4/2026</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PT" err="1"/>
              <a:t>Add</a:t>
            </a:r>
            <a:r>
              <a:rPr lang="pt-PT"/>
              <a:t> </a:t>
            </a:r>
            <a:r>
              <a:rPr lang="pt-PT" err="1"/>
              <a:t>any</a:t>
            </a:r>
            <a:r>
              <a:rPr lang="pt-PT"/>
              <a:t> slide </a:t>
            </a:r>
            <a:r>
              <a:rPr lang="pt-PT" err="1"/>
              <a:t>you</a:t>
            </a:r>
            <a:r>
              <a:rPr lang="pt-PT"/>
              <a:t> </a:t>
            </a:r>
            <a:r>
              <a:rPr lang="pt-PT" err="1"/>
              <a:t>consider</a:t>
            </a:r>
            <a:r>
              <a:rPr lang="pt-PT"/>
              <a:t> </a:t>
            </a:r>
            <a:r>
              <a:rPr lang="pt-PT" err="1"/>
              <a:t>relevant</a:t>
            </a:r>
            <a:r>
              <a:rPr lang="pt-PT"/>
              <a:t>.</a:t>
            </a:r>
            <a:endParaRPr lang="en-GB"/>
          </a:p>
        </p:txBody>
      </p:sp>
      <p:sp>
        <p:nvSpPr>
          <p:cNvPr id="4" name="Slide Number Placeholder 3"/>
          <p:cNvSpPr>
            <a:spLocks noGrp="1"/>
          </p:cNvSpPr>
          <p:nvPr>
            <p:ph type="sldNum" sz="quarter" idx="5"/>
          </p:nvPr>
        </p:nvSpPr>
        <p:spPr/>
        <p:txBody>
          <a:bodyPr/>
          <a:lstStyle/>
          <a:p>
            <a:fld id="{FC1B708B-99F0-4F4A-8995-6044E0FFF0C7}" type="slidenum">
              <a:rPr lang="pt-PT" smtClean="0"/>
              <a:pPr/>
              <a:t>15</a:t>
            </a:fld>
            <a:endParaRPr lang="pt-PT"/>
          </a:p>
        </p:txBody>
      </p:sp>
    </p:spTree>
    <p:extLst>
      <p:ext uri="{BB962C8B-B14F-4D97-AF65-F5344CB8AC3E}">
        <p14:creationId xmlns:p14="http://schemas.microsoft.com/office/powerpoint/2010/main" val="2027193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04/01/2026</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04/01/2026</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04/01/2026</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04/01/2026</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a:t>Segundo nível</a:t>
            </a:r>
          </a:p>
          <a:p>
            <a:pPr lvl="2"/>
            <a:r>
              <a:rPr lang="pt-PT"/>
              <a:t>Terceiro nível</a:t>
            </a:r>
          </a:p>
          <a:p>
            <a:pPr lvl="3"/>
            <a:r>
              <a:rPr lang="pt-PT"/>
              <a:t>Quarto nível</a:t>
            </a:r>
          </a:p>
          <a:p>
            <a:pPr lvl="4"/>
            <a:r>
              <a:rPr lang="pt-PT"/>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microsoft.com/office/2018/10/relationships/comments" Target="../comments/modernComment_1A0_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microsoft.com/office/2018/10/relationships/comments" Target="../comments/modernComment_199_E8DB50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94_F8C0A91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A1_3A455CBA.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96_73C95D57.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197_300F0B2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9B_4BDE2BB0.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A2_CE3ADD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9A_18A78E8B.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9C_3254ACBA.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9E_492D5C7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8E_C1BAF42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9D_E1DEDD0F.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95_4E28A34.xm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99002" y="2326395"/>
            <a:ext cx="8505945" cy="571503"/>
          </a:xfrm>
        </p:spPr>
        <p:txBody>
          <a:bodyPr/>
          <a:lstStyle/>
          <a:p>
            <a:pPr algn="ctr"/>
            <a:r>
              <a:rPr lang="en-US" sz="3200" kern="1200">
                <a:solidFill>
                  <a:schemeClr val="tx1"/>
                </a:solidFill>
                <a:latin typeface="+mn-lt"/>
                <a:ea typeface="+mn-ea"/>
                <a:cs typeface="+mn-cs"/>
              </a:rPr>
              <a:t>Logistic On Rails - </a:t>
            </a:r>
            <a:r>
              <a:rPr lang="en-US" sz="3200" b="1" kern="1200">
                <a:solidFill>
                  <a:schemeClr val="tx1"/>
                </a:solidFill>
              </a:rPr>
              <a:t>SPRINT 3</a:t>
            </a:r>
            <a:br>
              <a:rPr lang="en-US" sz="3200" kern="1200">
                <a:solidFill>
                  <a:schemeClr val="tx1"/>
                </a:solidFill>
                <a:latin typeface="+mn-lt"/>
                <a:ea typeface="+mn-ea"/>
                <a:cs typeface="+mn-cs"/>
              </a:rPr>
            </a:br>
            <a:br>
              <a:rPr lang="en-US" sz="3200" kern="1200">
                <a:solidFill>
                  <a:schemeClr val="tx1"/>
                </a:solidFill>
                <a:latin typeface="+mn-lt"/>
                <a:ea typeface="+mn-ea"/>
                <a:cs typeface="+mn-cs"/>
              </a:rPr>
            </a:br>
            <a:r>
              <a:rPr lang="en-US" sz="3200" kern="1200">
                <a:solidFill>
                  <a:schemeClr val="tx1"/>
                </a:solidFill>
                <a:latin typeface="+mn-lt"/>
                <a:ea typeface="+mn-ea"/>
                <a:cs typeface="+mn-cs"/>
              </a:rPr>
              <a:t>G075</a:t>
            </a:r>
            <a:endParaRPr lang="en-US" sz="3200" b="1">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857221" y="1536660"/>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en-US" sz="3200" kern="0">
                <a:solidFill>
                  <a:schemeClr val="tx1"/>
                </a:solidFill>
                <a:latin typeface="+mn-lt"/>
                <a:ea typeface="+mn-ea"/>
                <a:cs typeface="+mn-cs"/>
              </a:rPr>
              <a:t>LAPR3 2025/2026</a:t>
            </a:r>
            <a:endParaRPr lang="en-US" sz="3200" kern="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nvGraphicFramePr>
        <p:xfrm>
          <a:off x="339645" y="3944771"/>
          <a:ext cx="9228475" cy="1980220"/>
        </p:xfrm>
        <a:graphic>
          <a:graphicData uri="http://schemas.openxmlformats.org/drawingml/2006/table">
            <a:tbl>
              <a:tblPr firstRow="1" bandRow="1">
                <a:tableStyleId>{93296810-A885-4BE3-A3E7-6D5BEEA58F35}</a:tableStyleId>
              </a:tblPr>
              <a:tblGrid>
                <a:gridCol w="1845695">
                  <a:extLst>
                    <a:ext uri="{9D8B030D-6E8A-4147-A177-3AD203B41FA5}">
                      <a16:colId xmlns:a16="http://schemas.microsoft.com/office/drawing/2014/main" val="1786404924"/>
                    </a:ext>
                  </a:extLst>
                </a:gridCol>
                <a:gridCol w="1845695">
                  <a:extLst>
                    <a:ext uri="{9D8B030D-6E8A-4147-A177-3AD203B41FA5}">
                      <a16:colId xmlns:a16="http://schemas.microsoft.com/office/drawing/2014/main" val="3388003712"/>
                    </a:ext>
                  </a:extLst>
                </a:gridCol>
                <a:gridCol w="1845695">
                  <a:extLst>
                    <a:ext uri="{9D8B030D-6E8A-4147-A177-3AD203B41FA5}">
                      <a16:colId xmlns:a16="http://schemas.microsoft.com/office/drawing/2014/main" val="3217887647"/>
                    </a:ext>
                  </a:extLst>
                </a:gridCol>
                <a:gridCol w="1845695">
                  <a:extLst>
                    <a:ext uri="{9D8B030D-6E8A-4147-A177-3AD203B41FA5}">
                      <a16:colId xmlns:a16="http://schemas.microsoft.com/office/drawing/2014/main" val="2465101990"/>
                    </a:ext>
                  </a:extLst>
                </a:gridCol>
                <a:gridCol w="1845695">
                  <a:extLst>
                    <a:ext uri="{9D8B030D-6E8A-4147-A177-3AD203B41FA5}">
                      <a16:colId xmlns:a16="http://schemas.microsoft.com/office/drawing/2014/main" val="1554615450"/>
                    </a:ext>
                  </a:extLst>
                </a:gridCol>
              </a:tblGrid>
              <a:tr h="652897">
                <a:tc>
                  <a:txBody>
                    <a:bodyPr/>
                    <a:lstStyle/>
                    <a:p>
                      <a:pPr algn="ctr"/>
                      <a:r>
                        <a:rPr lang="pt-PT"/>
                        <a:t>Carlos Almeida</a:t>
                      </a:r>
                    </a:p>
                    <a:p>
                      <a:pPr algn="ctr"/>
                      <a:r>
                        <a:rPr lang="pt-PT"/>
                        <a:t>(1221515)</a:t>
                      </a:r>
                    </a:p>
                  </a:txBody>
                  <a:tcPr/>
                </a:tc>
                <a:tc>
                  <a:txBody>
                    <a:bodyPr/>
                    <a:lstStyle/>
                    <a:p>
                      <a:pPr algn="ctr"/>
                      <a:r>
                        <a:rPr lang="pt-PT"/>
                        <a:t>Bruno Silva</a:t>
                      </a:r>
                    </a:p>
                    <a:p>
                      <a:pPr algn="ctr"/>
                      <a:r>
                        <a:rPr lang="pt-PT"/>
                        <a:t>(1221514)</a:t>
                      </a:r>
                    </a:p>
                  </a:txBody>
                  <a:tcPr/>
                </a:tc>
                <a:tc>
                  <a:txBody>
                    <a:bodyPr/>
                    <a:lstStyle/>
                    <a:p>
                      <a:pPr algn="ctr"/>
                      <a:r>
                        <a:rPr lang="pt-PT"/>
                        <a:t>Miguel Pinto</a:t>
                      </a:r>
                    </a:p>
                    <a:p>
                      <a:pPr algn="ctr"/>
                      <a:r>
                        <a:rPr lang="pt-PT"/>
                        <a:t>(1221526)</a:t>
                      </a:r>
                    </a:p>
                  </a:txBody>
                  <a:tcPr/>
                </a:tc>
                <a:tc>
                  <a:txBody>
                    <a:bodyPr/>
                    <a:lstStyle/>
                    <a:p>
                      <a:pPr algn="ctr"/>
                      <a:r>
                        <a:rPr lang="pt-PT"/>
                        <a:t>João Pereira</a:t>
                      </a:r>
                    </a:p>
                    <a:p>
                      <a:pPr algn="ctr"/>
                      <a:r>
                        <a:rPr lang="pt-PT"/>
                        <a:t>(1230677)</a:t>
                      </a:r>
                    </a:p>
                  </a:txBody>
                  <a:tcPr/>
                </a:tc>
                <a:tc>
                  <a:txBody>
                    <a:bodyPr/>
                    <a:lstStyle/>
                    <a:p>
                      <a:pPr algn="ctr"/>
                      <a:r>
                        <a:rPr lang="pt-PT"/>
                        <a:t>Francisca Paulos</a:t>
                      </a:r>
                    </a:p>
                    <a:p>
                      <a:pPr algn="ctr"/>
                      <a:r>
                        <a:rPr lang="pt-PT"/>
                        <a:t>(1230993)</a:t>
                      </a:r>
                    </a:p>
                  </a:txBody>
                  <a:tcPr/>
                </a:tc>
                <a:extLst>
                  <a:ext uri="{0D108BD9-81ED-4DB2-BD59-A6C34878D82A}">
                    <a16:rowId xmlns:a16="http://schemas.microsoft.com/office/drawing/2014/main" val="2471333584"/>
                  </a:ext>
                </a:extLst>
              </a:tr>
              <a:tr h="1327323">
                <a:tc>
                  <a:txBody>
                    <a:bodyPr/>
                    <a:lstStyle/>
                    <a:p>
                      <a:pPr algn="ctr"/>
                      <a:endParaRPr lang="pt-PT"/>
                    </a:p>
                    <a:p>
                      <a:pPr algn="ctr"/>
                      <a:endParaRPr lang="pt-PT"/>
                    </a:p>
                    <a:p>
                      <a:pPr algn="ctr"/>
                      <a:r>
                        <a:rPr lang="pt-PT"/>
                        <a:t> </a:t>
                      </a:r>
                    </a:p>
                  </a:txBody>
                  <a:tcPr>
                    <a:solidFill>
                      <a:schemeClr val="bg1">
                        <a:lumMod val="95000"/>
                      </a:schemeClr>
                    </a:solidFill>
                  </a:tcPr>
                </a:tc>
                <a:tc>
                  <a:txBody>
                    <a:bodyPr/>
                    <a:lstStyle/>
                    <a:p>
                      <a:endParaRPr lang="pt-PT"/>
                    </a:p>
                    <a:p>
                      <a:endParaRPr lang="pt-PT"/>
                    </a:p>
                    <a:p>
                      <a:pPr algn="ctr"/>
                      <a:endParaRPr lang="pt-PT"/>
                    </a:p>
                  </a:txBody>
                  <a:tcPr>
                    <a:solidFill>
                      <a:schemeClr val="bg1">
                        <a:lumMod val="95000"/>
                      </a:schemeClr>
                    </a:solidFill>
                  </a:tcPr>
                </a:tc>
                <a:tc>
                  <a:txBody>
                    <a:bodyPr/>
                    <a:lstStyle/>
                    <a:p>
                      <a:endParaRPr lang="pt-PT"/>
                    </a:p>
                  </a:txBody>
                  <a:tcPr>
                    <a:solidFill>
                      <a:schemeClr val="bg1">
                        <a:lumMod val="95000"/>
                      </a:schemeClr>
                    </a:solidFill>
                  </a:tcPr>
                </a:tc>
                <a:tc>
                  <a:txBody>
                    <a:bodyPr/>
                    <a:lstStyle/>
                    <a:p>
                      <a:endParaRPr lang="pt-PT"/>
                    </a:p>
                  </a:txBody>
                  <a:tcPr>
                    <a:solidFill>
                      <a:schemeClr val="bg1">
                        <a:lumMod val="95000"/>
                      </a:schemeClr>
                    </a:solidFill>
                  </a:tcPr>
                </a:tc>
                <a:tc>
                  <a:txBody>
                    <a:bodyPr/>
                    <a:lstStyle/>
                    <a:p>
                      <a:endParaRPr lang="pt-PT"/>
                    </a:p>
                  </a:txBody>
                  <a:tcPr>
                    <a:solidFill>
                      <a:schemeClr val="bg1">
                        <a:lumMod val="95000"/>
                      </a:schemeClr>
                    </a:solidFill>
                  </a:tcPr>
                </a:tc>
                <a:extLst>
                  <a:ext uri="{0D108BD9-81ED-4DB2-BD59-A6C34878D82A}">
                    <a16:rowId xmlns:a16="http://schemas.microsoft.com/office/drawing/2014/main" val="4095273831"/>
                  </a:ext>
                </a:extLst>
              </a:tr>
            </a:tbl>
          </a:graphicData>
        </a:graphic>
      </p:graphicFrame>
      <p:pic>
        <p:nvPicPr>
          <p:cNvPr id="6" name="Picture 5" descr="A person with glasses and mustache&#10;&#10;AI-generated content may be incorrect.">
            <a:extLst>
              <a:ext uri="{FF2B5EF4-FFF2-40B4-BE49-F238E27FC236}">
                <a16:creationId xmlns:a16="http://schemas.microsoft.com/office/drawing/2014/main" id="{C16BC5EB-C89F-AB0C-4CE4-AC6B6D4BDB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8071" y="4620266"/>
            <a:ext cx="1483213" cy="1304725"/>
          </a:xfrm>
          <a:prstGeom prst="rect">
            <a:avLst/>
          </a:prstGeom>
        </p:spPr>
      </p:pic>
      <p:pic>
        <p:nvPicPr>
          <p:cNvPr id="10" name="Picture 9">
            <a:extLst>
              <a:ext uri="{FF2B5EF4-FFF2-40B4-BE49-F238E27FC236}">
                <a16:creationId xmlns:a16="http://schemas.microsoft.com/office/drawing/2014/main" id="{03C11CDA-CA86-0CCD-5D2D-A0B9026535F5}"/>
              </a:ext>
            </a:extLst>
          </p:cNvPr>
          <p:cNvPicPr>
            <a:picLocks noChangeAspect="1"/>
          </p:cNvPicPr>
          <p:nvPr/>
        </p:nvPicPr>
        <p:blipFill>
          <a:blip r:embed="rId4"/>
          <a:stretch>
            <a:fillRect/>
          </a:stretch>
        </p:blipFill>
        <p:spPr>
          <a:xfrm>
            <a:off x="2390109" y="4620265"/>
            <a:ext cx="1422364" cy="1304725"/>
          </a:xfrm>
          <a:prstGeom prst="rect">
            <a:avLst/>
          </a:prstGeom>
        </p:spPr>
      </p:pic>
      <p:pic>
        <p:nvPicPr>
          <p:cNvPr id="18" name="Picture 17">
            <a:extLst>
              <a:ext uri="{FF2B5EF4-FFF2-40B4-BE49-F238E27FC236}">
                <a16:creationId xmlns:a16="http://schemas.microsoft.com/office/drawing/2014/main" id="{79B549BF-BB53-4C77-A372-2C918B114B69}"/>
              </a:ext>
            </a:extLst>
          </p:cNvPr>
          <p:cNvPicPr>
            <a:picLocks noChangeAspect="1"/>
          </p:cNvPicPr>
          <p:nvPr/>
        </p:nvPicPr>
        <p:blipFill>
          <a:blip r:embed="rId5"/>
          <a:stretch>
            <a:fillRect/>
          </a:stretch>
        </p:blipFill>
        <p:spPr>
          <a:xfrm>
            <a:off x="6020265" y="4598761"/>
            <a:ext cx="1596686" cy="1331871"/>
          </a:xfrm>
          <a:prstGeom prst="rect">
            <a:avLst/>
          </a:prstGeom>
        </p:spPr>
      </p:pic>
      <p:pic>
        <p:nvPicPr>
          <p:cNvPr id="20" name="Picture 19">
            <a:extLst>
              <a:ext uri="{FF2B5EF4-FFF2-40B4-BE49-F238E27FC236}">
                <a16:creationId xmlns:a16="http://schemas.microsoft.com/office/drawing/2014/main" id="{9845E4F2-A76F-A10A-E3B2-D47CEA13F999}"/>
              </a:ext>
            </a:extLst>
          </p:cNvPr>
          <p:cNvPicPr>
            <a:picLocks noChangeAspect="1"/>
          </p:cNvPicPr>
          <p:nvPr/>
        </p:nvPicPr>
        <p:blipFill>
          <a:blip r:embed="rId6"/>
          <a:stretch>
            <a:fillRect/>
          </a:stretch>
        </p:blipFill>
        <p:spPr>
          <a:xfrm>
            <a:off x="8053842" y="4598762"/>
            <a:ext cx="1299259" cy="1327875"/>
          </a:xfrm>
          <a:prstGeom prst="rect">
            <a:avLst/>
          </a:prstGeom>
        </p:spPr>
      </p:pic>
      <p:pic>
        <p:nvPicPr>
          <p:cNvPr id="7" name="Imagem 6" descr="Uma imagem com ar livre, pessoa, céu, homem&#10;&#10;Os conteúdos gerados por IA podem estar incorretos.">
            <a:extLst>
              <a:ext uri="{FF2B5EF4-FFF2-40B4-BE49-F238E27FC236}">
                <a16:creationId xmlns:a16="http://schemas.microsoft.com/office/drawing/2014/main" id="{F8DCBBDA-0CD8-AA94-57EC-3F17F91853C6}"/>
              </a:ext>
            </a:extLst>
          </p:cNvPr>
          <p:cNvPicPr>
            <a:picLocks noChangeAspect="1"/>
          </p:cNvPicPr>
          <p:nvPr/>
        </p:nvPicPr>
        <p:blipFill>
          <a:blip r:embed="rId7" cstate="print">
            <a:extLst>
              <a:ext uri="{28A0092B-C50C-407E-A947-70E740481C1C}">
                <a14:useLocalDpi xmlns:a14="http://schemas.microsoft.com/office/drawing/2010/main" val="0"/>
              </a:ext>
            </a:extLst>
          </a:blip>
          <a:srcRect t="39570" r="12356"/>
          <a:stretch>
            <a:fillRect/>
          </a:stretch>
        </p:blipFill>
        <p:spPr>
          <a:xfrm>
            <a:off x="552898" y="4626436"/>
            <a:ext cx="1400319" cy="1287365"/>
          </a:xfrm>
          <a:prstGeom prst="rect">
            <a:avLst/>
          </a:prstGeom>
        </p:spPr>
      </p:pic>
    </p:spTree>
  </p:cSld>
  <p:clrMapOvr>
    <a:masterClrMapping/>
  </p:clrMapOvr>
  <p:transition spd="med">
    <p:fade/>
  </p:transition>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a:solidFill>
                  <a:schemeClr val="tx1"/>
                </a:solidFill>
              </a:rPr>
              <a:t>Sprint planning – Sprint 3</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2001944366"/>
              </p:ext>
            </p:extLst>
          </p:nvPr>
        </p:nvGraphicFramePr>
        <p:xfrm>
          <a:off x="947555" y="3023955"/>
          <a:ext cx="7830870" cy="2743197"/>
        </p:xfrm>
        <a:graphic>
          <a:graphicData uri="http://schemas.openxmlformats.org/drawingml/2006/table">
            <a:tbl>
              <a:tblPr firstRow="1" bandRow="1">
                <a:tableStyleId>{912C8C85-51F0-491E-9774-3900AFEF0FD7}</a:tableStyleId>
              </a:tblPr>
              <a:tblGrid>
                <a:gridCol w="4112855">
                  <a:extLst>
                    <a:ext uri="{9D8B030D-6E8A-4147-A177-3AD203B41FA5}">
                      <a16:colId xmlns:a16="http://schemas.microsoft.com/office/drawing/2014/main" val="3798560086"/>
                    </a:ext>
                  </a:extLst>
                </a:gridCol>
                <a:gridCol w="3718015">
                  <a:extLst>
                    <a:ext uri="{9D8B030D-6E8A-4147-A177-3AD203B41FA5}">
                      <a16:colId xmlns:a16="http://schemas.microsoft.com/office/drawing/2014/main" val="477562216"/>
                    </a:ext>
                  </a:extLst>
                </a:gridCol>
              </a:tblGrid>
              <a:tr h="370840">
                <a:tc>
                  <a:txBody>
                    <a:bodyPr/>
                    <a:lstStyle/>
                    <a:p>
                      <a:r>
                        <a:rPr lang="pt-PT"/>
                        <a:t>SPRINT BACKLOG</a:t>
                      </a:r>
                    </a:p>
                  </a:txBody>
                  <a:tcPr/>
                </a:tc>
                <a:tc>
                  <a:txBody>
                    <a:bodyPr/>
                    <a:lstStyle/>
                    <a:p>
                      <a:endParaRPr lang="pt-PT"/>
                    </a:p>
                  </a:txBody>
                  <a:tcPr/>
                </a:tc>
                <a:extLst>
                  <a:ext uri="{0D108BD9-81ED-4DB2-BD59-A6C34878D82A}">
                    <a16:rowId xmlns:a16="http://schemas.microsoft.com/office/drawing/2014/main" val="3623111211"/>
                  </a:ext>
                </a:extLst>
              </a:tr>
              <a:tr h="370840">
                <a:tc>
                  <a:txBody>
                    <a:bodyPr/>
                    <a:lstStyle/>
                    <a:p>
                      <a:r>
                        <a:rPr lang="en-US" noProof="0"/>
                        <a:t>Number of stories</a:t>
                      </a:r>
                    </a:p>
                  </a:txBody>
                  <a:tcPr/>
                </a:tc>
                <a:tc>
                  <a:txBody>
                    <a:bodyPr/>
                    <a:lstStyle/>
                    <a:p>
                      <a:pPr algn="ctr"/>
                      <a:r>
                        <a:rPr lang="en-US" noProof="0"/>
                        <a:t>19</a:t>
                      </a:r>
                    </a:p>
                  </a:txBody>
                  <a:tcPr/>
                </a:tc>
                <a:extLst>
                  <a:ext uri="{0D108BD9-81ED-4DB2-BD59-A6C34878D82A}">
                    <a16:rowId xmlns:a16="http://schemas.microsoft.com/office/drawing/2014/main" val="883314903"/>
                  </a:ext>
                </a:extLst>
              </a:tr>
              <a:tr h="370840">
                <a:tc>
                  <a:txBody>
                    <a:bodyPr/>
                    <a:lstStyle/>
                    <a:p>
                      <a:r>
                        <a:rPr lang="en-US" noProof="0"/>
                        <a:t>Number of bugs</a:t>
                      </a:r>
                    </a:p>
                  </a:txBody>
                  <a:tcPr/>
                </a:tc>
                <a:tc>
                  <a:txBody>
                    <a:bodyPr/>
                    <a:lstStyle/>
                    <a:p>
                      <a:pPr algn="ctr"/>
                      <a:r>
                        <a:rPr lang="en-US" noProof="0"/>
                        <a:t>3</a:t>
                      </a:r>
                    </a:p>
                  </a:txBody>
                  <a:tcPr/>
                </a:tc>
                <a:extLst>
                  <a:ext uri="{0D108BD9-81ED-4DB2-BD59-A6C34878D82A}">
                    <a16:rowId xmlns:a16="http://schemas.microsoft.com/office/drawing/2014/main" val="428254498"/>
                  </a:ext>
                </a:extLst>
              </a:tr>
              <a:tr h="370839">
                <a:tc>
                  <a:txBody>
                    <a:bodyPr/>
                    <a:lstStyle/>
                    <a:p>
                      <a:pPr lvl="0">
                        <a:buNone/>
                      </a:pPr>
                      <a:r>
                        <a:rPr lang="en-US" noProof="0"/>
                        <a:t>Number of tasks</a:t>
                      </a:r>
                    </a:p>
                  </a:txBody>
                  <a:tcPr/>
                </a:tc>
                <a:tc>
                  <a:txBody>
                    <a:bodyPr/>
                    <a:lstStyle/>
                    <a:p>
                      <a:pPr lvl="0" algn="ctr">
                        <a:buNone/>
                      </a:pPr>
                      <a:r>
                        <a:rPr lang="en-US" noProof="0"/>
                        <a:t>45</a:t>
                      </a:r>
                    </a:p>
                  </a:txBody>
                  <a:tcPr/>
                </a:tc>
                <a:extLst>
                  <a:ext uri="{0D108BD9-81ED-4DB2-BD59-A6C34878D82A}">
                    <a16:rowId xmlns:a16="http://schemas.microsoft.com/office/drawing/2014/main" val="4185709446"/>
                  </a:ext>
                </a:extLst>
              </a:tr>
              <a:tr h="370839">
                <a:tc>
                  <a:txBody>
                    <a:bodyPr/>
                    <a:lstStyle/>
                    <a:p>
                      <a:pPr lvl="0">
                        <a:buNone/>
                      </a:pPr>
                      <a:r>
                        <a:rPr lang="en-US" noProof="0"/>
                        <a:t>Number of Management Tasks (Scrum)</a:t>
                      </a:r>
                    </a:p>
                  </a:txBody>
                  <a:tcPr/>
                </a:tc>
                <a:tc>
                  <a:txBody>
                    <a:bodyPr/>
                    <a:lstStyle/>
                    <a:p>
                      <a:pPr lvl="0" algn="ctr">
                        <a:buNone/>
                      </a:pPr>
                      <a:r>
                        <a:rPr lang="en-US" noProof="0"/>
                        <a:t>19</a:t>
                      </a:r>
                    </a:p>
                  </a:txBody>
                  <a:tcPr/>
                </a:tc>
                <a:extLst>
                  <a:ext uri="{0D108BD9-81ED-4DB2-BD59-A6C34878D82A}">
                    <a16:rowId xmlns:a16="http://schemas.microsoft.com/office/drawing/2014/main" val="563517871"/>
                  </a:ext>
                </a:extLst>
              </a:tr>
              <a:tr h="370839">
                <a:tc>
                  <a:txBody>
                    <a:bodyPr/>
                    <a:lstStyle/>
                    <a:p>
                      <a:pPr lvl="0">
                        <a:buNone/>
                      </a:pPr>
                      <a:r>
                        <a:rPr lang="en-US" noProof="0"/>
                        <a:t>Number of team members</a:t>
                      </a:r>
                    </a:p>
                  </a:txBody>
                  <a:tcPr/>
                </a:tc>
                <a:tc>
                  <a:txBody>
                    <a:bodyPr/>
                    <a:lstStyle/>
                    <a:p>
                      <a:pPr lvl="0" algn="ctr">
                        <a:buNone/>
                      </a:pPr>
                      <a:r>
                        <a:rPr lang="en-US" noProof="0"/>
                        <a:t>Planned: 5              Actual: 5  </a:t>
                      </a:r>
                    </a:p>
                  </a:txBody>
                  <a:tcPr/>
                </a:tc>
                <a:extLst>
                  <a:ext uri="{0D108BD9-81ED-4DB2-BD59-A6C34878D82A}">
                    <a16:rowId xmlns:a16="http://schemas.microsoft.com/office/drawing/2014/main" val="2843102962"/>
                  </a:ext>
                </a:extLst>
              </a:tr>
              <a:tr h="370838">
                <a:tc>
                  <a:txBody>
                    <a:bodyPr/>
                    <a:lstStyle/>
                    <a:p>
                      <a:pPr lvl="0">
                        <a:buNone/>
                      </a:pPr>
                      <a:r>
                        <a:rPr lang="en-US" noProof="0"/>
                        <a:t>Total planned </a:t>
                      </a:r>
                      <a:r>
                        <a:rPr lang="en-US" b="1" noProof="0"/>
                        <a:t>estimation</a:t>
                      </a:r>
                      <a:r>
                        <a:rPr lang="en-US" noProof="0"/>
                        <a:t> vs execution</a:t>
                      </a:r>
                    </a:p>
                  </a:txBody>
                  <a:tcPr/>
                </a:tc>
                <a:tc>
                  <a:txBody>
                    <a:bodyPr/>
                    <a:lstStyle/>
                    <a:p>
                      <a:pPr marL="0" lvl="0" indent="0" algn="ctr">
                        <a:buNone/>
                      </a:pPr>
                      <a:r>
                        <a:rPr lang="en-US" noProof="0" dirty="0"/>
                        <a:t>Planned hours: 227,5</a:t>
                      </a:r>
                    </a:p>
                    <a:p>
                      <a:pPr marL="0" lvl="0" indent="0" algn="ctr">
                        <a:buNone/>
                      </a:pPr>
                      <a:r>
                        <a:rPr lang="en-US" noProof="0" dirty="0"/>
                        <a:t>Executed hours: 121</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solidFill>
                  <a:schemeClr val="tx1"/>
                </a:solidFill>
              </a:rPr>
              <a:t>Planned Start Date: 24/11/2025                           Real Start Date: 01/12/2025 </a:t>
            </a:r>
          </a:p>
          <a:p>
            <a:pPr marL="0" indent="0">
              <a:buNone/>
            </a:pPr>
            <a:r>
              <a:rPr lang="en-US" sz="1800">
                <a:solidFill>
                  <a:schemeClr val="tx1"/>
                </a:solidFill>
              </a:rPr>
              <a:t>Planned End Date: 04/01/2026                             Real End Date: 04/01/2026</a:t>
            </a:r>
          </a:p>
          <a:p>
            <a:pPr marL="0" indent="0">
              <a:buFont typeface="Arial" pitchFamily="34" charset="0"/>
              <a:buNone/>
            </a:pPr>
            <a:endParaRPr lang="en-US">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4000" y="1000108"/>
            <a:ext cx="9219520" cy="571504"/>
          </a:xfrm>
        </p:spPr>
        <p:txBody>
          <a:bodyPr/>
          <a:lstStyle/>
          <a:p>
            <a:r>
              <a:rPr lang="en-US" sz="3200" cap="none">
                <a:solidFill>
                  <a:schemeClr val="tx1"/>
                </a:solidFill>
              </a:rPr>
              <a:t>Sprint 3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3892920480"/>
              </p:ext>
            </p:extLst>
          </p:nvPr>
        </p:nvGraphicFramePr>
        <p:xfrm>
          <a:off x="414000" y="1673805"/>
          <a:ext cx="9008401" cy="459230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a:t>Assigned User Stories </a:t>
                      </a:r>
                      <a:r>
                        <a:rPr lang="en-US" sz="1200" noProof="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err="1"/>
                        <a:t>Commited</a:t>
                      </a:r>
                      <a:r>
                        <a:rPr lang="en-US" noProof="0"/>
                        <a:t>?</a:t>
                      </a:r>
                    </a:p>
                    <a:p>
                      <a:pPr algn="ctr"/>
                      <a:r>
                        <a:rPr lang="en-US" sz="1200" noProof="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a:t>USAC10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a:t>USAC11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a:t>USAC12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a:t>USAC13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a:t>USAC14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a:t>USAC16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a:t>USBD31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a:t>USBD32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a:t>USBD33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a:t>USBD39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83D7-F6B2-16DB-796C-2F0E3486558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CADA0FE1-470E-30DC-68CA-880B90063717}"/>
              </a:ext>
            </a:extLst>
          </p:cNvPr>
          <p:cNvSpPr>
            <a:spLocks noGrp="1"/>
          </p:cNvSpPr>
          <p:nvPr>
            <p:ph type="title"/>
          </p:nvPr>
        </p:nvSpPr>
        <p:spPr>
          <a:xfrm>
            <a:off x="414000" y="1000108"/>
            <a:ext cx="9219520" cy="571504"/>
          </a:xfrm>
        </p:spPr>
        <p:txBody>
          <a:bodyPr/>
          <a:lstStyle/>
          <a:p>
            <a:r>
              <a:rPr lang="en-US" sz="3200" cap="none">
                <a:solidFill>
                  <a:schemeClr val="tx1"/>
                </a:solidFill>
              </a:rPr>
              <a:t>Sprint 3 planning</a:t>
            </a:r>
          </a:p>
        </p:txBody>
      </p:sp>
      <p:graphicFrame>
        <p:nvGraphicFramePr>
          <p:cNvPr id="2" name="Tabela 2">
            <a:extLst>
              <a:ext uri="{FF2B5EF4-FFF2-40B4-BE49-F238E27FC236}">
                <a16:creationId xmlns:a16="http://schemas.microsoft.com/office/drawing/2014/main" id="{A05823C3-9E63-6B3E-9C97-FD4B43EA37A6}"/>
              </a:ext>
            </a:extLst>
          </p:cNvPr>
          <p:cNvGraphicFramePr>
            <a:graphicFrameLocks noGrp="1"/>
          </p:cNvGraphicFramePr>
          <p:nvPr>
            <p:extLst>
              <p:ext uri="{D42A27DB-BD31-4B8C-83A1-F6EECF244321}">
                <p14:modId xmlns:p14="http://schemas.microsoft.com/office/powerpoint/2010/main" val="3544645855"/>
              </p:ext>
            </p:extLst>
          </p:nvPr>
        </p:nvGraphicFramePr>
        <p:xfrm>
          <a:off x="414000" y="1673805"/>
          <a:ext cx="9008401" cy="4221469"/>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a:t>Assigned User Stories </a:t>
                      </a:r>
                      <a:r>
                        <a:rPr lang="en-US" sz="1200" noProof="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err="1"/>
                        <a:t>Commited</a:t>
                      </a:r>
                      <a:r>
                        <a:rPr lang="en-US" noProof="0"/>
                        <a:t>?</a:t>
                      </a:r>
                    </a:p>
                    <a:p>
                      <a:pPr algn="ctr"/>
                      <a:r>
                        <a:rPr lang="en-US" sz="1200" noProof="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a:t>USBD40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a:t>USBD41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a:t>USBD42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a:t>USEI11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a:t>USEI12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a:t>USEI13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a:t>USLP08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a:t>USLP09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a:t>USLP10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bl>
          </a:graphicData>
        </a:graphic>
      </p:graphicFrame>
    </p:spTree>
    <p:extLst>
      <p:ext uri="{BB962C8B-B14F-4D97-AF65-F5344CB8AC3E}">
        <p14:creationId xmlns:p14="http://schemas.microsoft.com/office/powerpoint/2010/main" val="977624250"/>
      </p:ext>
    </p:extLst>
  </p:cSld>
  <p:clrMapOvr>
    <a:masterClrMapping/>
  </p:clrMapOvr>
  <p:transition spd="med">
    <p:fade/>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err="1">
                <a:solidFill>
                  <a:schemeClr val="tx1"/>
                </a:solidFill>
              </a:rPr>
              <a:t>Work</a:t>
            </a:r>
            <a:r>
              <a:rPr lang="pt-PT" sz="3200" cap="none">
                <a:solidFill>
                  <a:schemeClr val="tx1"/>
                </a:solidFill>
              </a:rPr>
              <a:t> </a:t>
            </a:r>
            <a:r>
              <a:rPr lang="pt-PT" sz="3200" cap="none" err="1">
                <a:solidFill>
                  <a:schemeClr val="tx1"/>
                </a:solidFill>
              </a:rPr>
              <a:t>assigned</a:t>
            </a:r>
            <a:r>
              <a:rPr lang="pt-PT" sz="3200" cap="none">
                <a:solidFill>
                  <a:schemeClr val="tx1"/>
                </a:solidFill>
              </a:rPr>
              <a:t> </a:t>
            </a:r>
            <a:r>
              <a:rPr lang="pt-PT" sz="3200" cap="none" err="1">
                <a:solidFill>
                  <a:schemeClr val="tx1"/>
                </a:solidFill>
              </a:rPr>
              <a:t>by</a:t>
            </a:r>
            <a:r>
              <a:rPr lang="pt-PT" sz="3200" cap="none">
                <a:solidFill>
                  <a:schemeClr val="tx1"/>
                </a:solidFill>
              </a:rPr>
              <a:t> team </a:t>
            </a:r>
            <a:r>
              <a:rPr lang="pt-PT" sz="3200" cap="none" err="1">
                <a:solidFill>
                  <a:schemeClr val="tx1"/>
                </a:solidFill>
              </a:rPr>
              <a:t>member</a:t>
            </a:r>
            <a:endParaRPr lang="pt-PT" sz="3200" cap="none">
              <a:solidFill>
                <a:schemeClr val="tx1"/>
              </a:solidFill>
            </a:endParaRP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2087547964"/>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a:solidFill>
                  <a:schemeClr val="tx1"/>
                </a:solidFill>
              </a:rPr>
              <a:t> </a:t>
            </a:r>
            <a:r>
              <a:rPr lang="pt-PT" sz="3200" cap="none" err="1">
                <a:solidFill>
                  <a:schemeClr val="tx1"/>
                </a:solidFill>
              </a:rPr>
              <a:t>Work</a:t>
            </a:r>
            <a:r>
              <a:rPr lang="pt-PT" sz="3200" cap="none">
                <a:solidFill>
                  <a:schemeClr val="tx1"/>
                </a:solidFill>
              </a:rPr>
              <a:t> </a:t>
            </a:r>
            <a:r>
              <a:rPr lang="pt-PT" sz="3200" cap="none" err="1">
                <a:solidFill>
                  <a:schemeClr val="tx1"/>
                </a:solidFill>
              </a:rPr>
              <a:t>assigned</a:t>
            </a:r>
            <a:r>
              <a:rPr lang="pt-PT" sz="3200" cap="none">
                <a:solidFill>
                  <a:schemeClr val="tx1"/>
                </a:solidFill>
              </a:rPr>
              <a:t> </a:t>
            </a:r>
            <a:r>
              <a:rPr lang="pt-PT" sz="3200" cap="none" err="1">
                <a:solidFill>
                  <a:schemeClr val="tx1"/>
                </a:solidFill>
              </a:rPr>
              <a:t>by</a:t>
            </a:r>
            <a:r>
              <a:rPr lang="pt-PT" sz="3200" cap="none">
                <a:solidFill>
                  <a:schemeClr val="tx1"/>
                </a:solidFill>
              </a:rPr>
              <a:t> </a:t>
            </a:r>
            <a:r>
              <a:rPr lang="pt-PT" sz="3200" cap="none" err="1">
                <a:solidFill>
                  <a:schemeClr val="tx1"/>
                </a:solidFill>
              </a:rPr>
              <a:t>type</a:t>
            </a:r>
            <a:r>
              <a:rPr lang="pt-PT" sz="3200" cap="none">
                <a:solidFill>
                  <a:schemeClr val="tx1"/>
                </a:solidFill>
              </a:rPr>
              <a:t> (</a:t>
            </a:r>
            <a:r>
              <a:rPr lang="pt-PT" sz="3200" cap="none" err="1">
                <a:solidFill>
                  <a:schemeClr val="tx1"/>
                </a:solidFill>
              </a:rPr>
              <a:t>component</a:t>
            </a:r>
            <a:r>
              <a:rPr lang="pt-PT" sz="3200" cap="none">
                <a:solidFill>
                  <a:schemeClr val="tx1"/>
                </a:solidFill>
              </a:rPr>
              <a:t>)</a:t>
            </a: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2478717630"/>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6292261"/>
      </p:ext>
    </p:extLst>
  </p:cSld>
  <p:clrMapOvr>
    <a:masterClrMapping/>
  </p:clrMapOvr>
  <p:transition spd="med">
    <p:fade/>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en-US" sz="3200" cap="none">
                <a:solidFill>
                  <a:schemeClr val="tx1"/>
                </a:solidFill>
              </a:rPr>
              <a:t>Issues / Assumptions / unanswered questions</a:t>
            </a:r>
            <a:endParaRPr lang="en-US" sz="3200" cap="none"/>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2174572106"/>
              </p:ext>
            </p:extLst>
          </p:nvPr>
        </p:nvGraphicFramePr>
        <p:xfrm>
          <a:off x="414000" y="1673805"/>
          <a:ext cx="9129510" cy="4612375"/>
        </p:xfrm>
        <a:graphic>
          <a:graphicData uri="http://schemas.openxmlformats.org/drawingml/2006/table">
            <a:tbl>
              <a:tblPr firstRow="1" bandRow="1">
                <a:tableStyleId>{912C8C85-51F0-491E-9774-3900AFEF0FD7}</a:tableStyleId>
              </a:tblPr>
              <a:tblGrid>
                <a:gridCol w="3908930">
                  <a:extLst>
                    <a:ext uri="{9D8B030D-6E8A-4147-A177-3AD203B41FA5}">
                      <a16:colId xmlns:a16="http://schemas.microsoft.com/office/drawing/2014/main" val="3798560086"/>
                    </a:ext>
                  </a:extLst>
                </a:gridCol>
                <a:gridCol w="1800200">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890210">
                  <a:extLst>
                    <a:ext uri="{9D8B030D-6E8A-4147-A177-3AD203B41FA5}">
                      <a16:colId xmlns:a16="http://schemas.microsoft.com/office/drawing/2014/main" val="2634392098"/>
                    </a:ext>
                  </a:extLst>
                </a:gridCol>
              </a:tblGrid>
              <a:tr h="630070">
                <a:tc>
                  <a:txBody>
                    <a:bodyPr/>
                    <a:lstStyle/>
                    <a:p>
                      <a:r>
                        <a:rPr lang="en-US" sz="1200" noProof="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Related issue / </a:t>
                      </a:r>
                    </a:p>
                    <a:p>
                      <a:pPr algn="ctr"/>
                      <a:r>
                        <a:rPr lang="en-US" noProof="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934305">
                <a:tc>
                  <a:txBody>
                    <a:bodyPr/>
                    <a:lstStyle/>
                    <a:p>
                      <a:r>
                        <a:rPr lang="pt-PT"/>
                        <a:t>Assumed the time added when a train waits in a single line is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Miguel Pinto</a:t>
                      </a:r>
                    </a:p>
                    <a:p>
                      <a:pPr algn="ctr"/>
                      <a:r>
                        <a:rPr lang="pt-PT"/>
                        <a:t>1221526</a:t>
                      </a:r>
                    </a:p>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19/12/2025</a:t>
                      </a:r>
                    </a:p>
                    <a:p>
                      <a:pPr algn="ctr"/>
                      <a:r>
                        <a:rPr lang="pt-PT"/>
                        <a:t>Sprint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#Issue 160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a:t>Assumed the graph is directed and therefore treated as a directed graph for the USEI13 (centrality analysis)</a:t>
                      </a:r>
                    </a:p>
                    <a:p>
                      <a:endParaRPr lang="pt-PT"/>
                    </a:p>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Carlos Almeida</a:t>
                      </a:r>
                    </a:p>
                    <a:p>
                      <a:pPr algn="ctr"/>
                      <a:r>
                        <a:rPr lang="pt-PT"/>
                        <a:t>1221515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1/01/2025</a:t>
                      </a:r>
                    </a:p>
                    <a:p>
                      <a:pPr algn="ctr"/>
                      <a:r>
                        <a:rPr lang="pt-PT"/>
                        <a:t>Sprint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#Issue 154</a:t>
                      </a:r>
                    </a:p>
                    <a:p>
                      <a:pPr algn="ct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endParaRPr lang="pt-PT"/>
                    </a:p>
                    <a:p>
                      <a:pPr lvl="0">
                        <a:buNone/>
                      </a:pPr>
                      <a:endParaRPr lang="pt-PT"/>
                    </a:p>
                    <a:p>
                      <a:pPr lvl="0">
                        <a:buNone/>
                      </a:pPr>
                      <a:endParaRPr lang="pt-PT"/>
                    </a:p>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endParaRPr lang="pt-PT"/>
                    </a:p>
                    <a:p>
                      <a:pPr lvl="0">
                        <a:buNone/>
                      </a:pPr>
                      <a:endParaRPr lang="pt-PT"/>
                    </a:p>
                    <a:p>
                      <a:pPr lvl="0">
                        <a:buNone/>
                      </a:pPr>
                      <a:endParaRPr lang="pt-PT"/>
                    </a:p>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p:txBody>
          <a:bodyPr/>
          <a:lstStyle/>
          <a:p>
            <a:r>
              <a:rPr lang="en-US" sz="3200" cap="none">
                <a:solidFill>
                  <a:schemeClr val="tx1"/>
                </a:solidFill>
              </a:rPr>
              <a:t>Daily Meetings</a:t>
            </a:r>
            <a:endParaRPr lang="en-US" sz="3200" cap="none"/>
          </a:p>
        </p:txBody>
      </p:sp>
      <p:sp>
        <p:nvSpPr>
          <p:cNvPr id="2" name="Título 4">
            <a:extLst>
              <a:ext uri="{FF2B5EF4-FFF2-40B4-BE49-F238E27FC236}">
                <a16:creationId xmlns:a16="http://schemas.microsoft.com/office/drawing/2014/main" id="{6298545B-B353-4200-A812-3BB5E336033D}"/>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a:solidFill>
                <a:schemeClr val="tx1"/>
              </a:solidFill>
            </a:endParaRPr>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2499073755"/>
              </p:ext>
            </p:extLst>
          </p:nvPr>
        </p:nvGraphicFramePr>
        <p:xfrm>
          <a:off x="414000" y="1673805"/>
          <a:ext cx="9167630" cy="4692700"/>
        </p:xfrm>
        <a:graphic>
          <a:graphicData uri="http://schemas.openxmlformats.org/drawingml/2006/table">
            <a:tbl>
              <a:tblPr firstRow="1" bandRow="1">
                <a:tableStyleId>{912C8C85-51F0-491E-9774-3900AFEF0FD7}</a:tableStyleId>
              </a:tblPr>
              <a:tblGrid>
                <a:gridCol w="174180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080120">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17464">
                <a:tc>
                  <a:txBody>
                    <a:bodyPr/>
                    <a:lstStyle/>
                    <a:p>
                      <a:r>
                        <a:rPr lang="en-US" sz="1200" noProof="0"/>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Bruno 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Carlos Almeida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Miguel 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João Pereira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Fransica Paulos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41046">
                <a:tc>
                  <a:txBody>
                    <a:bodyPr/>
                    <a:lstStyle/>
                    <a:p>
                      <a:r>
                        <a:rPr lang="pt-PT"/>
                        <a:t>24/11/2025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pPr lvl="0">
                        <a:buNone/>
                      </a:pPr>
                      <a:r>
                        <a:rPr lang="pt-PT"/>
                        <a:t>26/11/2025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Class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pPr lvl="0">
                        <a:buNone/>
                      </a:pPr>
                      <a:r>
                        <a:rPr lang="pt-PT"/>
                        <a:t>28/11/2025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pPr lvl="0">
                        <a:buNone/>
                      </a:pPr>
                      <a:r>
                        <a:rPr lang="pt-PT"/>
                        <a:t>01/12/2025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pPr lvl="0">
                        <a:buNone/>
                      </a:pPr>
                      <a:r>
                        <a:rPr lang="pt-PT"/>
                        <a:t>03/12/2025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Class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pPr lvl="0">
                        <a:buNone/>
                      </a:pPr>
                      <a:r>
                        <a:rPr lang="pt-PT"/>
                        <a:t>05/12/2025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63419">
                <a:tc>
                  <a:txBody>
                    <a:bodyPr/>
                    <a:lstStyle/>
                    <a:p>
                      <a:pPr lvl="0">
                        <a:buNone/>
                      </a:pPr>
                      <a:r>
                        <a:rPr lang="pt-PT"/>
                        <a:t>08/12/2025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r h="363419">
                <a:tc>
                  <a:txBody>
                    <a:bodyPr/>
                    <a:lstStyle/>
                    <a:p>
                      <a:pPr lvl="0">
                        <a:buNone/>
                      </a:pPr>
                      <a:r>
                        <a:rPr lang="pt-PT"/>
                        <a:t>10/12/2025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a:t>Class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893408"/>
                  </a:ext>
                </a:extLst>
              </a:tr>
              <a:tr h="363419">
                <a:tc>
                  <a:txBody>
                    <a:bodyPr/>
                    <a:lstStyle/>
                    <a:p>
                      <a:pPr lvl="0">
                        <a:buNone/>
                      </a:pPr>
                      <a:r>
                        <a:rPr lang="pt-PT"/>
                        <a:t>12/12/2025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11371"/>
                  </a:ext>
                </a:extLst>
              </a:tr>
              <a:tr h="363419">
                <a:tc>
                  <a:txBody>
                    <a:bodyPr/>
                    <a:lstStyle/>
                    <a:p>
                      <a:pPr lvl="0">
                        <a:buNone/>
                      </a:pPr>
                      <a:r>
                        <a:rPr lang="pt-PT"/>
                        <a:t>15/12/2025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07302"/>
                  </a:ext>
                </a:extLst>
              </a:tr>
              <a:tr h="363419">
                <a:tc>
                  <a:txBody>
                    <a:bodyPr/>
                    <a:lstStyle/>
                    <a:p>
                      <a:pPr lvl="0">
                        <a:buNone/>
                      </a:pPr>
                      <a:r>
                        <a:rPr lang="pt-PT"/>
                        <a:t>17/12/2025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Class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151432"/>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B005A-FC44-042A-A6AA-7519CD14F2E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AF137E5-66C0-C000-E8C2-25428557D138}"/>
              </a:ext>
            </a:extLst>
          </p:cNvPr>
          <p:cNvSpPr>
            <a:spLocks noGrp="1"/>
          </p:cNvSpPr>
          <p:nvPr>
            <p:ph type="title"/>
          </p:nvPr>
        </p:nvSpPr>
        <p:spPr/>
        <p:txBody>
          <a:bodyPr/>
          <a:lstStyle/>
          <a:p>
            <a:r>
              <a:rPr lang="en-US" sz="3200" cap="none">
                <a:solidFill>
                  <a:schemeClr val="tx1"/>
                </a:solidFill>
              </a:rPr>
              <a:t>Daily Meetings</a:t>
            </a:r>
            <a:endParaRPr lang="en-US" sz="3200" cap="none"/>
          </a:p>
        </p:txBody>
      </p:sp>
      <p:sp>
        <p:nvSpPr>
          <p:cNvPr id="2" name="Título 4">
            <a:extLst>
              <a:ext uri="{FF2B5EF4-FFF2-40B4-BE49-F238E27FC236}">
                <a16:creationId xmlns:a16="http://schemas.microsoft.com/office/drawing/2014/main" id="{9D84C43D-6D14-CB20-9A2D-15512F437EBF}"/>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a:solidFill>
                <a:schemeClr val="tx1"/>
              </a:solidFill>
            </a:endParaRPr>
          </a:p>
        </p:txBody>
      </p:sp>
      <p:graphicFrame>
        <p:nvGraphicFramePr>
          <p:cNvPr id="3" name="Tabela 2">
            <a:extLst>
              <a:ext uri="{FF2B5EF4-FFF2-40B4-BE49-F238E27FC236}">
                <a16:creationId xmlns:a16="http://schemas.microsoft.com/office/drawing/2014/main" id="{1E373094-C884-68A0-5257-225B66825C59}"/>
              </a:ext>
            </a:extLst>
          </p:cNvPr>
          <p:cNvGraphicFramePr>
            <a:graphicFrameLocks noGrp="1"/>
          </p:cNvGraphicFramePr>
          <p:nvPr>
            <p:extLst>
              <p:ext uri="{D42A27DB-BD31-4B8C-83A1-F6EECF244321}">
                <p14:modId xmlns:p14="http://schemas.microsoft.com/office/powerpoint/2010/main" val="2746945616"/>
              </p:ext>
            </p:extLst>
          </p:nvPr>
        </p:nvGraphicFramePr>
        <p:xfrm>
          <a:off x="414000" y="1673805"/>
          <a:ext cx="9167630" cy="3125619"/>
        </p:xfrm>
        <a:graphic>
          <a:graphicData uri="http://schemas.openxmlformats.org/drawingml/2006/table">
            <a:tbl>
              <a:tblPr firstRow="1" bandRow="1">
                <a:tableStyleId>{912C8C85-51F0-491E-9774-3900AFEF0FD7}</a:tableStyleId>
              </a:tblPr>
              <a:tblGrid>
                <a:gridCol w="174180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080120">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17464">
                <a:tc>
                  <a:txBody>
                    <a:bodyPr/>
                    <a:lstStyle/>
                    <a:p>
                      <a:r>
                        <a:rPr lang="en-US" sz="1200" noProof="0"/>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Bruno 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Carlos Almeida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Miguel 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João Pereira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a:t>Fransica Paulos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27641">
                <a:tc>
                  <a:txBody>
                    <a:bodyPr/>
                    <a:lstStyle/>
                    <a:p>
                      <a:r>
                        <a:rPr lang="pt-PT"/>
                        <a:t>19/12/2025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pPr lvl="0">
                        <a:buNone/>
                      </a:pPr>
                      <a:r>
                        <a:rPr lang="pt-PT"/>
                        <a:t>22/12/2025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pPr lvl="0">
                        <a:buNone/>
                      </a:pPr>
                      <a:r>
                        <a:rPr lang="pt-PT"/>
                        <a:t>26/12/2025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pPr lvl="0">
                        <a:buNone/>
                      </a:pPr>
                      <a:r>
                        <a:rPr lang="pt-PT"/>
                        <a:t>29/12/2025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pPr lvl="0">
                        <a:buNone/>
                      </a:pPr>
                      <a:r>
                        <a:rPr lang="pt-PT"/>
                        <a:t>01/01/2026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pPr lvl="0">
                        <a:buNone/>
                      </a:pPr>
                      <a:r>
                        <a:rPr lang="pt-PT"/>
                        <a:t>02/01/2026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63419">
                <a:tc>
                  <a:txBody>
                    <a:bodyPr/>
                    <a:lstStyle/>
                    <a:p>
                      <a:pPr lvl="0">
                        <a:buNone/>
                      </a:pPr>
                      <a:r>
                        <a:rPr lang="pt-PT"/>
                        <a:t>03/01/2026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bl>
          </a:graphicData>
        </a:graphic>
      </p:graphicFrame>
    </p:spTree>
    <p:extLst>
      <p:ext uri="{BB962C8B-B14F-4D97-AF65-F5344CB8AC3E}">
        <p14:creationId xmlns:p14="http://schemas.microsoft.com/office/powerpoint/2010/main" val="216247767"/>
      </p:ext>
    </p:extLst>
  </p:cSld>
  <p:clrMapOvr>
    <a:masterClrMapping/>
  </p:clrMapOvr>
  <p:transition spd="med">
    <p:fad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B12B-83CD-A79C-40AB-A4F8FFB78E6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2D3FC9-4165-9BE5-544E-277A081AC66F}"/>
              </a:ext>
            </a:extLst>
          </p:cNvPr>
          <p:cNvSpPr>
            <a:spLocks noGrp="1"/>
          </p:cNvSpPr>
          <p:nvPr>
            <p:ph type="title"/>
          </p:nvPr>
        </p:nvSpPr>
        <p:spPr>
          <a:xfrm>
            <a:off x="414000" y="1000108"/>
            <a:ext cx="9492000" cy="571503"/>
          </a:xfrm>
        </p:spPr>
        <p:txBody>
          <a:bodyPr/>
          <a:lstStyle/>
          <a:p>
            <a:r>
              <a:rPr lang="en-US" sz="3200">
                <a:solidFill>
                  <a:schemeClr val="tx1"/>
                </a:solidFill>
              </a:rPr>
              <a:t>LLM</a:t>
            </a:r>
            <a:r>
              <a:rPr lang="en-US" sz="3200" cap="none">
                <a:solidFill>
                  <a:schemeClr val="tx1"/>
                </a:solidFill>
              </a:rPr>
              <a:t> performance assessment - Input </a:t>
            </a:r>
            <a:r>
              <a:rPr lang="en-US" sz="2000" cap="none">
                <a:solidFill>
                  <a:schemeClr val="tx1"/>
                </a:solidFill>
              </a:rPr>
              <a:t>(use ChatGPT or Copilot)</a:t>
            </a:r>
            <a:endParaRPr lang="en-US" sz="3200" cap="none"/>
          </a:p>
        </p:txBody>
      </p:sp>
      <p:sp>
        <p:nvSpPr>
          <p:cNvPr id="2" name="Título 4">
            <a:extLst>
              <a:ext uri="{FF2B5EF4-FFF2-40B4-BE49-F238E27FC236}">
                <a16:creationId xmlns:a16="http://schemas.microsoft.com/office/drawing/2014/main" id="{7856DF50-9E5E-4610-FEB2-C4A38022FCFD}"/>
              </a:ext>
            </a:extLst>
          </p:cNvPr>
          <p:cNvSpPr txBox="1">
            <a:spLocks/>
          </p:cNvSpPr>
          <p:nvPr/>
        </p:nvSpPr>
        <p:spPr>
          <a:xfrm>
            <a:off x="448800" y="1590337"/>
            <a:ext cx="9043200" cy="476398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b="0" kern="0">
                <a:solidFill>
                  <a:schemeClr val="tx1"/>
                </a:solidFill>
              </a:rPr>
              <a:t>Source file (</a:t>
            </a:r>
            <a:r>
              <a:rPr lang="en-US" sz="2000" b="0" i="1" kern="0">
                <a:solidFill>
                  <a:schemeClr val="bg2">
                    <a:lumMod val="60000"/>
                    <a:lumOff val="40000"/>
                  </a:schemeClr>
                </a:solidFill>
              </a:rPr>
              <a:t>attach the file you have used</a:t>
            </a:r>
            <a:r>
              <a:rPr lang="en-US" sz="2000" b="0" kern="0">
                <a:solidFill>
                  <a:schemeClr val="bg2">
                    <a:lumMod val="60000"/>
                    <a:lumOff val="40000"/>
                  </a:schemeClr>
                </a:solidFill>
              </a:rPr>
              <a:t>): </a:t>
            </a:r>
            <a:r>
              <a:rPr lang="en-US" sz="2000" b="0" kern="0">
                <a:solidFill>
                  <a:schemeClr val="tx1"/>
                </a:solidFill>
              </a:rPr>
              <a:t>This very own file and the recorded daily meetings.</a:t>
            </a:r>
            <a:endParaRPr lang="en-US" sz="2000" b="0" kern="0">
              <a:solidFill>
                <a:schemeClr val="bg2">
                  <a:lumMod val="60000"/>
                  <a:lumOff val="40000"/>
                </a:schemeClr>
              </a:solidFill>
            </a:endParaRPr>
          </a:p>
          <a:p>
            <a:endParaRPr lang="en-US" sz="2000" b="0" kern="0">
              <a:solidFill>
                <a:schemeClr val="tx1"/>
              </a:solidFill>
            </a:endParaRPr>
          </a:p>
          <a:p>
            <a:endParaRPr lang="en-US" sz="2000" b="0" kern="0">
              <a:solidFill>
                <a:schemeClr val="tx1"/>
              </a:solidFill>
            </a:endParaRPr>
          </a:p>
          <a:p>
            <a:endParaRPr lang="en-US" sz="2000" b="0" kern="0">
              <a:solidFill>
                <a:schemeClr val="tx1"/>
              </a:solidFill>
            </a:endParaRPr>
          </a:p>
          <a:p>
            <a:r>
              <a:rPr lang="en-US" sz="2000" b="0" kern="0">
                <a:solidFill>
                  <a:schemeClr val="tx1"/>
                </a:solidFill>
              </a:rPr>
              <a:t>Input (</a:t>
            </a:r>
            <a:r>
              <a:rPr lang="en-US" sz="2000" b="0" i="1" kern="0">
                <a:solidFill>
                  <a:schemeClr val="bg2">
                    <a:lumMod val="60000"/>
                    <a:lumOff val="40000"/>
                  </a:schemeClr>
                </a:solidFill>
              </a:rPr>
              <a:t>write down the prompt you used to ask for the performance assessment</a:t>
            </a:r>
            <a:r>
              <a:rPr lang="en-US" sz="2000" b="0" kern="0">
                <a:solidFill>
                  <a:schemeClr val="tx1"/>
                </a:solidFill>
              </a:rPr>
              <a:t>): Given this documents rate the performance of each team members individually, also evaluate the overall project performance from 1 to 5 (show one only per member), then give us suggestions where to improve.</a:t>
            </a:r>
          </a:p>
          <a:p>
            <a:endParaRPr lang="en-US" sz="2000" b="0" kern="0">
              <a:solidFill>
                <a:schemeClr val="tx1"/>
              </a:solidFill>
            </a:endParaRPr>
          </a:p>
          <a:p>
            <a:endParaRPr lang="en-US" sz="2000" b="0" kern="0">
              <a:solidFill>
                <a:schemeClr val="tx1"/>
              </a:solidFill>
            </a:endParaRPr>
          </a:p>
        </p:txBody>
      </p:sp>
    </p:spTree>
    <p:extLst>
      <p:ext uri="{BB962C8B-B14F-4D97-AF65-F5344CB8AC3E}">
        <p14:creationId xmlns:p14="http://schemas.microsoft.com/office/powerpoint/2010/main" val="413634187"/>
      </p:ext>
    </p:extLst>
  </p:cSld>
  <p:clrMapOvr>
    <a:masterClrMapping/>
  </p:clrMapOvr>
  <p:transition spd="med">
    <p:fade/>
  </p:transition>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E430-2642-81CC-FC5F-10469D7682E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C477A9-425C-670A-9E07-3A102D29181D}"/>
              </a:ext>
            </a:extLst>
          </p:cNvPr>
          <p:cNvSpPr>
            <a:spLocks noGrp="1"/>
          </p:cNvSpPr>
          <p:nvPr>
            <p:ph type="title"/>
          </p:nvPr>
        </p:nvSpPr>
        <p:spPr/>
        <p:txBody>
          <a:bodyPr/>
          <a:lstStyle/>
          <a:p>
            <a:r>
              <a:rPr lang="en-US" sz="3200" cap="none">
                <a:solidFill>
                  <a:schemeClr val="tx1"/>
                </a:solidFill>
              </a:rPr>
              <a:t>LLM performance assessment - Output</a:t>
            </a:r>
            <a:endParaRPr lang="en-US" sz="3200" cap="none"/>
          </a:p>
        </p:txBody>
      </p:sp>
      <p:sp>
        <p:nvSpPr>
          <p:cNvPr id="2" name="Título 4">
            <a:extLst>
              <a:ext uri="{FF2B5EF4-FFF2-40B4-BE49-F238E27FC236}">
                <a16:creationId xmlns:a16="http://schemas.microsoft.com/office/drawing/2014/main" id="{5B8695FE-2C17-FCC1-CCC4-8717D8F253C2}"/>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a:solidFill>
                <a:schemeClr val="tx1"/>
              </a:solidFill>
            </a:endParaRPr>
          </a:p>
        </p:txBody>
      </p:sp>
      <p:sp>
        <p:nvSpPr>
          <p:cNvPr id="3" name="Título 4">
            <a:extLst>
              <a:ext uri="{FF2B5EF4-FFF2-40B4-BE49-F238E27FC236}">
                <a16:creationId xmlns:a16="http://schemas.microsoft.com/office/drawing/2014/main" id="{41914A20-7452-6770-365F-62A72A9E05A5}"/>
              </a:ext>
            </a:extLst>
          </p:cNvPr>
          <p:cNvSpPr txBox="1">
            <a:spLocks/>
          </p:cNvSpPr>
          <p:nvPr/>
        </p:nvSpPr>
        <p:spPr>
          <a:xfrm>
            <a:off x="414000" y="1718810"/>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a:solidFill>
                  <a:schemeClr val="tx1"/>
                </a:solidFill>
              </a:rPr>
              <a:t>Output file </a:t>
            </a:r>
            <a:r>
              <a:rPr lang="en-US" sz="2000" b="0" i="1" kern="0">
                <a:solidFill>
                  <a:schemeClr val="bg2">
                    <a:lumMod val="60000"/>
                    <a:lumOff val="40000"/>
                  </a:schemeClr>
                </a:solidFill>
              </a:rPr>
              <a:t>(attach the complete file extracted from the A.I. tool): </a:t>
            </a:r>
            <a:r>
              <a:rPr lang="en-US" sz="2000" b="0" kern="0">
                <a:solidFill>
                  <a:schemeClr val="tx1"/>
                </a:solidFill>
              </a:rPr>
              <a:t>The output from the LLM was a prompt.</a:t>
            </a:r>
          </a:p>
          <a:p>
            <a:endParaRPr lang="en-US" sz="2000" b="0" kern="0">
              <a:solidFill>
                <a:schemeClr val="tx1"/>
              </a:solidFill>
            </a:endParaRPr>
          </a:p>
          <a:p>
            <a:endParaRPr lang="en-US" sz="2000" b="0" kern="0">
              <a:solidFill>
                <a:schemeClr val="tx1"/>
              </a:solidFill>
            </a:endParaRPr>
          </a:p>
          <a:p>
            <a:r>
              <a:rPr lang="en-US" sz="2000" kern="0">
                <a:solidFill>
                  <a:schemeClr val="tx1"/>
                </a:solidFill>
              </a:rPr>
              <a:t>Output</a:t>
            </a:r>
            <a:r>
              <a:rPr lang="en-US" sz="2000" b="0" kern="0">
                <a:solidFill>
                  <a:schemeClr val="tx1"/>
                </a:solidFill>
              </a:rPr>
              <a:t> </a:t>
            </a:r>
            <a:r>
              <a:rPr lang="en-US" sz="2000" b="0" i="1" kern="0">
                <a:solidFill>
                  <a:schemeClr val="bg2">
                    <a:lumMod val="60000"/>
                    <a:lumOff val="40000"/>
                  </a:schemeClr>
                </a:solidFill>
              </a:rPr>
              <a:t>(write one line per team member):</a:t>
            </a:r>
          </a:p>
          <a:p>
            <a:r>
              <a:rPr lang="en-US" sz="2000" b="0" kern="0">
                <a:solidFill>
                  <a:schemeClr val="tx1"/>
                </a:solidFill>
              </a:rPr>
              <a:t>Bruno Silva: Very strong and consistent contributor, completed multiple USs, handled reviews and corrections proactively.</a:t>
            </a:r>
          </a:p>
          <a:p>
            <a:r>
              <a:rPr lang="en-US" sz="2000" b="0" kern="0">
                <a:solidFill>
                  <a:schemeClr val="tx1"/>
                </a:solidFill>
              </a:rPr>
              <a:t>Carlos Almeida: Highly involved in planning and complex USs, provided reviews and support despite dependency and dataset challenges.</a:t>
            </a:r>
          </a:p>
          <a:p>
            <a:r>
              <a:rPr lang="en-US" sz="2000" b="0" kern="0">
                <a:solidFill>
                  <a:schemeClr val="tx1"/>
                </a:solidFill>
              </a:rPr>
              <a:t>Miguel Pinto: Reliable technical contributor, completed, tested, documented Uss and maintained the domain model consistently.</a:t>
            </a:r>
          </a:p>
          <a:p>
            <a:r>
              <a:rPr lang="en-US" sz="2000" b="0" kern="0">
                <a:solidFill>
                  <a:schemeClr val="tx1"/>
                </a:solidFill>
              </a:rPr>
              <a:t>João Pereira: Slow initial engagement but improved later, delivering assigned Uss and contributing in the second half of the sprint.</a:t>
            </a:r>
          </a:p>
          <a:p>
            <a:r>
              <a:rPr lang="en-US" sz="2000" b="0" kern="0">
                <a:solidFill>
                  <a:schemeClr val="tx1"/>
                </a:solidFill>
              </a:rPr>
              <a:t>Francisca Paulos: Limited early participation but completed assigned database Uss successfully towards the end of the sprint.</a:t>
            </a:r>
          </a:p>
          <a:p>
            <a:endParaRPr lang="en-US" sz="2000" b="0" i="1" kern="0">
              <a:solidFill>
                <a:schemeClr val="bg2">
                  <a:lumMod val="60000"/>
                  <a:lumOff val="40000"/>
                </a:schemeClr>
              </a:solidFill>
            </a:endParaRPr>
          </a:p>
          <a:p>
            <a:endParaRPr lang="en-US" sz="2000" b="0" kern="0">
              <a:solidFill>
                <a:schemeClr val="tx1"/>
              </a:solidFill>
            </a:endParaRPr>
          </a:p>
          <a:p>
            <a:endParaRPr lang="en-US" sz="2000" b="0" kern="0">
              <a:solidFill>
                <a:schemeClr val="tx1"/>
              </a:solidFill>
            </a:endParaRPr>
          </a:p>
          <a:p>
            <a:endParaRPr lang="en-US" sz="2000" b="0" kern="0">
              <a:solidFill>
                <a:schemeClr val="tx1"/>
              </a:solidFill>
            </a:endParaRPr>
          </a:p>
          <a:p>
            <a:endParaRPr lang="en-US" sz="2000" b="0" kern="0">
              <a:solidFill>
                <a:schemeClr val="tx1"/>
              </a:solidFill>
            </a:endParaRPr>
          </a:p>
        </p:txBody>
      </p:sp>
    </p:spTree>
    <p:extLst>
      <p:ext uri="{BB962C8B-B14F-4D97-AF65-F5344CB8AC3E}">
        <p14:creationId xmlns:p14="http://schemas.microsoft.com/office/powerpoint/2010/main" val="844410042"/>
      </p:ext>
    </p:extLst>
  </p:cSld>
  <p:clrMapOvr>
    <a:masterClrMapping/>
  </p:clrMapOvr>
  <p:transition spd="med">
    <p:fade/>
  </p:transition>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53EF-F156-F33D-2313-E8D7DCCEF7B2}"/>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FF6CEA0-4C41-AE7C-658B-88CFDE002994}"/>
              </a:ext>
            </a:extLst>
          </p:cNvPr>
          <p:cNvSpPr>
            <a:spLocks noGrp="1"/>
          </p:cNvSpPr>
          <p:nvPr>
            <p:ph type="title"/>
          </p:nvPr>
        </p:nvSpPr>
        <p:spPr/>
        <p:txBody>
          <a:bodyPr/>
          <a:lstStyle/>
          <a:p>
            <a:r>
              <a:rPr lang="en-US" sz="3200" cap="none">
                <a:solidFill>
                  <a:schemeClr val="tx1"/>
                </a:solidFill>
              </a:rPr>
              <a:t>LLM performance assessment – Critical Insight</a:t>
            </a:r>
            <a:endParaRPr lang="en-US" sz="3200" cap="none"/>
          </a:p>
        </p:txBody>
      </p:sp>
      <p:sp>
        <p:nvSpPr>
          <p:cNvPr id="2" name="Título 4">
            <a:extLst>
              <a:ext uri="{FF2B5EF4-FFF2-40B4-BE49-F238E27FC236}">
                <a16:creationId xmlns:a16="http://schemas.microsoft.com/office/drawing/2014/main" id="{2FEDAC75-266B-CFD9-8C22-2A369A13B7FE}"/>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a:solidFill>
                <a:schemeClr val="tx1"/>
              </a:solidFill>
            </a:endParaRPr>
          </a:p>
        </p:txBody>
      </p:sp>
      <p:sp>
        <p:nvSpPr>
          <p:cNvPr id="3" name="Título 4">
            <a:extLst>
              <a:ext uri="{FF2B5EF4-FFF2-40B4-BE49-F238E27FC236}">
                <a16:creationId xmlns:a16="http://schemas.microsoft.com/office/drawing/2014/main" id="{26E8AA96-E4FE-2D1F-50B5-1C90B137D285}"/>
              </a:ext>
            </a:extLst>
          </p:cNvPr>
          <p:cNvSpPr txBox="1">
            <a:spLocks/>
          </p:cNvSpPr>
          <p:nvPr/>
        </p:nvSpPr>
        <p:spPr>
          <a:xfrm>
            <a:off x="407495" y="1718810"/>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a:solidFill>
                  <a:schemeClr val="tx1"/>
                </a:solidFill>
              </a:rPr>
              <a:t>Team Members’ Opinion about the A.I. output: </a:t>
            </a:r>
            <a:r>
              <a:rPr lang="en-US" sz="2000" b="0" kern="0">
                <a:solidFill>
                  <a:schemeClr val="tx1"/>
                </a:solidFill>
              </a:rPr>
              <a:t>The team thinks that this time the AI output was more concise and gave better information thanks to a better input.  </a:t>
            </a: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r>
              <a:rPr lang="en-US" sz="2000" kern="0">
                <a:solidFill>
                  <a:schemeClr val="tx1"/>
                </a:solidFill>
              </a:rPr>
              <a:t>Improvement Suggestion from LLM: </a:t>
            </a:r>
            <a:r>
              <a:rPr lang="en-US" sz="2000" b="0" kern="0">
                <a:solidFill>
                  <a:schemeClr val="tx1"/>
                </a:solidFill>
              </a:rPr>
              <a:t>Improve early sprint engagement and requirement clarification (especially datasets and dependencies) by involving all team members more actively from sprint start and aligning with the client sooner, reducing rework and delays later in the sprint.</a:t>
            </a:r>
          </a:p>
          <a:p>
            <a:endParaRPr lang="en-US" sz="2000" b="0" kern="0">
              <a:solidFill>
                <a:schemeClr val="bg1">
                  <a:lumMod val="50000"/>
                </a:schemeClr>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a:p>
            <a:endParaRPr lang="en-US" sz="2000" kern="0">
              <a:solidFill>
                <a:schemeClr val="tx1"/>
              </a:solidFill>
            </a:endParaRPr>
          </a:p>
        </p:txBody>
      </p:sp>
    </p:spTree>
    <p:extLst>
      <p:ext uri="{BB962C8B-B14F-4D97-AF65-F5344CB8AC3E}">
        <p14:creationId xmlns:p14="http://schemas.microsoft.com/office/powerpoint/2010/main" val="1227709559"/>
      </p:ext>
    </p:extLst>
  </p:cSld>
  <p:clrMapOvr>
    <a:masterClrMapping/>
  </p:clrMapOvr>
  <p:transition spd="med">
    <p:fade/>
  </p:transition>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a:solidFill>
                  <a:schemeClr val="tx1"/>
                </a:solidFill>
              </a:rPr>
              <a:t>Sprint Retrospective                        </a:t>
            </a:r>
            <a:r>
              <a:rPr lang="en-US" sz="2800" b="0" cap="none">
                <a:solidFill>
                  <a:schemeClr val="tx1"/>
                </a:solidFill>
              </a:rPr>
              <a:t>Date: 04/01/2026</a:t>
            </a:r>
            <a:endParaRPr lang="en-US" sz="3200" b="0" cap="none">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250869" y="1763815"/>
            <a:ext cx="2970330" cy="44506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a:solidFill>
                  <a:schemeClr val="tx1"/>
                </a:solidFill>
              </a:rPr>
              <a:t>What went well?</a:t>
            </a:r>
          </a:p>
          <a:p>
            <a:endParaRPr lang="en-US" sz="1400">
              <a:solidFill>
                <a:schemeClr val="tx1"/>
              </a:solidFill>
            </a:endParaRPr>
          </a:p>
          <a:p>
            <a:pPr marL="285750" indent="-285750">
              <a:buFont typeface="Arial" panose="020B0604020202020204" pitchFamily="34" charset="0"/>
              <a:buChar char="•"/>
            </a:pPr>
            <a:r>
              <a:rPr lang="en-US" sz="1400">
                <a:solidFill>
                  <a:schemeClr val="tx1"/>
                </a:solidFill>
              </a:rPr>
              <a:t>The team successfully completed the sprint within the </a:t>
            </a:r>
            <a:r>
              <a:rPr lang="en-US" sz="1400" err="1">
                <a:solidFill>
                  <a:schemeClr val="tx1"/>
                </a:solidFill>
              </a:rPr>
              <a:t>planeed</a:t>
            </a:r>
            <a:r>
              <a:rPr lang="en-US" sz="1400">
                <a:solidFill>
                  <a:schemeClr val="tx1"/>
                </a:solidFill>
              </a:rPr>
              <a:t> end date despite a delayed real start.</a:t>
            </a:r>
          </a:p>
          <a:p>
            <a:pPr marL="285750" indent="-285750">
              <a:buFont typeface="Arial" panose="020B0604020202020204" pitchFamily="34" charset="0"/>
              <a:buChar char="•"/>
            </a:pPr>
            <a:r>
              <a:rPr lang="en-US" sz="1400">
                <a:solidFill>
                  <a:schemeClr val="tx1"/>
                </a:solidFill>
              </a:rPr>
              <a:t>Strong collaboration and peer reviews improved the quality of delivered USs.</a:t>
            </a:r>
          </a:p>
          <a:p>
            <a:pPr marL="285750" indent="-285750">
              <a:buFont typeface="Arial" panose="020B0604020202020204" pitchFamily="34" charset="0"/>
              <a:buChar char="•"/>
            </a:pPr>
            <a:r>
              <a:rPr lang="en-US" sz="1400">
                <a:solidFill>
                  <a:schemeClr val="tx1"/>
                </a:solidFill>
              </a:rPr>
              <a:t>Key contributors maintained momentum and supported others when difficulties arose.</a:t>
            </a:r>
          </a:p>
          <a:p>
            <a:endParaRPr lang="en-US" sz="1400">
              <a:solidFill>
                <a:schemeClr val="tx1"/>
              </a:solidFill>
            </a:endParaRPr>
          </a:p>
        </p:txBody>
      </p:sp>
      <p:sp>
        <p:nvSpPr>
          <p:cNvPr id="7" name="Rectangle 6">
            <a:extLst>
              <a:ext uri="{FF2B5EF4-FFF2-40B4-BE49-F238E27FC236}">
                <a16:creationId xmlns:a16="http://schemas.microsoft.com/office/drawing/2014/main" id="{73B9FD58-6876-4E87-998E-ACA36985B86E}"/>
              </a:ext>
            </a:extLst>
          </p:cNvPr>
          <p:cNvSpPr/>
          <p:nvPr/>
        </p:nvSpPr>
        <p:spPr>
          <a:xfrm>
            <a:off x="3480763"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a:solidFill>
                  <a:schemeClr val="tx1"/>
                </a:solidFill>
              </a:rPr>
              <a:t>What went wrong?</a:t>
            </a:r>
          </a:p>
          <a:p>
            <a:pPr marL="285750" indent="-285750">
              <a:buFont typeface="Arial" panose="020B0604020202020204" pitchFamily="34" charset="0"/>
              <a:buChar char="•"/>
            </a:pPr>
            <a:r>
              <a:rPr lang="en-US" sz="1400">
                <a:solidFill>
                  <a:schemeClr val="tx1"/>
                </a:solidFill>
              </a:rPr>
              <a:t>Some team members had low engagement at the beginning of the sprint, slowing initial progress.</a:t>
            </a:r>
          </a:p>
          <a:p>
            <a:pPr marL="285750" indent="-285750">
              <a:buFont typeface="Arial" panose="020B0604020202020204" pitchFamily="34" charset="0"/>
              <a:buChar char="•"/>
            </a:pPr>
            <a:r>
              <a:rPr lang="en-US" sz="1400">
                <a:solidFill>
                  <a:schemeClr val="tx1"/>
                </a:solidFill>
              </a:rPr>
              <a:t>Sprint planning extended longer than expected due to requirement uncertainty.</a:t>
            </a:r>
          </a:p>
          <a:p>
            <a:endParaRPr lang="en-US" sz="1400">
              <a:solidFill>
                <a:schemeClr val="tx1"/>
              </a:solidFill>
            </a:endParaRPr>
          </a:p>
          <a:p>
            <a:pPr marL="285750" indent="-285750">
              <a:buFont typeface="Arial" panose="020B0604020202020204" pitchFamily="34" charset="0"/>
              <a:buChar char="•"/>
            </a:pPr>
            <a:endParaRPr lang="en-US" sz="1400">
              <a:solidFill>
                <a:schemeClr val="tx1"/>
              </a:solidFill>
            </a:endParaRPr>
          </a:p>
        </p:txBody>
      </p:sp>
      <p:sp>
        <p:nvSpPr>
          <p:cNvPr id="8" name="Rectangle 7">
            <a:extLst>
              <a:ext uri="{FF2B5EF4-FFF2-40B4-BE49-F238E27FC236}">
                <a16:creationId xmlns:a16="http://schemas.microsoft.com/office/drawing/2014/main" id="{39B8E455-F8DD-4DEF-9E49-A26421870FC1}"/>
              </a:ext>
            </a:extLst>
          </p:cNvPr>
          <p:cNvSpPr/>
          <p:nvPr/>
        </p:nvSpPr>
        <p:spPr>
          <a:xfrm>
            <a:off x="6708195" y="1763814"/>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a:solidFill>
                  <a:schemeClr val="tx1"/>
                </a:solidFill>
              </a:rPr>
              <a:t>What we learned?</a:t>
            </a:r>
          </a:p>
          <a:p>
            <a:pPr marL="285750" indent="-285750">
              <a:buFont typeface="Arial" panose="020B0604020202020204" pitchFamily="34" charset="0"/>
              <a:buChar char="•"/>
            </a:pPr>
            <a:r>
              <a:rPr lang="en-US" sz="1400">
                <a:solidFill>
                  <a:schemeClr val="tx1"/>
                </a:solidFill>
              </a:rPr>
              <a:t>Early clarification of requirements and datasets is critical to avoid rework later.</a:t>
            </a:r>
          </a:p>
          <a:p>
            <a:pPr marL="285750" indent="-285750">
              <a:buFont typeface="Arial" panose="020B0604020202020204" pitchFamily="34" charset="0"/>
              <a:buChar char="•"/>
            </a:pPr>
            <a:r>
              <a:rPr lang="en-US" sz="1400">
                <a:solidFill>
                  <a:schemeClr val="tx1"/>
                </a:solidFill>
              </a:rPr>
              <a:t>Continuous communication and peer support help mitigate blockers effectively.</a:t>
            </a:r>
          </a:p>
          <a:p>
            <a:pPr marL="285750" indent="-285750">
              <a:buFont typeface="Arial" panose="020B0604020202020204" pitchFamily="34" charset="0"/>
              <a:buChar char="•"/>
            </a:pPr>
            <a:endParaRPr lang="en-US" sz="1400">
              <a:solidFill>
                <a:schemeClr val="tx1"/>
              </a:solidFill>
            </a:endParaRPr>
          </a:p>
        </p:txBody>
      </p:sp>
    </p:spTree>
    <p:extLst>
      <p:ext uri="{BB962C8B-B14F-4D97-AF65-F5344CB8AC3E}">
        <p14:creationId xmlns:p14="http://schemas.microsoft.com/office/powerpoint/2010/main" val="3250254882"/>
      </p:ext>
    </p:extLst>
  </p:cSld>
  <p:clrMapOvr>
    <a:masterClrMapping/>
  </p:clrMapOvr>
  <p:transition spd="med">
    <p:fade/>
  </p:transition>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0AF2-FD58-E72D-83EF-8D677D3A4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416E1C-4950-D71D-123A-F724531983DC}"/>
              </a:ext>
            </a:extLst>
          </p:cNvPr>
          <p:cNvSpPr/>
          <p:nvPr/>
        </p:nvSpPr>
        <p:spPr>
          <a:xfrm>
            <a:off x="317484" y="1718809"/>
            <a:ext cx="9226025" cy="454550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a:solidFill>
                  <a:schemeClr val="tx1"/>
                </a:solidFill>
              </a:rPr>
              <a:t>Action items:</a:t>
            </a:r>
          </a:p>
          <a:p>
            <a:pPr marL="285750" indent="-285750">
              <a:buFont typeface="Arial" panose="020B0604020202020204" pitchFamily="34" charset="0"/>
              <a:buChar char="•"/>
            </a:pPr>
            <a:endParaRPr lang="en-US" sz="1400">
              <a:solidFill>
                <a:schemeClr val="tx1"/>
              </a:solidFill>
            </a:endParaRPr>
          </a:p>
          <a:p>
            <a:pPr marL="285750" indent="-285750">
              <a:buFont typeface="Arial" panose="020B0604020202020204" pitchFamily="34" charset="0"/>
              <a:buChar char="•"/>
            </a:pPr>
            <a:r>
              <a:rPr lang="en-US" sz="1400">
                <a:solidFill>
                  <a:schemeClr val="tx1"/>
                </a:solidFill>
              </a:rPr>
              <a:t>Involve all team members actively from the start of the sprint.</a:t>
            </a:r>
          </a:p>
          <a:p>
            <a:pPr marL="285750" indent="-285750">
              <a:buFont typeface="Arial" panose="020B0604020202020204" pitchFamily="34" charset="0"/>
              <a:buChar char="•"/>
            </a:pPr>
            <a:r>
              <a:rPr lang="en-US" sz="1400">
                <a:solidFill>
                  <a:schemeClr val="tx1"/>
                </a:solidFill>
              </a:rPr>
              <a:t>Clarify datasets, schemas, and dependencies with the client during sprint planning.</a:t>
            </a:r>
          </a:p>
          <a:p>
            <a:pPr marL="285750" indent="-285750">
              <a:buFont typeface="Arial" panose="020B0604020202020204" pitchFamily="34" charset="0"/>
              <a:buChar char="•"/>
            </a:pPr>
            <a:r>
              <a:rPr lang="en-US" sz="1400">
                <a:solidFill>
                  <a:schemeClr val="tx1"/>
                </a:solidFill>
              </a:rPr>
              <a:t>Define US ownership earlier and track progress more closely in the first sprint days.</a:t>
            </a:r>
          </a:p>
          <a:p>
            <a:pPr marL="285750" indent="-285750">
              <a:buFont typeface="Arial" panose="020B0604020202020204" pitchFamily="34" charset="0"/>
              <a:buChar char="•"/>
            </a:pPr>
            <a:r>
              <a:rPr lang="en-US" sz="1400">
                <a:solidFill>
                  <a:schemeClr val="tx1"/>
                </a:solidFill>
              </a:rPr>
              <a:t>Allocate time for early reviews to detect issues sooner.</a:t>
            </a:r>
          </a:p>
        </p:txBody>
      </p:sp>
      <p:sp>
        <p:nvSpPr>
          <p:cNvPr id="7" name="Título 4">
            <a:extLst>
              <a:ext uri="{FF2B5EF4-FFF2-40B4-BE49-F238E27FC236}">
                <a16:creationId xmlns:a16="http://schemas.microsoft.com/office/drawing/2014/main" id="{15D1BD0F-42E6-8626-2941-D327B367F339}"/>
              </a:ext>
            </a:extLst>
          </p:cNvPr>
          <p:cNvSpPr>
            <a:spLocks noGrp="1"/>
          </p:cNvSpPr>
          <p:nvPr>
            <p:ph type="title"/>
          </p:nvPr>
        </p:nvSpPr>
        <p:spPr>
          <a:xfrm>
            <a:off x="414000" y="1000108"/>
            <a:ext cx="9043200" cy="571503"/>
          </a:xfrm>
        </p:spPr>
        <p:txBody>
          <a:bodyPr/>
          <a:lstStyle/>
          <a:p>
            <a:r>
              <a:rPr lang="en-US" sz="3200" cap="none">
                <a:solidFill>
                  <a:schemeClr val="tx1"/>
                </a:solidFill>
              </a:rPr>
              <a:t>Sprint Retrospective                        </a:t>
            </a:r>
            <a:r>
              <a:rPr lang="en-US" sz="2800" b="0" cap="none">
                <a:solidFill>
                  <a:schemeClr val="tx1"/>
                </a:solidFill>
              </a:rPr>
              <a:t>Date:</a:t>
            </a:r>
            <a:r>
              <a:rPr lang="en-US" sz="2800" b="0">
                <a:solidFill>
                  <a:schemeClr val="tx1"/>
                </a:solidFill>
              </a:rPr>
              <a:t> 04/01/2026</a:t>
            </a:r>
            <a:r>
              <a:rPr lang="en-US" sz="2800" b="0" cap="none">
                <a:solidFill>
                  <a:schemeClr val="tx1"/>
                </a:solidFill>
              </a:rPr>
              <a:t> </a:t>
            </a:r>
            <a:endParaRPr lang="en-US" sz="3200" b="0" cap="none">
              <a:solidFill>
                <a:schemeClr val="tx1"/>
              </a:solidFill>
            </a:endParaRPr>
          </a:p>
        </p:txBody>
      </p:sp>
    </p:spTree>
    <p:extLst>
      <p:ext uri="{BB962C8B-B14F-4D97-AF65-F5344CB8AC3E}">
        <p14:creationId xmlns:p14="http://schemas.microsoft.com/office/powerpoint/2010/main" val="3789479183"/>
      </p:ext>
    </p:extLst>
  </p:cSld>
  <p:clrMapOvr>
    <a:masterClrMapping/>
  </p:clrMapOvr>
  <p:transition spd="med">
    <p:fade/>
  </p:transition>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a:solidFill>
                  <a:schemeClr val="tx1"/>
                </a:solidFill>
              </a:rPr>
              <a:t>Overall Project Performance:</a:t>
            </a:r>
          </a:p>
        </p:txBody>
      </p:sp>
      <p:sp>
        <p:nvSpPr>
          <p:cNvPr id="2" name="Marcador de Posição do Texto 1">
            <a:extLst>
              <a:ext uri="{FF2B5EF4-FFF2-40B4-BE49-F238E27FC236}">
                <a16:creationId xmlns:a16="http://schemas.microsoft.com/office/drawing/2014/main" id="{EEE97808-B786-5C10-6A83-416F88B5C6D2}"/>
              </a:ext>
            </a:extLst>
          </p:cNvPr>
          <p:cNvSpPr>
            <a:spLocks noGrp="1"/>
          </p:cNvSpPr>
          <p:nvPr>
            <p:ph type="body" idx="1"/>
          </p:nvPr>
        </p:nvSpPr>
        <p:spPr>
          <a:xfrm>
            <a:off x="431400" y="1731934"/>
            <a:ext cx="9043200" cy="4589999"/>
          </a:xfrm>
        </p:spPr>
        <p:txBody>
          <a:bodyPr/>
          <a:lstStyle/>
          <a:p>
            <a:pPr marL="127000" indent="0">
              <a:buNone/>
            </a:pPr>
            <a:r>
              <a:rPr lang="pt-PT">
                <a:solidFill>
                  <a:schemeClr val="tx1"/>
                </a:solidFill>
              </a:rPr>
              <a:t>LLM evaluation: 4/5</a:t>
            </a:r>
          </a:p>
          <a:p>
            <a:endParaRPr lang="pt-PT">
              <a:solidFill>
                <a:schemeClr val="tx1"/>
              </a:solidFill>
            </a:endParaRPr>
          </a:p>
          <a:p>
            <a:pPr marL="127000" indent="0">
              <a:buNone/>
            </a:pPr>
            <a:endParaRPr lang="pt-PT">
              <a:solidFill>
                <a:schemeClr val="tx1"/>
              </a:solidFill>
            </a:endParaRPr>
          </a:p>
          <a:p>
            <a:pPr marL="127000" indent="0">
              <a:buNone/>
            </a:pPr>
            <a:r>
              <a:rPr lang="pt-PT">
                <a:solidFill>
                  <a:schemeClr val="tx1"/>
                </a:solidFill>
              </a:rPr>
              <a:t>Team evaluation: 4/5</a:t>
            </a:r>
          </a:p>
          <a:p>
            <a:pPr marL="127000" indent="0">
              <a:buNone/>
            </a:pPr>
            <a:endParaRPr lang="pt-PT">
              <a:solidFill>
                <a:schemeClr val="tx1"/>
              </a:solidFill>
            </a:endParaRPr>
          </a:p>
          <a:p>
            <a:pPr marL="127000" indent="0">
              <a:buNone/>
            </a:pPr>
            <a:endParaRPr lang="pt-PT">
              <a:solidFill>
                <a:schemeClr val="tx1"/>
              </a:solidFill>
            </a:endParaRPr>
          </a:p>
          <a:p>
            <a:pPr marL="127000" indent="0">
              <a:buNone/>
            </a:pPr>
            <a:endParaRPr lang="pt-PT">
              <a:solidFill>
                <a:schemeClr val="tx1"/>
              </a:solidFill>
            </a:endParaRPr>
          </a:p>
          <a:p>
            <a:pPr marL="127000" indent="0">
              <a:buNone/>
            </a:pPr>
            <a:r>
              <a:rPr lang="pt-PT">
                <a:solidFill>
                  <a:schemeClr val="tx1"/>
                </a:solidFill>
              </a:rPr>
              <a:t>Team feeling: 4/5</a:t>
            </a:r>
          </a:p>
        </p:txBody>
      </p:sp>
      <p:pic>
        <p:nvPicPr>
          <p:cNvPr id="7" name="Imagem 6">
            <a:extLst>
              <a:ext uri="{FF2B5EF4-FFF2-40B4-BE49-F238E27FC236}">
                <a16:creationId xmlns:a16="http://schemas.microsoft.com/office/drawing/2014/main" id="{6417797C-1297-547E-D29B-35BF35D93259}"/>
              </a:ext>
            </a:extLst>
          </p:cNvPr>
          <p:cNvPicPr>
            <a:picLocks noChangeAspect="1"/>
          </p:cNvPicPr>
          <p:nvPr/>
        </p:nvPicPr>
        <p:blipFill>
          <a:blip r:embed="rId4"/>
          <a:stretch>
            <a:fillRect/>
          </a:stretch>
        </p:blipFill>
        <p:spPr>
          <a:xfrm>
            <a:off x="2747754" y="4563414"/>
            <a:ext cx="4275475" cy="1742285"/>
          </a:xfrm>
          <a:prstGeom prst="rect">
            <a:avLst/>
          </a:prstGeom>
        </p:spPr>
      </p:pic>
      <p:sp>
        <p:nvSpPr>
          <p:cNvPr id="4" name="TextBox 3">
            <a:extLst>
              <a:ext uri="{FF2B5EF4-FFF2-40B4-BE49-F238E27FC236}">
                <a16:creationId xmlns:a16="http://schemas.microsoft.com/office/drawing/2014/main" id="{92473D2B-D283-DD8E-F7C2-13685BF372DC}"/>
              </a:ext>
            </a:extLst>
          </p:cNvPr>
          <p:cNvSpPr txBox="1"/>
          <p:nvPr/>
        </p:nvSpPr>
        <p:spPr>
          <a:xfrm>
            <a:off x="3827875" y="5744488"/>
            <a:ext cx="4955458" cy="369332"/>
          </a:xfrm>
          <a:prstGeom prst="rect">
            <a:avLst/>
          </a:prstGeom>
          <a:noFill/>
        </p:spPr>
        <p:txBody>
          <a:bodyPr wrap="square">
            <a:spAutoFit/>
          </a:bodyPr>
          <a:lstStyle/>
          <a:p>
            <a:r>
              <a:rPr lang="pt-PT"/>
              <a:t>✔️</a:t>
            </a:r>
          </a:p>
        </p:txBody>
      </p:sp>
    </p:spTree>
    <p:extLst>
      <p:ext uri="{BB962C8B-B14F-4D97-AF65-F5344CB8AC3E}">
        <p14:creationId xmlns:p14="http://schemas.microsoft.com/office/powerpoint/2010/main" val="81955380"/>
      </p:ext>
    </p:extLst>
  </p:cSld>
  <p:clrMapOvr>
    <a:masterClrMapping/>
  </p:clrMapOvr>
  <p:transition spd="med">
    <p:fade/>
  </p:transition>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764391778E2B4FBABC02A2DE5CC80E" ma:contentTypeVersion="8" ma:contentTypeDescription="Create a new document." ma:contentTypeScope="" ma:versionID="989ecabb5c26f84cf55cf940670eb750">
  <xsd:schema xmlns:xsd="http://www.w3.org/2001/XMLSchema" xmlns:xs="http://www.w3.org/2001/XMLSchema" xmlns:p="http://schemas.microsoft.com/office/2006/metadata/properties" xmlns:ns3="b163ee49-d5ca-4566-8d9a-132778b8595f" xmlns:ns4="bd9de7ca-1bc7-4476-8342-8c6da5362d49" targetNamespace="http://schemas.microsoft.com/office/2006/metadata/properties" ma:root="true" ma:fieldsID="efb4f580df5630ad0828683c89ecfeee" ns3:_="" ns4:_="">
    <xsd:import namespace="b163ee49-d5ca-4566-8d9a-132778b8595f"/>
    <xsd:import namespace="bd9de7ca-1bc7-4476-8342-8c6da5362d4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63ee49-d5ca-4566-8d9a-132778b859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9de7ca-1bc7-4476-8342-8c6da5362d4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163ee49-d5ca-4566-8d9a-132778b8595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9838A5-E893-4977-A8C7-8D5DB79A9495}">
  <ds:schemaRefs>
    <ds:schemaRef ds:uri="b163ee49-d5ca-4566-8d9a-132778b8595f"/>
    <ds:schemaRef ds:uri="bd9de7ca-1bc7-4476-8342-8c6da5362d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B87164-EF5F-43C8-917E-48B38ACAFD1E}">
  <ds:schemaRefs>
    <ds:schemaRef ds:uri="bd9de7ca-1bc7-4476-8342-8c6da5362d49"/>
    <ds:schemaRef ds:uri="http://www.w3.org/XML/1998/namespace"/>
    <ds:schemaRef ds:uri="b163ee49-d5ca-4566-8d9a-132778b8595f"/>
    <ds:schemaRef ds:uri="http://schemas.microsoft.com/office/infopath/2007/PartnerControl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4F984168-AABC-4753-B4EC-59CA9D0883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TotalTime>
  <Words>1039</Words>
  <Application>Microsoft Office PowerPoint</Application>
  <PresentationFormat>A4 Paper (210x297 mm)</PresentationFormat>
  <Paragraphs>339</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Kozuka Gothic Pro M</vt:lpstr>
      <vt:lpstr>1_ISEP</vt:lpstr>
      <vt:lpstr>Logistic On Rails - SPRINT 3  G075</vt:lpstr>
      <vt:lpstr>Sprint planning – Sprint 3</vt:lpstr>
      <vt:lpstr>Sprint 3 planning</vt:lpstr>
      <vt:lpstr>Sprint 3 planning</vt:lpstr>
      <vt:lpstr>Work assigned by team member</vt:lpstr>
      <vt:lpstr> Work assigned by type (component)</vt:lpstr>
      <vt:lpstr>Issues / Assumptions / unanswered questions</vt:lpstr>
      <vt:lpstr>Daily Meetings</vt:lpstr>
      <vt:lpstr>Daily Meetings</vt:lpstr>
      <vt:lpstr>LLM performance assessment - Input (use ChatGPT or Copilot)</vt:lpstr>
      <vt:lpstr>LLM performance assessment - Output</vt:lpstr>
      <vt:lpstr>LLM performance assessment – Critical Insight</vt:lpstr>
      <vt:lpstr>Sprint Retrospective                        Date: 04/01/2026</vt:lpstr>
      <vt:lpstr>Sprint Retrospective                        Date: 04/01/2026 </vt:lpstr>
      <vt:lpstr>Overall Project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Carlos Miguel Costa Almeida</cp:lastModifiedBy>
  <cp:revision>2</cp:revision>
  <dcterms:created xsi:type="dcterms:W3CDTF">2010-10-20T15:48:12Z</dcterms:created>
  <dcterms:modified xsi:type="dcterms:W3CDTF">2026-01-04T21:51:38Z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0x01010076764391778E2B4FBABC02A2DE5CC80E</vt:lpwstr>
  </property>
  <property fmtid="{D5CDD505-2E9C-101B-9397-08002B2CF9AE}" pid="3" name="MediaServiceImageTags">
    <vt:lpwstr/>
  </property>
</Properties>
</file>