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omments/modernComment_127_0.xml" ContentType="application/vnd.ms-powerpoint.comments+xml"/>
  <Override PartName="/ppt/comments/modernComment_199_E8DB507.xml" ContentType="application/vnd.ms-powerpoint.comments+xml"/>
  <Override PartName="/ppt/comments/modernComment_194_F8C0A913.xml" ContentType="application/vnd.ms-powerpoint.comments+xml"/>
  <Override PartName="/ppt/comments/modernComment_196_73C95D57.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modernComment_197_300F0B25.xml" ContentType="application/vnd.ms-powerpoint.comment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modernComment_19B_4BDE2BB0.xml" ContentType="application/vnd.ms-powerpoint.comments+xml"/>
  <Override PartName="/ppt/comments/modernComment_19A_18A78E8B.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Lst>
  <p:notesMasterIdLst>
    <p:notesMasterId r:id="rId21"/>
  </p:notesMasterIdLst>
  <p:sldIdLst>
    <p:sldId id="295" r:id="rId5"/>
    <p:sldId id="409" r:id="rId6"/>
    <p:sldId id="404" r:id="rId7"/>
    <p:sldId id="414" r:id="rId8"/>
    <p:sldId id="415" r:id="rId9"/>
    <p:sldId id="406" r:id="rId10"/>
    <p:sldId id="407" r:id="rId11"/>
    <p:sldId id="408" r:id="rId12"/>
    <p:sldId id="411" r:id="rId13"/>
    <p:sldId id="410" r:id="rId14"/>
    <p:sldId id="412" r:id="rId15"/>
    <p:sldId id="416" r:id="rId16"/>
    <p:sldId id="398" r:id="rId17"/>
    <p:sldId id="413" r:id="rId18"/>
    <p:sldId id="405" r:id="rId19"/>
    <p:sldId id="387" r:id="rId20"/>
  </p:sldIdLst>
  <p:sldSz cx="9906000" cy="6858000" type="A4"/>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C1A558A-D303-65E2-8988-E9D20194D4E8}" name="Ana Barata" initials="AB" userId="S::abt@isep.ipp.pt::5b353bcc-9c20-4dd6-9ceb-f15a7e5b3203" providerId="AD"/>
  <p188:author id="{B3F86EC3-8919-8678-90F2-313043EC911E}" name="Carlos Almeida" initials="CA" userId="Carlos Almeid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5432"/>
    <a:srgbClr val="404040"/>
    <a:srgbClr val="7F7F7F"/>
    <a:srgbClr val="FF8600"/>
    <a:srgbClr val="FF6600"/>
    <a:srgbClr val="5B5B5B"/>
    <a:srgbClr val="7F7F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214E59-DC44-499B-9D53-5DF30C0E4524}" v="92" dt="2025-10-25T21:08:36.0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Estilo Claro 2 - Destaque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8D230F3-CF80-4859-8CE7-A43EE81993B5}" styleName="Estilo Claro 1 - Destaqu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38B1855-1B75-4FBE-930C-398BA8C253C6}" styleName="Estilo com Tema 2 - Destaque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2DE63D5-997A-4646-A377-4702673A728D}" styleName="Estilo Claro 2 - Destaqu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3296810-A885-4BE3-A3E7-6D5BEEA58F35}" styleName="Estilo Médio 2 - Destaqu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71" autoAdjust="0"/>
    <p:restoredTop sz="94737" autoAdjust="0"/>
  </p:normalViewPr>
  <p:slideViewPr>
    <p:cSldViewPr>
      <p:cViewPr varScale="1">
        <p:scale>
          <a:sx n="105" d="100"/>
          <a:sy n="105" d="100"/>
        </p:scale>
        <p:origin x="1680" y="102"/>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PT"/>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pt-PT" dirty="0" err="1"/>
              <a:t>Number</a:t>
            </a:r>
            <a:r>
              <a:rPr lang="pt-PT" baseline="0" dirty="0"/>
              <a:t> of</a:t>
            </a:r>
            <a:r>
              <a:rPr lang="pt-PT" dirty="0"/>
              <a:t> </a:t>
            </a:r>
            <a:r>
              <a:rPr lang="pt-PT" dirty="0" err="1"/>
              <a:t>tasks</a:t>
            </a:r>
            <a:r>
              <a:rPr lang="pt-PT" dirty="0"/>
              <a:t> / </a:t>
            </a:r>
            <a:r>
              <a:rPr lang="pt-PT" dirty="0" err="1"/>
              <a:t>Hours</a:t>
            </a:r>
            <a:endParaRPr lang="pt-PT"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pt-PT"/>
        </a:p>
      </c:txPr>
    </c:title>
    <c:autoTitleDeleted val="0"/>
    <c:plotArea>
      <c:layout/>
      <c:barChart>
        <c:barDir val="col"/>
        <c:grouping val="clustered"/>
        <c:varyColors val="0"/>
        <c:ser>
          <c:idx val="0"/>
          <c:order val="0"/>
          <c:tx>
            <c:strRef>
              <c:f>Folha1!$B$1</c:f>
              <c:strCache>
                <c:ptCount val="1"/>
                <c:pt idx="0">
                  <c:v>Horas</c:v>
                </c:pt>
              </c:strCache>
            </c:strRef>
          </c:tx>
          <c:spPr>
            <a:solidFill>
              <a:schemeClr val="accent6">
                <a:shade val="76000"/>
              </a:schemeClr>
            </a:solidFill>
            <a:ln>
              <a:noFill/>
            </a:ln>
            <a:effectLst/>
          </c:spPr>
          <c:invertIfNegative val="0"/>
          <c:cat>
            <c:strRef>
              <c:f>Folha1!$A$2:$A$6</c:f>
              <c:strCache>
                <c:ptCount val="5"/>
                <c:pt idx="0">
                  <c:v>Bruno Silva</c:v>
                </c:pt>
                <c:pt idx="1">
                  <c:v>Carlos Almeida</c:v>
                </c:pt>
                <c:pt idx="2">
                  <c:v>Miguel Pinto</c:v>
                </c:pt>
                <c:pt idx="3">
                  <c:v>João Pereira</c:v>
                </c:pt>
                <c:pt idx="4">
                  <c:v>Francisca Paulos</c:v>
                </c:pt>
              </c:strCache>
            </c:strRef>
          </c:cat>
          <c:val>
            <c:numRef>
              <c:f>Folha1!$B$2:$B$6</c:f>
              <c:numCache>
                <c:formatCode>General</c:formatCode>
                <c:ptCount val="5"/>
                <c:pt idx="0">
                  <c:v>23.75</c:v>
                </c:pt>
                <c:pt idx="1">
                  <c:v>36.75</c:v>
                </c:pt>
                <c:pt idx="2">
                  <c:v>26.75</c:v>
                </c:pt>
                <c:pt idx="3">
                  <c:v>22.75</c:v>
                </c:pt>
                <c:pt idx="4">
                  <c:v>21.75</c:v>
                </c:pt>
              </c:numCache>
            </c:numRef>
          </c:val>
          <c:extLst>
            <c:ext xmlns:c16="http://schemas.microsoft.com/office/drawing/2014/chart" uri="{C3380CC4-5D6E-409C-BE32-E72D297353CC}">
              <c16:uniqueId val="{00000000-0486-4A64-B307-80E9A3590427}"/>
            </c:ext>
          </c:extLst>
        </c:ser>
        <c:ser>
          <c:idx val="1"/>
          <c:order val="1"/>
          <c:tx>
            <c:strRef>
              <c:f>Folha1!$C$1</c:f>
              <c:strCache>
                <c:ptCount val="1"/>
                <c:pt idx="0">
                  <c:v>Tarefas</c:v>
                </c:pt>
              </c:strCache>
            </c:strRef>
          </c:tx>
          <c:spPr>
            <a:solidFill>
              <a:schemeClr val="accent6">
                <a:tint val="77000"/>
              </a:schemeClr>
            </a:solidFill>
            <a:ln>
              <a:noFill/>
            </a:ln>
            <a:effectLst/>
          </c:spPr>
          <c:invertIfNegative val="0"/>
          <c:cat>
            <c:strRef>
              <c:f>Folha1!$A$2:$A$6</c:f>
              <c:strCache>
                <c:ptCount val="5"/>
                <c:pt idx="0">
                  <c:v>Bruno Silva</c:v>
                </c:pt>
                <c:pt idx="1">
                  <c:v>Carlos Almeida</c:v>
                </c:pt>
                <c:pt idx="2">
                  <c:v>Miguel Pinto</c:v>
                </c:pt>
                <c:pt idx="3">
                  <c:v>João Pereira</c:v>
                </c:pt>
                <c:pt idx="4">
                  <c:v>Francisca Paulos</c:v>
                </c:pt>
              </c:strCache>
            </c:strRef>
          </c:cat>
          <c:val>
            <c:numRef>
              <c:f>Folha1!$C$2:$C$6</c:f>
              <c:numCache>
                <c:formatCode>General</c:formatCode>
                <c:ptCount val="5"/>
                <c:pt idx="0">
                  <c:v>11</c:v>
                </c:pt>
                <c:pt idx="1">
                  <c:v>10</c:v>
                </c:pt>
                <c:pt idx="2">
                  <c:v>9</c:v>
                </c:pt>
                <c:pt idx="3">
                  <c:v>14</c:v>
                </c:pt>
                <c:pt idx="4">
                  <c:v>13</c:v>
                </c:pt>
              </c:numCache>
            </c:numRef>
          </c:val>
          <c:extLst>
            <c:ext xmlns:c16="http://schemas.microsoft.com/office/drawing/2014/chart" uri="{C3380CC4-5D6E-409C-BE32-E72D297353CC}">
              <c16:uniqueId val="{00000000-8E8F-4D5D-A5C6-CD1C104312DF}"/>
            </c:ext>
          </c:extLst>
        </c:ser>
        <c:dLbls>
          <c:showLegendKey val="0"/>
          <c:showVal val="0"/>
          <c:showCatName val="0"/>
          <c:showSerName val="0"/>
          <c:showPercent val="0"/>
          <c:showBubbleSize val="0"/>
        </c:dLbls>
        <c:gapWidth val="219"/>
        <c:overlap val="-27"/>
        <c:axId val="691907944"/>
        <c:axId val="691902368"/>
      </c:barChart>
      <c:catAx>
        <c:axId val="691907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1902368"/>
        <c:crosses val="autoZero"/>
        <c:auto val="1"/>
        <c:lblAlgn val="ctr"/>
        <c:lblOffset val="100"/>
        <c:noMultiLvlLbl val="0"/>
      </c:catAx>
      <c:valAx>
        <c:axId val="691902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19079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PT"/>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pt-PT" dirty="0" err="1"/>
              <a:t>Epic</a:t>
            </a:r>
            <a:r>
              <a:rPr lang="pt-PT" dirty="0"/>
              <a:t> </a:t>
            </a:r>
            <a:r>
              <a:rPr lang="pt-PT" dirty="0" err="1"/>
              <a:t>or</a:t>
            </a:r>
            <a:r>
              <a:rPr lang="pt-PT" dirty="0"/>
              <a:t> </a:t>
            </a:r>
            <a:r>
              <a:rPr lang="pt-PT" dirty="0" err="1"/>
              <a:t>Component</a:t>
            </a:r>
            <a:r>
              <a:rPr lang="pt-PT" dirty="0"/>
              <a:t> </a:t>
            </a:r>
            <a:r>
              <a:rPr lang="pt-PT" dirty="0" err="1"/>
              <a:t>or</a:t>
            </a:r>
            <a:r>
              <a:rPr lang="pt-PT" dirty="0"/>
              <a:t> UC</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Folha1!$B$1</c:f>
              <c:strCache>
                <c:ptCount val="1"/>
                <c:pt idx="0">
                  <c:v>Componente</c:v>
                </c:pt>
              </c:strCache>
            </c:strRef>
          </c:tx>
          <c:dPt>
            <c:idx val="0"/>
            <c:bubble3D val="0"/>
            <c:spPr>
              <a:solidFill>
                <a:schemeClr val="accent6">
                  <a:tint val="58000"/>
                </a:schemeClr>
              </a:solidFill>
              <a:ln w="19050">
                <a:solidFill>
                  <a:schemeClr val="lt1"/>
                </a:solidFill>
              </a:ln>
              <a:effectLst/>
            </c:spPr>
            <c:extLst>
              <c:ext xmlns:c16="http://schemas.microsoft.com/office/drawing/2014/chart" uri="{C3380CC4-5D6E-409C-BE32-E72D297353CC}">
                <c16:uniqueId val="{00000001-0D5E-44D3-AE05-D0CC3596364F}"/>
              </c:ext>
            </c:extLst>
          </c:dPt>
          <c:dPt>
            <c:idx val="1"/>
            <c:bubble3D val="0"/>
            <c:spPr>
              <a:solidFill>
                <a:schemeClr val="accent6">
                  <a:tint val="86000"/>
                </a:schemeClr>
              </a:solidFill>
              <a:ln w="19050">
                <a:solidFill>
                  <a:schemeClr val="lt1"/>
                </a:solidFill>
              </a:ln>
              <a:effectLst/>
            </c:spPr>
            <c:extLst>
              <c:ext xmlns:c16="http://schemas.microsoft.com/office/drawing/2014/chart" uri="{C3380CC4-5D6E-409C-BE32-E72D297353CC}">
                <c16:uniqueId val="{00000003-0D5E-44D3-AE05-D0CC3596364F}"/>
              </c:ext>
            </c:extLst>
          </c:dPt>
          <c:dPt>
            <c:idx val="2"/>
            <c:bubble3D val="0"/>
            <c:spPr>
              <a:solidFill>
                <a:schemeClr val="accent6">
                  <a:shade val="86000"/>
                </a:schemeClr>
              </a:solidFill>
              <a:ln w="19050">
                <a:solidFill>
                  <a:schemeClr val="lt1"/>
                </a:solidFill>
              </a:ln>
              <a:effectLst/>
            </c:spPr>
            <c:extLst>
              <c:ext xmlns:c16="http://schemas.microsoft.com/office/drawing/2014/chart" uri="{C3380CC4-5D6E-409C-BE32-E72D297353CC}">
                <c16:uniqueId val="{00000005-0D5E-44D3-AE05-D0CC3596364F}"/>
              </c:ext>
            </c:extLst>
          </c:dPt>
          <c:dPt>
            <c:idx val="3"/>
            <c:bubble3D val="0"/>
            <c:spPr>
              <a:solidFill>
                <a:schemeClr val="accent6">
                  <a:shade val="58000"/>
                </a:schemeClr>
              </a:solidFill>
              <a:ln w="19050">
                <a:solidFill>
                  <a:schemeClr val="lt1"/>
                </a:solidFill>
              </a:ln>
              <a:effectLst/>
            </c:spPr>
            <c:extLst>
              <c:ext xmlns:c16="http://schemas.microsoft.com/office/drawing/2014/chart" uri="{C3380CC4-5D6E-409C-BE32-E72D297353CC}">
                <c16:uniqueId val="{00000007-0D5E-44D3-AE05-D0CC3596364F}"/>
              </c:ext>
            </c:extLst>
          </c:dPt>
          <c:cat>
            <c:strRef>
              <c:f>Folha1!$A$2:$A$4</c:f>
              <c:strCache>
                <c:ptCount val="3"/>
                <c:pt idx="0">
                  <c:v>ESINF</c:v>
                </c:pt>
                <c:pt idx="1">
                  <c:v>BDDAD</c:v>
                </c:pt>
                <c:pt idx="2">
                  <c:v>LAPR</c:v>
                </c:pt>
              </c:strCache>
            </c:strRef>
          </c:cat>
          <c:val>
            <c:numRef>
              <c:f>Folha1!$B$2:$B$4</c:f>
              <c:numCache>
                <c:formatCode>General</c:formatCode>
                <c:ptCount val="3"/>
                <c:pt idx="0">
                  <c:v>4</c:v>
                </c:pt>
                <c:pt idx="1">
                  <c:v>6</c:v>
                </c:pt>
                <c:pt idx="2">
                  <c:v>3</c:v>
                </c:pt>
              </c:numCache>
            </c:numRef>
          </c:val>
          <c:extLst>
            <c:ext xmlns:c16="http://schemas.microsoft.com/office/drawing/2014/chart" uri="{C3380CC4-5D6E-409C-BE32-E72D297353CC}">
              <c16:uniqueId val="{00000000-A2C6-47B5-9769-0633602DAAC3}"/>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9A_18A78E8B.xml><?xml version="1.0" encoding="utf-8"?>
<p188:cmLst xmlns:a="http://schemas.openxmlformats.org/drawingml/2006/main" xmlns:r="http://schemas.openxmlformats.org/officeDocument/2006/relationships" xmlns:p188="http://schemas.microsoft.com/office/powerpoint/2018/8/main">
  <p188:cm id="{C8F11B5E-A96B-481B-8CB0-A7B8AF14F672}" authorId="{6C1A558A-D303-65E2-8988-E9D20194D4E8}" created="2024-10-22T15:32:15.800">
    <pc:sldMkLst xmlns:pc="http://schemas.microsoft.com/office/powerpoint/2013/main/command">
      <pc:docMk/>
      <pc:sldMk cId="413634187" sldId="410"/>
    </pc:sldMkLst>
    <p188:txBody>
      <a:bodyPr/>
      <a:lstStyle/>
      <a:p>
        <a:r>
          <a:rPr lang="en-GB"/>
          <a:t>To analyse the information registered on the board, from issues to daily meetings, and each team member's performance, and compare it with your own perspective.</a:t>
        </a:r>
      </a:p>
    </p188:txBody>
  </p188:cm>
</p188:cmLst>
</file>

<file path=ppt/comments/modernComment_19B_4BDE2BB0.xml><?xml version="1.0" encoding="utf-8"?>
<p188:cmLst xmlns:a="http://schemas.openxmlformats.org/drawingml/2006/main" xmlns:r="http://schemas.openxmlformats.org/officeDocument/2006/relationships" xmlns:p188="http://schemas.microsoft.com/office/powerpoint/2018/8/main">
  <p188:cm id="{A070780B-DB84-4A97-8599-8F8407629B8F}" authorId="{6C1A558A-D303-65E2-8988-E9D20194D4E8}" created="2024-10-22T15:31:18.767">
    <pc:sldMkLst xmlns:pc="http://schemas.microsoft.com/office/powerpoint/2013/main/command">
      <pc:docMk/>
      <pc:sldMk cId="1272851376" sldId="411"/>
    </pc:sldMkLst>
    <p188:txBody>
      <a:bodyPr/>
      <a:lstStyle/>
      <a:p>
        <a:r>
          <a:rPr lang="en-GB"/>
          <a:t>Register the dates of each daily and the attendees</a:t>
        </a:r>
      </a:p>
    </p188:txBody>
  </p188:cm>
</p188:cmLst>
</file>

<file path=ppt/comments/modernComment_127_0.xml><?xml version="1.0" encoding="utf-8"?>
<p188:cmLst xmlns:a="http://schemas.openxmlformats.org/drawingml/2006/main" xmlns:r="http://schemas.openxmlformats.org/officeDocument/2006/relationships" xmlns:p188="http://schemas.microsoft.com/office/powerpoint/2018/8/main">
  <p188:cm id="{5A05288D-53D7-4485-9EC0-C6B72816DB2A}" authorId="{6C1A558A-D303-65E2-8988-E9D20194D4E8}" created="2024-10-22T15:29:55.765">
    <pc:sldMkLst xmlns:pc="http://schemas.microsoft.com/office/powerpoint/2013/main/command">
      <pc:docMk/>
      <pc:sldMk cId="0" sldId="295"/>
    </pc:sldMkLst>
    <p188:txBody>
      <a:bodyPr/>
      <a:lstStyle/>
      <a:p>
        <a:r>
          <a:rPr lang="en-US"/>
          <a:t>Team and SPrint identification</a:t>
        </a:r>
      </a:p>
    </p188:txBody>
  </p188:cm>
</p188:cmLst>
</file>

<file path=ppt/comments/modernComment_194_F8C0A913.xml><?xml version="1.0" encoding="utf-8"?>
<p188:cmLst xmlns:a="http://schemas.openxmlformats.org/drawingml/2006/main" xmlns:r="http://schemas.openxmlformats.org/officeDocument/2006/relationships" xmlns:p188="http://schemas.microsoft.com/office/powerpoint/2018/8/main">
  <p188:cm id="{0B49A45F-1BB2-4EE9-9AC3-E3FE75BDA40D}" authorId="{6C1A558A-D303-65E2-8988-E9D20194D4E8}" created="2024-10-22T15:29:00.575">
    <pc:sldMkLst xmlns:pc="http://schemas.microsoft.com/office/powerpoint/2013/main/command">
      <pc:docMk/>
      <pc:sldMk cId="4173375763" sldId="404"/>
    </pc:sldMkLst>
    <p188:txBody>
      <a:bodyPr/>
      <a:lstStyle/>
      <a:p>
        <a:r>
          <a:rPr lang="en-GB"/>
          <a:t>Duplicate this slide as many times as you need. This information must be taken from the Project Board and correspond to the  real number of assigned US.</a:t>
        </a:r>
      </a:p>
    </p188:txBody>
  </p188:cm>
</p188:cmLst>
</file>

<file path=ppt/comments/modernComment_196_73C95D57.xml><?xml version="1.0" encoding="utf-8"?>
<p188:cmLst xmlns:a="http://schemas.openxmlformats.org/drawingml/2006/main" xmlns:r="http://schemas.openxmlformats.org/officeDocument/2006/relationships" xmlns:p188="http://schemas.microsoft.com/office/powerpoint/2018/8/main">
  <p188:cm id="{33B10A50-E342-46B1-8A21-69A1F6A00AA6}" authorId="{6C1A558A-D303-65E2-8988-E9D20194D4E8}" created="2024-10-22T15:28:37.653">
    <pc:sldMkLst xmlns:pc="http://schemas.microsoft.com/office/powerpoint/2013/main/command">
      <pc:docMk/>
      <pc:sldMk cId="1942576471" sldId="406"/>
    </pc:sldMkLst>
    <p188:txBody>
      <a:bodyPr/>
      <a:lstStyle/>
      <a:p>
        <a:r>
          <a:rPr lang="en-GB"/>
          <a:t>Este gráfico é apenas um exemplo. 
Devem retirar a informação a partir do menu "insights" no vosso repositório.
Formatem um tipo de gráfico que permita expor o número de tarefas atribuídas e executadas por cada elemento da equipa. Podem incluir todos os elementos, mesmo os que não estão em LAPR3.</a:t>
        </a:r>
      </a:p>
    </p188:txBody>
  </p188:cm>
</p188:cmLst>
</file>

<file path=ppt/comments/modernComment_197_300F0B25.xml><?xml version="1.0" encoding="utf-8"?>
<p188:cmLst xmlns:a="http://schemas.openxmlformats.org/drawingml/2006/main" xmlns:r="http://schemas.openxmlformats.org/officeDocument/2006/relationships" xmlns:p188="http://schemas.microsoft.com/office/powerpoint/2018/8/main">
  <p188:cm id="{98DB55F9-AD37-4F54-B79F-128CDD8B7F4B}" authorId="{6C1A558A-D303-65E2-8988-E9D20194D4E8}" created="2024-10-22T15:30:53.219">
    <pc:sldMkLst xmlns:pc="http://schemas.microsoft.com/office/powerpoint/2013/main/command">
      <pc:docMk/>
      <pc:sldMk cId="806292261" sldId="407"/>
    </pc:sldMkLst>
    <p188:txBody>
      <a:bodyPr/>
      <a:lstStyle/>
      <a:p>
        <a:r>
          <a:rPr lang="en-US"/>
          <a:t>May be created using the data from the board - workoad in each component from each team member.</a:t>
        </a:r>
      </a:p>
    </p188:txBody>
  </p188:cm>
</p188:cmLst>
</file>

<file path=ppt/comments/modernComment_199_E8DB507.xml><?xml version="1.0" encoding="utf-8"?>
<p188:cmLst xmlns:a="http://schemas.openxmlformats.org/drawingml/2006/main" xmlns:r="http://schemas.openxmlformats.org/officeDocument/2006/relationships" xmlns:p188="http://schemas.microsoft.com/office/powerpoint/2018/8/main">
  <p188:cm id="{43E5A7E4-8301-4D04-B856-08C35D122170}" authorId="{6C1A558A-D303-65E2-8988-E9D20194D4E8}" created="2024-10-22T15:29:25.154">
    <pc:sldMkLst xmlns:pc="http://schemas.microsoft.com/office/powerpoint/2013/main/command">
      <pc:docMk/>
      <pc:sldMk cId="244167943" sldId="409"/>
    </pc:sldMkLst>
    <p188:txBody>
      <a:bodyPr/>
      <a:lstStyle/>
      <a:p>
        <a:r>
          <a:rPr lang="en-US"/>
          <a:t>According to the information in the board/repository</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PT"/>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8AA918-AAAF-A948-AD9D-7282A6CA6554}" type="datetimeFigureOut">
              <a:rPr lang="en-US" smtClean="0"/>
              <a:pPr/>
              <a:t>10/30/2025</a:t>
            </a:fld>
            <a:endParaRPr lang="pt-PT"/>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pt-PT"/>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PT"/>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1B708B-99F0-4F4A-8995-6044E0FFF0C7}" type="slidenum">
              <a:rPr lang="pt-PT" smtClean="0"/>
              <a:pPr/>
              <a:t>‹nº›</a:t>
            </a:fld>
            <a:endParaRPr lang="pt-PT"/>
          </a:p>
        </p:txBody>
      </p:sp>
    </p:spTree>
    <p:extLst>
      <p:ext uri="{BB962C8B-B14F-4D97-AF65-F5344CB8AC3E}">
        <p14:creationId xmlns:p14="http://schemas.microsoft.com/office/powerpoint/2010/main" val="256420930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Shape 14"/>
        <p:cNvGrpSpPr/>
        <p:nvPr/>
      </p:nvGrpSpPr>
      <p:grpSpPr>
        <a:xfrm>
          <a:off x="0" y="0"/>
          <a:ext cx="0" cy="0"/>
          <a:chOff x="0" y="0"/>
          <a:chExt cx="0" cy="0"/>
        </a:xfrm>
      </p:grpSpPr>
      <p:sp>
        <p:nvSpPr>
          <p:cNvPr id="2" name="Retângulo 1">
            <a:extLst>
              <a:ext uri="{FF2B5EF4-FFF2-40B4-BE49-F238E27FC236}">
                <a16:creationId xmlns:a16="http://schemas.microsoft.com/office/drawing/2014/main" id="{E3986928-2F1A-05D5-49A7-ECF44F7E6983}"/>
              </a:ext>
            </a:extLst>
          </p:cNvPr>
          <p:cNvSpPr/>
          <p:nvPr userDrawn="1"/>
        </p:nvSpPr>
        <p:spPr>
          <a:xfrm>
            <a:off x="1" y="1093304"/>
            <a:ext cx="9906000" cy="5764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chemeClr val="bg1"/>
              </a:solidFill>
            </a:endParaRPr>
          </a:p>
        </p:txBody>
      </p:sp>
      <p:sp>
        <p:nvSpPr>
          <p:cNvPr id="15" name="Shape 15"/>
          <p:cNvSpPr txBox="1">
            <a:spLocks noGrp="1"/>
          </p:cNvSpPr>
          <p:nvPr>
            <p:ph type="title"/>
          </p:nvPr>
        </p:nvSpPr>
        <p:spPr>
          <a:xfrm>
            <a:off x="414000" y="4000503"/>
            <a:ext cx="8182338"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0" i="0" u="none" strike="noStrike" cap="none">
                <a:solidFill>
                  <a:srgbClr val="A5ABB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Shape 16"/>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Tree>
    <p:extLst>
      <p:ext uri="{BB962C8B-B14F-4D97-AF65-F5344CB8AC3E}">
        <p14:creationId xmlns:p14="http://schemas.microsoft.com/office/powerpoint/2010/main" val="871060492"/>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Em branco">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685800" y="1066800"/>
            <a:ext cx="8534399" cy="571503"/>
          </a:xfrm>
          <a:prstGeom prst="rect">
            <a:avLst/>
          </a:prstGeom>
          <a:noFill/>
          <a:ln>
            <a:noFill/>
          </a:ln>
        </p:spPr>
        <p:txBody>
          <a:bodyPr wrap="square" lIns="91425" tIns="91425" rIns="91425" bIns="91425" anchor="t" anchorCtr="0"/>
          <a:lstStyle>
            <a:lvl1pPr marL="0" marR="0" lvl="0" indent="0" algn="l" rtl="0">
              <a:spcBef>
                <a:spcPts val="0"/>
              </a:spcBef>
              <a:buClr>
                <a:srgbClr val="000000"/>
              </a:buClr>
              <a:buFont typeface="Calibri"/>
              <a:buNone/>
              <a:defRPr sz="3200" b="1" i="0" u="none" strike="noStrike" cap="none">
                <a:solidFill>
                  <a:srgbClr val="00000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9" name="Shape 19"/>
          <p:cNvSpPr txBox="1">
            <a:spLocks noGrp="1"/>
          </p:cNvSpPr>
          <p:nvPr>
            <p:ph type="body" idx="1"/>
          </p:nvPr>
        </p:nvSpPr>
        <p:spPr>
          <a:xfrm>
            <a:off x="685800" y="1714488"/>
            <a:ext cx="8534399" cy="4305312"/>
          </a:xfrm>
          <a:prstGeom prst="rect">
            <a:avLst/>
          </a:prstGeom>
          <a:noFill/>
          <a:ln>
            <a:noFill/>
          </a:ln>
        </p:spPr>
        <p:txBody>
          <a:bodyPr wrap="square" lIns="91425" tIns="91425" rIns="91425" bIns="91425" anchor="t" anchorCtr="0"/>
          <a:lstStyle>
            <a:lvl1pPr marL="342900" marR="0" lvl="0" indent="-228600" algn="l" rtl="0">
              <a:spcBef>
                <a:spcPts val="0"/>
              </a:spcBef>
              <a:spcAft>
                <a:spcPts val="400"/>
              </a:spcAft>
              <a:buSzPct val="100000"/>
              <a:buFont typeface="Arial"/>
              <a:buChar char="•"/>
              <a:defRPr sz="1800" b="0" i="0" u="none" strike="noStrike" cap="none">
                <a:latin typeface="Calibri"/>
                <a:ea typeface="Calibri"/>
                <a:cs typeface="Calibri"/>
                <a:sym typeface="Calibri"/>
              </a:defRPr>
            </a:lvl1pPr>
            <a:lvl2pPr marL="742950" marR="0" lvl="1" indent="-171450" algn="l" rtl="0">
              <a:spcBef>
                <a:spcPts val="0"/>
              </a:spcBef>
              <a:spcAft>
                <a:spcPts val="400"/>
              </a:spcAft>
              <a:buSzPct val="100000"/>
              <a:buFont typeface="Arial"/>
              <a:buChar char="–"/>
              <a:defRPr sz="1800" b="0" i="0" u="none" strike="noStrike" cap="none">
                <a:latin typeface="Calibri"/>
                <a:ea typeface="Calibri"/>
                <a:cs typeface="Calibri"/>
                <a:sym typeface="Calibri"/>
              </a:defRPr>
            </a:lvl2pPr>
            <a:lvl3pPr marL="1143000" marR="0" lvl="2" indent="-228600" algn="l" rtl="0">
              <a:spcBef>
                <a:spcPts val="0"/>
              </a:spcBef>
              <a:spcAft>
                <a:spcPts val="400"/>
              </a:spcAft>
              <a:buFont typeface="Arial"/>
              <a:buChar char="■"/>
              <a:defRPr sz="1800" b="0" i="0" u="none" strike="noStrike" cap="none">
                <a:latin typeface="Calibri"/>
                <a:ea typeface="Calibri"/>
                <a:cs typeface="Calibri"/>
                <a:sym typeface="Calibri"/>
              </a:defRPr>
            </a:lvl3pPr>
            <a:lvl4pPr marL="1600200" marR="0" lvl="3" indent="-114300" algn="l" rtl="0">
              <a:spcBef>
                <a:spcPts val="0"/>
              </a:spcBef>
              <a:spcAft>
                <a:spcPts val="400"/>
              </a:spcAft>
              <a:buSzPct val="100000"/>
              <a:buFont typeface="Arial"/>
              <a:buChar char="–"/>
              <a:defRPr sz="1800" b="0" i="0" u="none" strike="noStrike" cap="none">
                <a:latin typeface="Calibri"/>
                <a:ea typeface="Calibri"/>
                <a:cs typeface="Calibri"/>
                <a:sym typeface="Calibri"/>
              </a:defRPr>
            </a:lvl4pPr>
            <a:lvl5pPr marL="2057400" marR="0" lvl="4" indent="-114300" algn="l" rtl="0">
              <a:spcBef>
                <a:spcPts val="0"/>
              </a:spcBef>
              <a:spcAft>
                <a:spcPts val="400"/>
              </a:spcAft>
              <a:buSzPct val="100000"/>
              <a:buFont typeface="Arial"/>
              <a:buChar char="»"/>
              <a:defRPr sz="1800" b="0" i="0" u="none" strike="noStrike" cap="none">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dirty="0"/>
          </a:p>
        </p:txBody>
      </p:sp>
      <p:sp>
        <p:nvSpPr>
          <p:cNvPr id="2" name="Retângulo 1">
            <a:extLst>
              <a:ext uri="{FF2B5EF4-FFF2-40B4-BE49-F238E27FC236}">
                <a16:creationId xmlns:a16="http://schemas.microsoft.com/office/drawing/2014/main" id="{761D1FC4-6243-41CD-9D5B-A6553C84873C}"/>
              </a:ext>
            </a:extLst>
          </p:cNvPr>
          <p:cNvSpPr/>
          <p:nvPr userDrawn="1"/>
        </p:nvSpPr>
        <p:spPr>
          <a:xfrm>
            <a:off x="579188" y="6525785"/>
            <a:ext cx="1451038" cy="276999"/>
          </a:xfrm>
          <a:prstGeom prst="rect">
            <a:avLst/>
          </a:prstGeom>
        </p:spPr>
        <p:txBody>
          <a:bodyPr wrap="none">
            <a:spAutoFit/>
          </a:bodyPr>
          <a:lstStyle/>
          <a:p>
            <a:r>
              <a:rPr lang="pt-PT" sz="1200" b="1" i="1" err="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Internal</a:t>
            </a:r>
            <a:r>
              <a:rPr lang="pt-PT" sz="1200" b="1" i="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 Use </a:t>
            </a:r>
            <a:r>
              <a:rPr lang="pt-PT" sz="1200" b="1" i="1" err="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Only</a:t>
            </a:r>
            <a:endParaRPr lang="pt-PT" sz="1200" i="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endParaRPr>
          </a:p>
        </p:txBody>
      </p:sp>
    </p:spTree>
    <p:extLst>
      <p:ext uri="{BB962C8B-B14F-4D97-AF65-F5344CB8AC3E}">
        <p14:creationId xmlns:p14="http://schemas.microsoft.com/office/powerpoint/2010/main" val="2739653128"/>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Shape 21"/>
        <p:cNvGrpSpPr/>
        <p:nvPr/>
      </p:nvGrpSpPr>
      <p:grpSpPr>
        <a:xfrm>
          <a:off x="0" y="0"/>
          <a:ext cx="0" cy="0"/>
          <a:chOff x="0" y="0"/>
          <a:chExt cx="0" cy="0"/>
        </a:xfrm>
      </p:grpSpPr>
      <p:sp>
        <p:nvSpPr>
          <p:cNvPr id="22" name="Shape 22"/>
          <p:cNvSpPr txBox="1">
            <a:spLocks noGrp="1"/>
          </p:cNvSpPr>
          <p:nvPr>
            <p:ph type="title"/>
          </p:nvPr>
        </p:nvSpPr>
        <p:spPr>
          <a:xfrm>
            <a:off x="380967" y="4000503"/>
            <a:ext cx="8215370"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0"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3" name="Shape 23"/>
          <p:cNvSpPr txBox="1">
            <a:spLocks noGrp="1"/>
          </p:cNvSpPr>
          <p:nvPr>
            <p:ph type="body" idx="1"/>
          </p:nvPr>
        </p:nvSpPr>
        <p:spPr>
          <a:xfrm>
            <a:off x="390552" y="4808553"/>
            <a:ext cx="6848464" cy="406396"/>
          </a:xfrm>
          <a:prstGeom prst="rect">
            <a:avLst/>
          </a:prstGeom>
          <a:noFill/>
          <a:ln>
            <a:noFill/>
          </a:ln>
        </p:spPr>
        <p:txBody>
          <a:bodyPr wrap="square" lIns="91425" tIns="91425" rIns="91425" bIns="91425" anchor="b" anchorCtr="0"/>
          <a:lstStyle>
            <a:lvl1pPr marL="0" marR="0" lvl="0" indent="0" algn="l" rtl="0">
              <a:spcBef>
                <a:spcPts val="0"/>
              </a:spcBef>
              <a:spcAft>
                <a:spcPts val="400"/>
              </a:spcAft>
              <a:buClr>
                <a:srgbClr val="888888"/>
              </a:buClr>
              <a:buFont typeface="Arial"/>
              <a:buChar char="●"/>
              <a:defRPr sz="2000" b="0" i="0" u="none" strike="noStrike" cap="none">
                <a:solidFill>
                  <a:srgbClr val="888888"/>
                </a:solidFill>
                <a:latin typeface="Calibri"/>
                <a:ea typeface="Calibri"/>
                <a:cs typeface="Calibri"/>
                <a:sym typeface="Calibri"/>
              </a:defRPr>
            </a:lvl1pPr>
            <a:lvl2pPr marL="457200" marR="0" lvl="1" indent="0" algn="l" rtl="0">
              <a:spcBef>
                <a:spcPts val="0"/>
              </a:spcBef>
              <a:spcAft>
                <a:spcPts val="400"/>
              </a:spcAft>
              <a:buClr>
                <a:srgbClr val="888888"/>
              </a:buClr>
              <a:buFont typeface="Arial"/>
              <a:buChar char="○"/>
              <a:defRPr sz="1800" b="0" i="0" u="none" strike="noStrike" cap="none">
                <a:solidFill>
                  <a:srgbClr val="888888"/>
                </a:solidFill>
                <a:latin typeface="Calibri"/>
                <a:ea typeface="Calibri"/>
                <a:cs typeface="Calibri"/>
                <a:sym typeface="Calibri"/>
              </a:defRPr>
            </a:lvl2pPr>
            <a:lvl3pPr marL="914400" marR="0" lvl="2" indent="0" algn="l" rtl="0">
              <a:spcBef>
                <a:spcPts val="0"/>
              </a:spcBef>
              <a:spcAft>
                <a:spcPts val="400"/>
              </a:spcAft>
              <a:buClr>
                <a:srgbClr val="888888"/>
              </a:buClr>
              <a:buFont typeface="Arial"/>
              <a:buChar char="■"/>
              <a:defRPr sz="1600" b="0" i="0" u="none" strike="noStrike" cap="none">
                <a:solidFill>
                  <a:srgbClr val="888888"/>
                </a:solidFill>
                <a:latin typeface="Calibri"/>
                <a:ea typeface="Calibri"/>
                <a:cs typeface="Calibri"/>
                <a:sym typeface="Calibri"/>
              </a:defRPr>
            </a:lvl3pPr>
            <a:lvl4pPr marL="1371600" marR="0" lvl="3" indent="0" algn="l" rtl="0">
              <a:spcBef>
                <a:spcPts val="0"/>
              </a:spcBef>
              <a:spcAft>
                <a:spcPts val="400"/>
              </a:spcAft>
              <a:buClr>
                <a:srgbClr val="888888"/>
              </a:buClr>
              <a:buFont typeface="Arial"/>
              <a:buChar char="●"/>
              <a:defRPr sz="1400" b="0" i="0" u="none" strike="noStrike" cap="none">
                <a:solidFill>
                  <a:srgbClr val="888888"/>
                </a:solidFill>
                <a:latin typeface="Calibri"/>
                <a:ea typeface="Calibri"/>
                <a:cs typeface="Calibri"/>
                <a:sym typeface="Calibri"/>
              </a:defRPr>
            </a:lvl4pPr>
            <a:lvl5pPr marL="1828800" marR="0" lvl="4" indent="0" algn="l" rtl="0">
              <a:spcBef>
                <a:spcPts val="0"/>
              </a:spcBef>
              <a:spcAft>
                <a:spcPts val="400"/>
              </a:spcAft>
              <a:buClr>
                <a:srgbClr val="888888"/>
              </a:buClr>
              <a:buFont typeface="Arial"/>
              <a:buChar char="○"/>
              <a:defRPr sz="1400" b="0" i="0" u="none" strike="noStrike" cap="none">
                <a:solidFill>
                  <a:srgbClr val="888888"/>
                </a:solidFill>
                <a:latin typeface="Calibri"/>
                <a:ea typeface="Calibri"/>
                <a:cs typeface="Calibri"/>
                <a:sym typeface="Calibri"/>
              </a:defRPr>
            </a:lvl5pPr>
            <a:lvl6pPr marL="2286000" marR="0" lvl="5"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6pPr>
            <a:lvl7pPr marL="2743200" marR="0" lvl="6"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7pPr>
            <a:lvl8pPr marL="3200400" marR="0" lvl="7"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8pPr>
            <a:lvl9pPr marL="3657600" marR="0" lvl="8"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9pPr>
          </a:lstStyle>
          <a:p>
            <a:endParaRPr dirty="0"/>
          </a:p>
        </p:txBody>
      </p:sp>
      <p:sp>
        <p:nvSpPr>
          <p:cNvPr id="24" name="Shape 24"/>
          <p:cNvSpPr txBox="1">
            <a:spLocks noGrp="1"/>
          </p:cNvSpPr>
          <p:nvPr>
            <p:ph type="dt" idx="10"/>
          </p:nvPr>
        </p:nvSpPr>
        <p:spPr>
          <a:xfrm>
            <a:off x="452406"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518983840"/>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e objecto">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414000" y="1000108"/>
            <a:ext cx="9043200"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7" name="Shape 27"/>
          <p:cNvSpPr txBox="1">
            <a:spLocks noGrp="1"/>
          </p:cNvSpPr>
          <p:nvPr>
            <p:ph type="body" idx="1"/>
          </p:nvPr>
        </p:nvSpPr>
        <p:spPr>
          <a:xfrm>
            <a:off x="414000" y="1714486"/>
            <a:ext cx="90432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8" name="Shape 28"/>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0" name="Shape 30"/>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‹nº›</a:t>
            </a:fld>
            <a:endParaRPr lang="pt-PT" sz="1200" b="0" i="0" u="none" strike="noStrike" cap="none">
              <a:solidFill>
                <a:srgbClr val="888888"/>
              </a:solidFill>
              <a:latin typeface="Arial"/>
              <a:ea typeface="Arial"/>
              <a:cs typeface="Arial"/>
              <a:sym typeface="Arial"/>
            </a:endParaRPr>
          </a:p>
        </p:txBody>
      </p:sp>
    </p:spTree>
    <p:extLst>
      <p:ext uri="{BB962C8B-B14F-4D97-AF65-F5344CB8AC3E}">
        <p14:creationId xmlns:p14="http://schemas.microsoft.com/office/powerpoint/2010/main" val="3799919366"/>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údo Duplo">
    <p:spTree>
      <p:nvGrpSpPr>
        <p:cNvPr id="1" name="Shape 31"/>
        <p:cNvGrpSpPr/>
        <p:nvPr/>
      </p:nvGrpSpPr>
      <p:grpSpPr>
        <a:xfrm>
          <a:off x="0" y="0"/>
          <a:ext cx="0" cy="0"/>
          <a:chOff x="0" y="0"/>
          <a:chExt cx="0" cy="0"/>
        </a:xfrm>
      </p:grpSpPr>
      <p:sp>
        <p:nvSpPr>
          <p:cNvPr id="32" name="Shape 32"/>
          <p:cNvSpPr txBox="1">
            <a:spLocks noGrp="1"/>
          </p:cNvSpPr>
          <p:nvPr>
            <p:ph type="title"/>
          </p:nvPr>
        </p:nvSpPr>
        <p:spPr>
          <a:xfrm>
            <a:off x="685800" y="1066800"/>
            <a:ext cx="87713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3" name="Shape 33"/>
          <p:cNvSpPr txBox="1">
            <a:spLocks noGrp="1"/>
          </p:cNvSpPr>
          <p:nvPr>
            <p:ph type="body" idx="1"/>
          </p:nvPr>
        </p:nvSpPr>
        <p:spPr>
          <a:xfrm>
            <a:off x="414000" y="1696519"/>
            <a:ext cx="45000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6pPr>
            <a:lvl7pPr marL="2971800" marR="0" lvl="6"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7pPr>
            <a:lvl8pPr marL="3429000" marR="0" lvl="7"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8pPr>
            <a:lvl9pPr marL="3886200" marR="0" lvl="8"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4" name="Shape 34"/>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‹nº›</a:t>
            </a:fld>
            <a:endParaRPr lang="pt-PT" sz="1200" b="0" i="0" u="none" strike="noStrike" cap="none">
              <a:solidFill>
                <a:srgbClr val="888888"/>
              </a:solidFill>
              <a:latin typeface="Arial"/>
              <a:ea typeface="Arial"/>
              <a:cs typeface="Arial"/>
              <a:sym typeface="Arial"/>
            </a:endParaRPr>
          </a:p>
        </p:txBody>
      </p:sp>
      <p:sp>
        <p:nvSpPr>
          <p:cNvPr id="37" name="Shape 37"/>
          <p:cNvSpPr txBox="1">
            <a:spLocks noGrp="1"/>
          </p:cNvSpPr>
          <p:nvPr>
            <p:ph type="body" idx="2"/>
          </p:nvPr>
        </p:nvSpPr>
        <p:spPr>
          <a:xfrm>
            <a:off x="4968000" y="1696519"/>
            <a:ext cx="45000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6pPr>
            <a:lvl7pPr marL="2971800" marR="0" lvl="6"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7pPr>
            <a:lvl8pPr marL="3429000" marR="0" lvl="7"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8pPr>
            <a:lvl9pPr marL="3886200" marR="0" lvl="8"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64908252"/>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Shape 38"/>
        <p:cNvGrpSpPr/>
        <p:nvPr/>
      </p:nvGrpSpPr>
      <p:grpSpPr>
        <a:xfrm>
          <a:off x="0" y="0"/>
          <a:ext cx="0" cy="0"/>
          <a:chOff x="0" y="0"/>
          <a:chExt cx="0" cy="0"/>
        </a:xfrm>
      </p:grpSpPr>
      <p:sp>
        <p:nvSpPr>
          <p:cNvPr id="39" name="Shape 39"/>
          <p:cNvSpPr>
            <a:spLocks noGrp="1"/>
          </p:cNvSpPr>
          <p:nvPr>
            <p:ph type="pic" idx="2"/>
          </p:nvPr>
        </p:nvSpPr>
        <p:spPr>
          <a:xfrm>
            <a:off x="414000" y="1004400"/>
            <a:ext cx="9043200" cy="5309999"/>
          </a:xfrm>
          <a:prstGeom prst="rect">
            <a:avLst/>
          </a:prstGeom>
          <a:noFill/>
          <a:ln>
            <a:noFill/>
          </a:ln>
        </p:spPr>
        <p:txBody>
          <a:bodyPr wrap="square" lIns="91425" tIns="91425" rIns="91425" bIns="91425" anchor="t" anchorCtr="0"/>
          <a:lstStyle>
            <a:lvl1pPr marL="0" marR="0" lvl="0" indent="0" algn="l" rtl="0">
              <a:spcBef>
                <a:spcPts val="0"/>
              </a:spcBef>
              <a:spcAft>
                <a:spcPts val="400"/>
              </a:spcAft>
              <a:buClr>
                <a:srgbClr val="D8D8D8"/>
              </a:buClr>
              <a:buFont typeface="Arial"/>
              <a:buNone/>
              <a:defRPr sz="3200" b="0" i="0" u="none" strike="noStrike" cap="none">
                <a:solidFill>
                  <a:srgbClr val="D8D8D8"/>
                </a:solidFill>
                <a:latin typeface="Calibri"/>
                <a:ea typeface="Calibri"/>
                <a:cs typeface="Calibri"/>
                <a:sym typeface="Calibri"/>
              </a:defRPr>
            </a:lvl1pPr>
            <a:lvl2pPr marL="457200" marR="0" lvl="1" indent="0" algn="l" rtl="0">
              <a:spcBef>
                <a:spcPts val="0"/>
              </a:spcBef>
              <a:spcAft>
                <a:spcPts val="400"/>
              </a:spcAft>
              <a:buClr>
                <a:srgbClr val="D8D8D8"/>
              </a:buClr>
              <a:buFont typeface="Arial"/>
              <a:buNone/>
              <a:defRPr sz="2800" b="0" i="0" u="none" strike="noStrike" cap="none">
                <a:solidFill>
                  <a:srgbClr val="D8D8D8"/>
                </a:solidFill>
                <a:latin typeface="Calibri"/>
                <a:ea typeface="Calibri"/>
                <a:cs typeface="Calibri"/>
                <a:sym typeface="Calibri"/>
              </a:defRPr>
            </a:lvl2pPr>
            <a:lvl3pPr marL="914400" marR="0" lvl="2" indent="0" algn="l" rtl="0">
              <a:spcBef>
                <a:spcPts val="0"/>
              </a:spcBef>
              <a:spcAft>
                <a:spcPts val="400"/>
              </a:spcAft>
              <a:buClr>
                <a:srgbClr val="D8D8D8"/>
              </a:buClr>
              <a:buFont typeface="Arial"/>
              <a:buNone/>
              <a:defRPr sz="2400" b="0" i="0" u="none" strike="noStrike" cap="none">
                <a:solidFill>
                  <a:srgbClr val="D8D8D8"/>
                </a:solidFill>
                <a:latin typeface="Calibri"/>
                <a:ea typeface="Calibri"/>
                <a:cs typeface="Calibri"/>
                <a:sym typeface="Calibri"/>
              </a:defRPr>
            </a:lvl3pPr>
            <a:lvl4pPr marL="1371600" marR="0" lvl="3" indent="0" algn="l" rtl="0">
              <a:spcBef>
                <a:spcPts val="0"/>
              </a:spcBef>
              <a:spcAft>
                <a:spcPts val="400"/>
              </a:spcAft>
              <a:buClr>
                <a:srgbClr val="D8D8D8"/>
              </a:buClr>
              <a:buFont typeface="Arial"/>
              <a:buNone/>
              <a:defRPr sz="2000" b="0" i="0" u="none" strike="noStrike" cap="none">
                <a:solidFill>
                  <a:srgbClr val="D8D8D8"/>
                </a:solidFill>
                <a:latin typeface="Calibri"/>
                <a:ea typeface="Calibri"/>
                <a:cs typeface="Calibri"/>
                <a:sym typeface="Calibri"/>
              </a:defRPr>
            </a:lvl4pPr>
            <a:lvl5pPr marL="1828800" marR="0" lvl="4" indent="0" algn="l" rtl="0">
              <a:spcBef>
                <a:spcPts val="0"/>
              </a:spcBef>
              <a:spcAft>
                <a:spcPts val="400"/>
              </a:spcAft>
              <a:buClr>
                <a:srgbClr val="D8D8D8"/>
              </a:buClr>
              <a:buFont typeface="Arial"/>
              <a:buNone/>
              <a:defRPr sz="2000" b="0" i="0" u="none" strike="noStrike" cap="none">
                <a:solidFill>
                  <a:srgbClr val="D8D8D8"/>
                </a:solidFill>
                <a:latin typeface="Calibri"/>
                <a:ea typeface="Calibri"/>
                <a:cs typeface="Calibri"/>
                <a:sym typeface="Calibri"/>
              </a:defRPr>
            </a:lvl5pPr>
            <a:lvl6pPr marL="2286000" marR="0" lvl="5"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6pPr>
            <a:lvl7pPr marL="2743200" marR="0" lvl="6"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7pPr>
            <a:lvl8pPr marL="3200400" marR="0" lvl="7"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8pPr>
            <a:lvl9pPr marL="3657600" marR="0" lvl="8"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9pPr>
          </a:lstStyle>
          <a:p>
            <a:endParaRPr/>
          </a:p>
        </p:txBody>
      </p:sp>
      <p:sp>
        <p:nvSpPr>
          <p:cNvPr id="40" name="Shape 40"/>
          <p:cNvSpPr txBox="1">
            <a:spLocks noGrp="1"/>
          </p:cNvSpPr>
          <p:nvPr>
            <p:ph type="title"/>
          </p:nvPr>
        </p:nvSpPr>
        <p:spPr>
          <a:xfrm>
            <a:off x="523843" y="5505467"/>
            <a:ext cx="5943599" cy="352424"/>
          </a:xfrm>
          <a:prstGeom prst="rect">
            <a:avLst/>
          </a:prstGeom>
          <a:solidFill>
            <a:schemeClr val="lt1"/>
          </a:solidFill>
          <a:ln>
            <a:noFill/>
          </a:ln>
        </p:spPr>
        <p:txBody>
          <a:bodyPr wrap="square" lIns="91425" tIns="91425" rIns="91425" bIns="91425" anchor="b" anchorCtr="0"/>
          <a:lstStyle>
            <a:lvl1pPr marL="0" marR="0" lvl="0" indent="0" algn="l" rtl="0">
              <a:spcBef>
                <a:spcPts val="0"/>
              </a:spcBef>
              <a:buClr>
                <a:schemeClr val="lt1"/>
              </a:buClr>
              <a:buFont typeface="Calibri"/>
              <a:buNone/>
              <a:defRPr sz="2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1" name="Shape 41"/>
          <p:cNvSpPr txBox="1">
            <a:spLocks noGrp="1"/>
          </p:cNvSpPr>
          <p:nvPr>
            <p:ph type="body" idx="1"/>
          </p:nvPr>
        </p:nvSpPr>
        <p:spPr>
          <a:xfrm>
            <a:off x="523843" y="5929330"/>
            <a:ext cx="8858312" cy="276239"/>
          </a:xfrm>
          <a:prstGeom prst="rect">
            <a:avLst/>
          </a:prstGeom>
          <a:solidFill>
            <a:schemeClr val="lt1"/>
          </a:solidFill>
          <a:ln>
            <a:noFill/>
          </a:ln>
        </p:spPr>
        <p:txBody>
          <a:bodyPr wrap="square" lIns="91425" tIns="91425" rIns="91425" bIns="91425" anchor="t" anchorCtr="0"/>
          <a:lstStyle>
            <a:lvl1pPr marL="0" marR="0" lvl="0" indent="0" algn="l" rtl="0">
              <a:spcBef>
                <a:spcPts val="0"/>
              </a:spcBef>
              <a:spcAft>
                <a:spcPts val="400"/>
              </a:spcAft>
              <a:buClr>
                <a:srgbClr val="D8D8D8"/>
              </a:buClr>
              <a:buFont typeface="Arial"/>
              <a:buChar char="●"/>
              <a:defRPr sz="1400" b="0" i="0" u="none" strike="noStrike" cap="none">
                <a:solidFill>
                  <a:srgbClr val="D8D8D8"/>
                </a:solidFill>
                <a:latin typeface="Calibri"/>
                <a:ea typeface="Calibri"/>
                <a:cs typeface="Calibri"/>
                <a:sym typeface="Calibri"/>
              </a:defRPr>
            </a:lvl1pPr>
            <a:lvl2pPr marL="457200" marR="0" lvl="1" indent="0" algn="l" rtl="0">
              <a:spcBef>
                <a:spcPts val="0"/>
              </a:spcBef>
              <a:spcAft>
                <a:spcPts val="400"/>
              </a:spcAft>
              <a:buClr>
                <a:srgbClr val="D8D8D8"/>
              </a:buClr>
              <a:buFont typeface="Arial"/>
              <a:buChar char="○"/>
              <a:defRPr sz="1200" b="0" i="0" u="none" strike="noStrike" cap="none">
                <a:solidFill>
                  <a:srgbClr val="D8D8D8"/>
                </a:solidFill>
                <a:latin typeface="Calibri"/>
                <a:ea typeface="Calibri"/>
                <a:cs typeface="Calibri"/>
                <a:sym typeface="Calibri"/>
              </a:defRPr>
            </a:lvl2pPr>
            <a:lvl3pPr marL="914400" marR="0" lvl="2" indent="0" algn="l" rtl="0">
              <a:spcBef>
                <a:spcPts val="0"/>
              </a:spcBef>
              <a:spcAft>
                <a:spcPts val="400"/>
              </a:spcAft>
              <a:buClr>
                <a:srgbClr val="D8D8D8"/>
              </a:buClr>
              <a:buFont typeface="Arial"/>
              <a:buChar char="■"/>
              <a:defRPr sz="1000" b="0" i="0" u="none" strike="noStrike" cap="none">
                <a:solidFill>
                  <a:srgbClr val="D8D8D8"/>
                </a:solidFill>
                <a:latin typeface="Calibri"/>
                <a:ea typeface="Calibri"/>
                <a:cs typeface="Calibri"/>
                <a:sym typeface="Calibri"/>
              </a:defRPr>
            </a:lvl3pPr>
            <a:lvl4pPr marL="1371600" marR="0" lvl="3" indent="0" algn="l" rtl="0">
              <a:spcBef>
                <a:spcPts val="0"/>
              </a:spcBef>
              <a:spcAft>
                <a:spcPts val="400"/>
              </a:spcAft>
              <a:buClr>
                <a:srgbClr val="D8D8D8"/>
              </a:buClr>
              <a:buFont typeface="Arial"/>
              <a:buChar char="●"/>
              <a:defRPr sz="900" b="0" i="0" u="none" strike="noStrike" cap="none">
                <a:solidFill>
                  <a:srgbClr val="D8D8D8"/>
                </a:solidFill>
                <a:latin typeface="Calibri"/>
                <a:ea typeface="Calibri"/>
                <a:cs typeface="Calibri"/>
                <a:sym typeface="Calibri"/>
              </a:defRPr>
            </a:lvl4pPr>
            <a:lvl5pPr marL="1828800" marR="0" lvl="4" indent="0" algn="l" rtl="0">
              <a:spcBef>
                <a:spcPts val="0"/>
              </a:spcBef>
              <a:spcAft>
                <a:spcPts val="400"/>
              </a:spcAft>
              <a:buClr>
                <a:srgbClr val="D8D8D8"/>
              </a:buClr>
              <a:buFont typeface="Arial"/>
              <a:buChar char="○"/>
              <a:defRPr sz="900" b="0" i="0" u="none" strike="noStrike" cap="none">
                <a:solidFill>
                  <a:srgbClr val="D8D8D8"/>
                </a:solidFill>
                <a:latin typeface="Calibri"/>
                <a:ea typeface="Calibri"/>
                <a:cs typeface="Calibri"/>
                <a:sym typeface="Calibri"/>
              </a:defRPr>
            </a:lvl5pPr>
            <a:lvl6pPr marL="2286000" marR="0" lvl="5"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6pPr>
            <a:lvl7pPr marL="2743200" marR="0" lvl="6"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7pPr>
            <a:lvl8pPr marL="3200400" marR="0" lvl="7"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8pPr>
            <a:lvl9pPr marL="3657600" marR="0" lvl="8"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‹nº›</a:t>
            </a:fld>
            <a:endParaRPr lang="pt-PT" sz="1200" b="0" i="0" u="none" strike="noStrike" cap="none">
              <a:solidFill>
                <a:srgbClr val="888888"/>
              </a:solidFill>
              <a:latin typeface="Arial"/>
              <a:ea typeface="Arial"/>
              <a:cs typeface="Arial"/>
              <a:sym typeface="Arial"/>
            </a:endParaRPr>
          </a:p>
        </p:txBody>
      </p:sp>
    </p:spTree>
    <p:extLst>
      <p:ext uri="{BB962C8B-B14F-4D97-AF65-F5344CB8AC3E}">
        <p14:creationId xmlns:p14="http://schemas.microsoft.com/office/powerpoint/2010/main" val="1047615563"/>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m branco">
    <p:spTree>
      <p:nvGrpSpPr>
        <p:cNvPr id="1" name="Shape 45"/>
        <p:cNvGrpSpPr/>
        <p:nvPr/>
      </p:nvGrpSpPr>
      <p:grpSpPr>
        <a:xfrm>
          <a:off x="0" y="0"/>
          <a:ext cx="0" cy="0"/>
          <a:chOff x="0" y="0"/>
          <a:chExt cx="0" cy="0"/>
        </a:xfrm>
      </p:grpSpPr>
      <p:sp>
        <p:nvSpPr>
          <p:cNvPr id="46" name="Shape 46"/>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7" name="Shape 47"/>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8" name="Shape 48"/>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‹nº›</a:t>
            </a:fld>
            <a:endParaRPr lang="pt-PT" sz="1200" b="0" i="0" u="none" strike="noStrike" cap="none">
              <a:solidFill>
                <a:srgbClr val="888888"/>
              </a:solidFill>
              <a:latin typeface="Arial"/>
              <a:ea typeface="Arial"/>
              <a:cs typeface="Arial"/>
              <a:sym typeface="Arial"/>
            </a:endParaRPr>
          </a:p>
        </p:txBody>
      </p:sp>
      <p:sp>
        <p:nvSpPr>
          <p:cNvPr id="49" name="Shape 49"/>
          <p:cNvSpPr txBox="1">
            <a:spLocks noGrp="1"/>
          </p:cNvSpPr>
          <p:nvPr>
            <p:ph type="title"/>
          </p:nvPr>
        </p:nvSpPr>
        <p:spPr>
          <a:xfrm>
            <a:off x="685800" y="1066800"/>
            <a:ext cx="86105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32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0" name="Shape 50"/>
          <p:cNvSpPr txBox="1">
            <a:spLocks noGrp="1"/>
          </p:cNvSpPr>
          <p:nvPr>
            <p:ph type="body" idx="1"/>
          </p:nvPr>
        </p:nvSpPr>
        <p:spPr>
          <a:xfrm>
            <a:off x="685800" y="1714488"/>
            <a:ext cx="8610599" cy="4572031"/>
          </a:xfrm>
          <a:prstGeom prst="rect">
            <a:avLst/>
          </a:prstGeom>
          <a:noFill/>
          <a:ln>
            <a:noFill/>
          </a:ln>
        </p:spPr>
        <p:txBody>
          <a:bodyPr wrap="square" lIns="91425" tIns="91425" rIns="91425" bIns="91425" anchor="t" anchorCtr="0"/>
          <a:lstStyle>
            <a:lvl1pPr marL="342900" marR="0" lvl="0" indent="-2286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800" b="0" i="0" u="none" strike="noStrike" cap="none">
                <a:solidFill>
                  <a:srgbClr val="D8D8D8"/>
                </a:solidFill>
                <a:latin typeface="Calibri"/>
                <a:ea typeface="Calibri"/>
                <a:cs typeface="Calibri"/>
                <a:sym typeface="Calibri"/>
              </a:defRPr>
            </a:lvl3pPr>
            <a:lvl4pPr marL="1600200" marR="0" lvl="3" indent="-1143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4pPr>
            <a:lvl5pPr marL="2057400" marR="0" lvl="4" indent="-1143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091872310"/>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trada">
    <p:spTree>
      <p:nvGrpSpPr>
        <p:cNvPr id="1" name="Shape 51"/>
        <p:cNvGrpSpPr/>
        <p:nvPr/>
      </p:nvGrpSpPr>
      <p:grpSpPr>
        <a:xfrm>
          <a:off x="0" y="0"/>
          <a:ext cx="0" cy="0"/>
          <a:chOff x="0" y="0"/>
          <a:chExt cx="0" cy="0"/>
        </a:xfrm>
      </p:grpSpPr>
      <p:sp>
        <p:nvSpPr>
          <p:cNvPr id="52" name="Shape 52"/>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3" name="Shape 53"/>
          <p:cNvSpPr txBox="1"/>
          <p:nvPr/>
        </p:nvSpPr>
        <p:spPr>
          <a:xfrm flipH="1">
            <a:off x="6764158" y="4953000"/>
            <a:ext cx="182741" cy="374710"/>
          </a:xfrm>
          <a:prstGeom prst="rect">
            <a:avLst/>
          </a:prstGeom>
          <a:solidFill>
            <a:schemeClr val="lt1">
              <a:alpha val="69803"/>
            </a:schemeClr>
          </a:solidFill>
          <a:ln>
            <a:noFill/>
          </a:ln>
        </p:spPr>
        <p:txBody>
          <a:bodyPr wrap="square" lIns="91425" tIns="45700" rIns="91425" bIns="45700" anchor="t" anchorCtr="0">
            <a:noAutofit/>
          </a:bodyPr>
          <a:lstStyle/>
          <a:p>
            <a:pPr marL="342900" marR="0" lvl="0" indent="-342900" algn="l" rtl="0">
              <a:lnSpc>
                <a:spcPct val="100000"/>
              </a:lnSpc>
              <a:spcBef>
                <a:spcPts val="0"/>
              </a:spcBef>
              <a:spcAft>
                <a:spcPts val="0"/>
              </a:spcAft>
              <a:buClr>
                <a:schemeClr val="dk1"/>
              </a:buClr>
              <a:buFont typeface="Arial"/>
              <a:buNone/>
            </a:pPr>
            <a:endParaRPr sz="2000" b="0" i="0" u="none" strike="noStrike" cap="none">
              <a:solidFill>
                <a:srgbClr val="00CAEF"/>
              </a:solidFill>
              <a:latin typeface="Arial"/>
              <a:ea typeface="Arial"/>
              <a:cs typeface="Arial"/>
              <a:sym typeface="Arial"/>
            </a:endParaRPr>
          </a:p>
        </p:txBody>
      </p:sp>
    </p:spTree>
    <p:extLst>
      <p:ext uri="{BB962C8B-B14F-4D97-AF65-F5344CB8AC3E}">
        <p14:creationId xmlns:p14="http://schemas.microsoft.com/office/powerpoint/2010/main" val="2676512783"/>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entrada">
    <p:spTree>
      <p:nvGrpSpPr>
        <p:cNvPr id="1" name="Shape 54"/>
        <p:cNvGrpSpPr/>
        <p:nvPr/>
      </p:nvGrpSpPr>
      <p:grpSpPr>
        <a:xfrm>
          <a:off x="0" y="0"/>
          <a:ext cx="0" cy="0"/>
          <a:chOff x="0" y="0"/>
          <a:chExt cx="0" cy="0"/>
        </a:xfrm>
      </p:grpSpPr>
      <p:sp>
        <p:nvSpPr>
          <p:cNvPr id="55" name="Shape 55"/>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291598524"/>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squema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4650209"/>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údo Dup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noAutofit/>
          </a:bodyPr>
          <a:lstStyle>
            <a:lvl1pPr>
              <a:defRPr sz="4000" b="1" cap="all" baseline="0"/>
            </a:lvl1pPr>
          </a:lstStyle>
          <a:p>
            <a:r>
              <a:rPr lang="pt-PT" dirty="0"/>
              <a:t>Clique para editar o estilo »</a:t>
            </a:r>
          </a:p>
        </p:txBody>
      </p:sp>
      <p:sp>
        <p:nvSpPr>
          <p:cNvPr id="3" name="Marcador de Posição de Conteúdo 2"/>
          <p:cNvSpPr>
            <a:spLocks noGrp="1"/>
          </p:cNvSpPr>
          <p:nvPr>
            <p:ph sz="half" idx="1"/>
          </p:nvPr>
        </p:nvSpPr>
        <p:spPr>
          <a:xfrm>
            <a:off x="414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5" name="Marcador de Posição da Data 4"/>
          <p:cNvSpPr>
            <a:spLocks noGrp="1"/>
          </p:cNvSpPr>
          <p:nvPr>
            <p:ph type="dt" sz="half" idx="10"/>
          </p:nvPr>
        </p:nvSpPr>
        <p:spPr/>
        <p:txBody>
          <a:bodyPr/>
          <a:lstStyle/>
          <a:p>
            <a:fld id="{44B11A7A-C2E1-40A3-A304-BADFC0305F97}" type="datetimeFigureOut">
              <a:rPr lang="pt-PT" smtClean="0"/>
              <a:pPr/>
              <a:t>30/10/2025</a:t>
            </a:fld>
            <a:endParaRPr lang="pt-PT"/>
          </a:p>
        </p:txBody>
      </p:sp>
      <p:sp>
        <p:nvSpPr>
          <p:cNvPr id="6" name="Marcador de Posição do Rodapé 5"/>
          <p:cNvSpPr>
            <a:spLocks noGrp="1"/>
          </p:cNvSpPr>
          <p:nvPr>
            <p:ph type="ftr" sz="quarter" idx="11"/>
          </p:nvPr>
        </p:nvSpPr>
        <p:spPr/>
        <p:txBody>
          <a:bodyPr/>
          <a:lstStyle/>
          <a:p>
            <a:endParaRPr lang="pt-PT"/>
          </a:p>
        </p:txBody>
      </p:sp>
      <p:sp>
        <p:nvSpPr>
          <p:cNvPr id="7" name="Marcador de Posição do Número do Diapositivo 6"/>
          <p:cNvSpPr>
            <a:spLocks noGrp="1"/>
          </p:cNvSpPr>
          <p:nvPr>
            <p:ph type="sldNum" sz="quarter" idx="12"/>
          </p:nvPr>
        </p:nvSpPr>
        <p:spPr/>
        <p:txBody>
          <a:bodyPr/>
          <a:lstStyle/>
          <a:p>
            <a:fld id="{9F46AC24-9121-4D27-8FE4-0595B5E1EC6D}" type="slidenum">
              <a:rPr lang="pt-PT" smtClean="0"/>
              <a:pPr/>
              <a:t>‹nº›</a:t>
            </a:fld>
            <a:endParaRPr lang="pt-PT"/>
          </a:p>
        </p:txBody>
      </p:sp>
      <p:sp>
        <p:nvSpPr>
          <p:cNvPr id="8" name="Marcador de Posição de Conteúdo 2"/>
          <p:cNvSpPr>
            <a:spLocks noGrp="1"/>
          </p:cNvSpPr>
          <p:nvPr>
            <p:ph sz="half" idx="13"/>
          </p:nvPr>
        </p:nvSpPr>
        <p:spPr>
          <a:xfrm>
            <a:off x="4968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extLst>
      <p:ext uri="{BB962C8B-B14F-4D97-AF65-F5344CB8AC3E}">
        <p14:creationId xmlns:p14="http://schemas.microsoft.com/office/powerpoint/2010/main" val="721517040"/>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Em branco">
    <p:spTree>
      <p:nvGrpSpPr>
        <p:cNvPr id="1" name=""/>
        <p:cNvGrpSpPr/>
        <p:nvPr/>
      </p:nvGrpSpPr>
      <p:grpSpPr>
        <a:xfrm>
          <a:off x="0" y="0"/>
          <a:ext cx="0" cy="0"/>
          <a:chOff x="0" y="0"/>
          <a:chExt cx="0" cy="0"/>
        </a:xfrm>
      </p:grpSpPr>
      <p:sp>
        <p:nvSpPr>
          <p:cNvPr id="2" name="Marcador de Posição da Data 1"/>
          <p:cNvSpPr>
            <a:spLocks noGrp="1"/>
          </p:cNvSpPr>
          <p:nvPr>
            <p:ph type="dt" sz="half" idx="10"/>
          </p:nvPr>
        </p:nvSpPr>
        <p:spPr/>
        <p:txBody>
          <a:bodyPr/>
          <a:lstStyle/>
          <a:p>
            <a:fld id="{44B11A7A-C2E1-40A3-A304-BADFC0305F97}" type="datetimeFigureOut">
              <a:rPr lang="pt-PT" smtClean="0"/>
              <a:pPr/>
              <a:t>30/10/2025</a:t>
            </a:fld>
            <a:endParaRPr lang="pt-PT"/>
          </a:p>
        </p:txBody>
      </p:sp>
      <p:sp>
        <p:nvSpPr>
          <p:cNvPr id="3" name="Marcador de Posição do Rodapé 2"/>
          <p:cNvSpPr>
            <a:spLocks noGrp="1"/>
          </p:cNvSpPr>
          <p:nvPr>
            <p:ph type="ftr" sz="quarter" idx="11"/>
          </p:nvPr>
        </p:nvSpPr>
        <p:spPr/>
        <p:txBody>
          <a:bodyPr/>
          <a:lstStyle/>
          <a:p>
            <a:endParaRPr lang="pt-PT"/>
          </a:p>
        </p:txBody>
      </p:sp>
      <p:sp>
        <p:nvSpPr>
          <p:cNvPr id="4" name="Marcador de Posição do Número do Diapositivo 3"/>
          <p:cNvSpPr>
            <a:spLocks noGrp="1"/>
          </p:cNvSpPr>
          <p:nvPr>
            <p:ph type="sldNum" sz="quarter" idx="12"/>
          </p:nvPr>
        </p:nvSpPr>
        <p:spPr/>
        <p:txBody>
          <a:bodyPr/>
          <a:lstStyle/>
          <a:p>
            <a:fld id="{9F46AC24-9121-4D27-8FE4-0595B5E1EC6D}" type="slidenum">
              <a:rPr lang="pt-PT" smtClean="0"/>
              <a:pPr/>
              <a:t>‹nº›</a:t>
            </a:fld>
            <a:endParaRPr lang="pt-PT"/>
          </a:p>
        </p:txBody>
      </p:sp>
      <p:sp>
        <p:nvSpPr>
          <p:cNvPr id="5" name="Marcador de Posição do Título 1"/>
          <p:cNvSpPr>
            <a:spLocks noGrp="1"/>
          </p:cNvSpPr>
          <p:nvPr>
            <p:ph type="title"/>
          </p:nvPr>
        </p:nvSpPr>
        <p:spPr>
          <a:xfrm>
            <a:off x="685800" y="1066800"/>
            <a:ext cx="86106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hasCustomPrompt="1"/>
          </p:nvPr>
        </p:nvSpPr>
        <p:spPr>
          <a:xfrm>
            <a:off x="685800" y="1714488"/>
            <a:ext cx="8610600" cy="4572032"/>
          </a:xfrm>
          <a:prstGeom prst="rect">
            <a:avLst/>
          </a:prstGeom>
        </p:spPr>
        <p:txBody>
          <a:bodyPr vert="horz" lIns="91440" tIns="45720" rIns="91440" bIns="45720" rtlCol="0">
            <a:normAutofit/>
          </a:bodyPr>
          <a:lstStyle/>
          <a:p>
            <a:pPr lvl="1"/>
            <a:r>
              <a:rPr lang="pt-PT" dirty="0"/>
              <a:t>Segundo nível</a:t>
            </a:r>
          </a:p>
          <a:p>
            <a:pPr lvl="2"/>
            <a:r>
              <a:rPr lang="pt-PT" dirty="0"/>
              <a:t>Terceiro nível</a:t>
            </a:r>
          </a:p>
          <a:p>
            <a:pPr lvl="3"/>
            <a:r>
              <a:rPr lang="pt-PT" dirty="0"/>
              <a:t>Quarto nível</a:t>
            </a:r>
          </a:p>
          <a:p>
            <a:pPr lvl="4"/>
            <a:r>
              <a:rPr lang="pt-PT" dirty="0"/>
              <a:t>Quinto nível</a:t>
            </a:r>
          </a:p>
        </p:txBody>
      </p:sp>
    </p:spTree>
    <p:extLst>
      <p:ext uri="{BB962C8B-B14F-4D97-AF65-F5344CB8AC3E}">
        <p14:creationId xmlns:p14="http://schemas.microsoft.com/office/powerpoint/2010/main" val="2694208087"/>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Em branco">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Marcador de Posição do Título 1"/>
          <p:cNvSpPr>
            <a:spLocks noGrp="1"/>
          </p:cNvSpPr>
          <p:nvPr>
            <p:ph type="title"/>
          </p:nvPr>
        </p:nvSpPr>
        <p:spPr>
          <a:xfrm>
            <a:off x="685800" y="1066800"/>
            <a:ext cx="85344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p:nvPr>
        </p:nvSpPr>
        <p:spPr>
          <a:xfrm>
            <a:off x="685800" y="1714488"/>
            <a:ext cx="8534400" cy="4305312"/>
          </a:xfrm>
          <a:prstGeom prst="rect">
            <a:avLst/>
          </a:prstGeom>
        </p:spPr>
        <p:txBody>
          <a:bodyPr vert="horz" lIns="91440" tIns="45720" rIns="91440" bIns="45720" rtlCol="0">
            <a:normAutofit/>
          </a:bodyPr>
          <a:lstStyle>
            <a:lvl1pPr>
              <a:defRPr sz="1800">
                <a:solidFill>
                  <a:srgbClr val="D9D9D9"/>
                </a:solidFill>
              </a:defRPr>
            </a:lvl1pPr>
            <a:lvl2pPr>
              <a:defRPr sz="1800">
                <a:solidFill>
                  <a:srgbClr val="D9D9D9"/>
                </a:solidFill>
              </a:defRPr>
            </a:lvl2pPr>
            <a:lvl3pPr>
              <a:defRPr sz="1800">
                <a:solidFill>
                  <a:srgbClr val="D9D9D9"/>
                </a:solidFill>
              </a:defRPr>
            </a:lvl3pPr>
            <a:lvl4pPr>
              <a:defRPr sz="1800">
                <a:solidFill>
                  <a:srgbClr val="D9D9D9"/>
                </a:solidFill>
              </a:defRPr>
            </a:lvl4pPr>
            <a:lvl5pPr>
              <a:defRPr sz="1800">
                <a:solidFill>
                  <a:srgbClr val="D9D9D9"/>
                </a:solidFill>
              </a:defRPr>
            </a:lvl5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extLst>
      <p:ext uri="{BB962C8B-B14F-4D97-AF65-F5344CB8AC3E}">
        <p14:creationId xmlns:p14="http://schemas.microsoft.com/office/powerpoint/2010/main" val="792648683"/>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onteúdo Dup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noAutofit/>
          </a:bodyPr>
          <a:lstStyle>
            <a:lvl1pPr>
              <a:defRPr sz="4000" b="1" cap="all" baseline="0"/>
            </a:lvl1pPr>
          </a:lstStyle>
          <a:p>
            <a:r>
              <a:rPr lang="pt-PT" dirty="0"/>
              <a:t>Clique para editar o estilo »</a:t>
            </a:r>
          </a:p>
        </p:txBody>
      </p:sp>
      <p:sp>
        <p:nvSpPr>
          <p:cNvPr id="3" name="Marcador de Posição de Conteúdo 2"/>
          <p:cNvSpPr>
            <a:spLocks noGrp="1"/>
          </p:cNvSpPr>
          <p:nvPr>
            <p:ph sz="half" idx="1"/>
          </p:nvPr>
        </p:nvSpPr>
        <p:spPr>
          <a:xfrm>
            <a:off x="414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5" name="Marcador de Posição da Data 4"/>
          <p:cNvSpPr>
            <a:spLocks noGrp="1"/>
          </p:cNvSpPr>
          <p:nvPr>
            <p:ph type="dt" sz="half" idx="10"/>
          </p:nvPr>
        </p:nvSpPr>
        <p:spPr/>
        <p:txBody>
          <a:bodyPr/>
          <a:lstStyle/>
          <a:p>
            <a:fld id="{44B11A7A-C2E1-40A3-A304-BADFC0305F97}" type="datetimeFigureOut">
              <a:rPr lang="pt-PT" smtClean="0"/>
              <a:pPr/>
              <a:t>30/10/2025</a:t>
            </a:fld>
            <a:endParaRPr lang="pt-PT"/>
          </a:p>
        </p:txBody>
      </p:sp>
      <p:sp>
        <p:nvSpPr>
          <p:cNvPr id="6" name="Marcador de Posição do Rodapé 5"/>
          <p:cNvSpPr>
            <a:spLocks noGrp="1"/>
          </p:cNvSpPr>
          <p:nvPr>
            <p:ph type="ftr" sz="quarter" idx="11"/>
          </p:nvPr>
        </p:nvSpPr>
        <p:spPr/>
        <p:txBody>
          <a:bodyPr/>
          <a:lstStyle/>
          <a:p>
            <a:endParaRPr lang="pt-PT"/>
          </a:p>
        </p:txBody>
      </p:sp>
      <p:sp>
        <p:nvSpPr>
          <p:cNvPr id="7" name="Marcador de Posição do Número do Diapositivo 6"/>
          <p:cNvSpPr>
            <a:spLocks noGrp="1"/>
          </p:cNvSpPr>
          <p:nvPr>
            <p:ph type="sldNum" sz="quarter" idx="12"/>
          </p:nvPr>
        </p:nvSpPr>
        <p:spPr/>
        <p:txBody>
          <a:bodyPr/>
          <a:lstStyle/>
          <a:p>
            <a:fld id="{9F46AC24-9121-4D27-8FE4-0595B5E1EC6D}" type="slidenum">
              <a:rPr lang="pt-PT" smtClean="0"/>
              <a:pPr/>
              <a:t>‹nº›</a:t>
            </a:fld>
            <a:endParaRPr lang="pt-PT"/>
          </a:p>
        </p:txBody>
      </p:sp>
      <p:sp>
        <p:nvSpPr>
          <p:cNvPr id="8" name="Marcador de Posição de Conteúdo 2"/>
          <p:cNvSpPr>
            <a:spLocks noGrp="1"/>
          </p:cNvSpPr>
          <p:nvPr>
            <p:ph sz="half" idx="13"/>
          </p:nvPr>
        </p:nvSpPr>
        <p:spPr>
          <a:xfrm>
            <a:off x="4968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Em branco">
    <p:spTree>
      <p:nvGrpSpPr>
        <p:cNvPr id="1" name=""/>
        <p:cNvGrpSpPr/>
        <p:nvPr/>
      </p:nvGrpSpPr>
      <p:grpSpPr>
        <a:xfrm>
          <a:off x="0" y="0"/>
          <a:ext cx="0" cy="0"/>
          <a:chOff x="0" y="0"/>
          <a:chExt cx="0" cy="0"/>
        </a:xfrm>
      </p:grpSpPr>
      <p:sp>
        <p:nvSpPr>
          <p:cNvPr id="2" name="Marcador de Posição da Data 1"/>
          <p:cNvSpPr>
            <a:spLocks noGrp="1"/>
          </p:cNvSpPr>
          <p:nvPr>
            <p:ph type="dt" sz="half" idx="10"/>
          </p:nvPr>
        </p:nvSpPr>
        <p:spPr/>
        <p:txBody>
          <a:bodyPr/>
          <a:lstStyle/>
          <a:p>
            <a:fld id="{44B11A7A-C2E1-40A3-A304-BADFC0305F97}" type="datetimeFigureOut">
              <a:rPr lang="pt-PT" smtClean="0"/>
              <a:pPr/>
              <a:t>30/10/2025</a:t>
            </a:fld>
            <a:endParaRPr lang="pt-PT"/>
          </a:p>
        </p:txBody>
      </p:sp>
      <p:sp>
        <p:nvSpPr>
          <p:cNvPr id="3" name="Marcador de Posição do Rodapé 2"/>
          <p:cNvSpPr>
            <a:spLocks noGrp="1"/>
          </p:cNvSpPr>
          <p:nvPr>
            <p:ph type="ftr" sz="quarter" idx="11"/>
          </p:nvPr>
        </p:nvSpPr>
        <p:spPr/>
        <p:txBody>
          <a:bodyPr/>
          <a:lstStyle/>
          <a:p>
            <a:endParaRPr lang="pt-PT"/>
          </a:p>
        </p:txBody>
      </p:sp>
      <p:sp>
        <p:nvSpPr>
          <p:cNvPr id="4" name="Marcador de Posição do Número do Diapositivo 3"/>
          <p:cNvSpPr>
            <a:spLocks noGrp="1"/>
          </p:cNvSpPr>
          <p:nvPr>
            <p:ph type="sldNum" sz="quarter" idx="12"/>
          </p:nvPr>
        </p:nvSpPr>
        <p:spPr/>
        <p:txBody>
          <a:bodyPr/>
          <a:lstStyle/>
          <a:p>
            <a:fld id="{9F46AC24-9121-4D27-8FE4-0595B5E1EC6D}" type="slidenum">
              <a:rPr lang="pt-PT" smtClean="0"/>
              <a:pPr/>
              <a:t>‹nº›</a:t>
            </a:fld>
            <a:endParaRPr lang="pt-PT"/>
          </a:p>
        </p:txBody>
      </p:sp>
      <p:sp>
        <p:nvSpPr>
          <p:cNvPr id="5" name="Marcador de Posição do Título 1"/>
          <p:cNvSpPr>
            <a:spLocks noGrp="1"/>
          </p:cNvSpPr>
          <p:nvPr>
            <p:ph type="title"/>
          </p:nvPr>
        </p:nvSpPr>
        <p:spPr>
          <a:xfrm>
            <a:off x="685800" y="1066800"/>
            <a:ext cx="86106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hasCustomPrompt="1"/>
          </p:nvPr>
        </p:nvSpPr>
        <p:spPr>
          <a:xfrm>
            <a:off x="685800" y="1714488"/>
            <a:ext cx="8610600" cy="4572032"/>
          </a:xfrm>
          <a:prstGeom prst="rect">
            <a:avLst/>
          </a:prstGeom>
        </p:spPr>
        <p:txBody>
          <a:bodyPr vert="horz" lIns="91440" tIns="45720" rIns="91440" bIns="45720" rtlCol="0">
            <a:normAutofit/>
          </a:bodyPr>
          <a:lstStyle/>
          <a:p>
            <a:pPr lvl="1"/>
            <a:r>
              <a:rPr lang="pt-PT" dirty="0"/>
              <a:t>Segundo nível</a:t>
            </a:r>
          </a:p>
          <a:p>
            <a:pPr lvl="2"/>
            <a:r>
              <a:rPr lang="pt-PT" dirty="0"/>
              <a:t>Terceiro nível</a:t>
            </a:r>
          </a:p>
          <a:p>
            <a:pPr lvl="3"/>
            <a:r>
              <a:rPr lang="pt-PT" dirty="0"/>
              <a:t>Quarto nível</a:t>
            </a:r>
          </a:p>
          <a:p>
            <a:pPr lvl="4"/>
            <a:r>
              <a:rPr lang="pt-PT" dirty="0"/>
              <a:t>Quinto nível</a:t>
            </a: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Em branco">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Marcador de Posição do Título 1"/>
          <p:cNvSpPr>
            <a:spLocks noGrp="1"/>
          </p:cNvSpPr>
          <p:nvPr>
            <p:ph type="title"/>
          </p:nvPr>
        </p:nvSpPr>
        <p:spPr>
          <a:xfrm>
            <a:off x="685800" y="1066800"/>
            <a:ext cx="85344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p:nvPr>
        </p:nvSpPr>
        <p:spPr>
          <a:xfrm>
            <a:off x="685800" y="1714488"/>
            <a:ext cx="8534400" cy="4305312"/>
          </a:xfrm>
          <a:prstGeom prst="rect">
            <a:avLst/>
          </a:prstGeom>
        </p:spPr>
        <p:txBody>
          <a:bodyPr vert="horz" lIns="91440" tIns="45720" rIns="91440" bIns="45720" rtlCol="0">
            <a:normAutofit/>
          </a:bodyPr>
          <a:lstStyle>
            <a:lvl1pPr>
              <a:defRPr sz="1800">
                <a:solidFill>
                  <a:srgbClr val="D9D9D9"/>
                </a:solidFill>
              </a:defRPr>
            </a:lvl1pPr>
            <a:lvl2pPr>
              <a:defRPr sz="1800">
                <a:solidFill>
                  <a:srgbClr val="D9D9D9"/>
                </a:solidFill>
              </a:defRPr>
            </a:lvl2pPr>
            <a:lvl3pPr>
              <a:defRPr sz="1800">
                <a:solidFill>
                  <a:srgbClr val="D9D9D9"/>
                </a:solidFill>
              </a:defRPr>
            </a:lvl3pPr>
            <a:lvl4pPr>
              <a:defRPr sz="1800">
                <a:solidFill>
                  <a:srgbClr val="D9D9D9"/>
                </a:solidFill>
              </a:defRPr>
            </a:lvl4pPr>
            <a:lvl5pPr>
              <a:defRPr sz="1800">
                <a:solidFill>
                  <a:srgbClr val="D9D9D9"/>
                </a:solidFill>
              </a:defRPr>
            </a:lvl5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9"/>
        <p:cNvGrpSpPr/>
        <p:nvPr/>
      </p:nvGrpSpPr>
      <p:grpSpPr>
        <a:xfrm>
          <a:off x="0" y="0"/>
          <a:ext cx="0" cy="0"/>
          <a:chOff x="0" y="0"/>
          <a:chExt cx="0" cy="0"/>
        </a:xfrm>
      </p:grpSpPr>
      <p:sp>
        <p:nvSpPr>
          <p:cNvPr id="4" name="Retângulo: Cantos Arredondados 3">
            <a:extLst>
              <a:ext uri="{FF2B5EF4-FFF2-40B4-BE49-F238E27FC236}">
                <a16:creationId xmlns:a16="http://schemas.microsoft.com/office/drawing/2014/main" id="{CD0DF30C-F77B-4F2F-9EB1-3B93EBB0DB99}"/>
              </a:ext>
            </a:extLst>
          </p:cNvPr>
          <p:cNvSpPr/>
          <p:nvPr userDrawn="1"/>
        </p:nvSpPr>
        <p:spPr>
          <a:xfrm>
            <a:off x="324908" y="6390861"/>
            <a:ext cx="9214886" cy="467139"/>
          </a:xfrm>
          <a:prstGeom prst="roundRect">
            <a:avLst>
              <a:gd name="adj" fmla="val 6170"/>
            </a:avLst>
          </a:prstGeom>
          <a:solidFill>
            <a:srgbClr val="9A1A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rgbClr val="9A1A24"/>
              </a:solidFill>
            </a:endParaRPr>
          </a:p>
        </p:txBody>
      </p:sp>
      <p:sp>
        <p:nvSpPr>
          <p:cNvPr id="10" name="Shape 10"/>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1" name="Shape 11"/>
          <p:cNvSpPr txBox="1">
            <a:spLocks noGrp="1"/>
          </p:cNvSpPr>
          <p:nvPr>
            <p:ph type="ftr" idx="11"/>
          </p:nvPr>
        </p:nvSpPr>
        <p:spPr>
          <a:xfrm>
            <a:off x="1666851" y="6492898"/>
            <a:ext cx="6831106"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1" u="none" strike="noStrike" cap="none">
                <a:solidFill>
                  <a:srgbClr val="888888"/>
                </a:solidFill>
                <a:latin typeface="Kozuka Gothic Pro M" panose="020B0700000000000000" pitchFamily="34" charset="-128"/>
                <a:ea typeface="Kozuka Gothic Pro M" panose="020B0700000000000000" pitchFamily="34" charset="-128"/>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pt-PT" dirty="0"/>
          </a:p>
        </p:txBody>
      </p:sp>
      <p:sp>
        <p:nvSpPr>
          <p:cNvPr id="12" name="Shape 12"/>
          <p:cNvSpPr txBox="1">
            <a:spLocks noGrp="1"/>
          </p:cNvSpPr>
          <p:nvPr>
            <p:ph type="sldNum" idx="12"/>
          </p:nvPr>
        </p:nvSpPr>
        <p:spPr>
          <a:xfrm>
            <a:off x="8632453" y="6492875"/>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‹nº›</a:t>
            </a:fld>
            <a:endParaRPr lang="pt-PT" sz="1200" b="0" i="0" u="none" strike="noStrike" cap="none" dirty="0">
              <a:solidFill>
                <a:srgbClr val="888888"/>
              </a:solidFill>
              <a:latin typeface="Arial"/>
              <a:ea typeface="Arial"/>
              <a:cs typeface="Arial"/>
              <a:sym typeface="Arial"/>
            </a:endParaRPr>
          </a:p>
        </p:txBody>
      </p:sp>
      <p:sp>
        <p:nvSpPr>
          <p:cNvPr id="13" name="Shape 13"/>
          <p:cNvSpPr txBox="1">
            <a:spLocks noGrp="1"/>
          </p:cNvSpPr>
          <p:nvPr>
            <p:ph type="title"/>
          </p:nvPr>
        </p:nvSpPr>
        <p:spPr>
          <a:xfrm>
            <a:off x="685800" y="1066800"/>
            <a:ext cx="87713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32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pic>
        <p:nvPicPr>
          <p:cNvPr id="15" name="Imagem 14">
            <a:extLst>
              <a:ext uri="{FF2B5EF4-FFF2-40B4-BE49-F238E27FC236}">
                <a16:creationId xmlns:a16="http://schemas.microsoft.com/office/drawing/2014/main" id="{D3441222-7DC4-AAA3-4880-5CB78D81CC04}"/>
              </a:ext>
            </a:extLst>
          </p:cNvPr>
          <p:cNvPicPr>
            <a:picLocks noChangeAspect="1"/>
          </p:cNvPicPr>
          <p:nvPr userDrawn="1"/>
        </p:nvPicPr>
        <p:blipFill>
          <a:blip r:embed="rId18"/>
          <a:stretch>
            <a:fillRect/>
          </a:stretch>
        </p:blipFill>
        <p:spPr>
          <a:xfrm>
            <a:off x="0" y="-10536"/>
            <a:ext cx="9906000" cy="996500"/>
          </a:xfrm>
          <a:prstGeom prst="rect">
            <a:avLst/>
          </a:prstGeom>
        </p:spPr>
      </p:pic>
    </p:spTree>
    <p:extLst>
      <p:ext uri="{BB962C8B-B14F-4D97-AF65-F5344CB8AC3E}">
        <p14:creationId xmlns:p14="http://schemas.microsoft.com/office/powerpoint/2010/main" val="2703164409"/>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52" r:id="rId14"/>
    <p:sldLayoutId id="2147483655" r:id="rId15"/>
    <p:sldLayoutId id="2147483661" r:id="rId16"/>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127_0.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99_E8DB507.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94_F8C0A91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microsoft.com/office/2018/10/relationships/comments" Target="../comments/modernComment_196_73C95D57.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microsoft.com/office/2018/10/relationships/comments" Target="../comments/modernComment_197_300F0B2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9B_4BDE2BB0.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9A_18A78E8B.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A20BB2CE-AD20-4EB4-9198-1AB0990B2FB7}"/>
              </a:ext>
            </a:extLst>
          </p:cNvPr>
          <p:cNvSpPr>
            <a:spLocks noGrp="1"/>
          </p:cNvSpPr>
          <p:nvPr>
            <p:ph type="title"/>
          </p:nvPr>
        </p:nvSpPr>
        <p:spPr>
          <a:xfrm>
            <a:off x="699002" y="2326395"/>
            <a:ext cx="8505945" cy="571503"/>
          </a:xfrm>
        </p:spPr>
        <p:txBody>
          <a:bodyPr/>
          <a:lstStyle/>
          <a:p>
            <a:pPr algn="ctr"/>
            <a:r>
              <a:rPr lang="en-US" sz="3200" kern="1200" dirty="0">
                <a:solidFill>
                  <a:schemeClr val="tx1"/>
                </a:solidFill>
                <a:latin typeface="+mn-lt"/>
                <a:ea typeface="+mn-ea"/>
                <a:cs typeface="+mn-cs"/>
              </a:rPr>
              <a:t>Logistics On Rails - </a:t>
            </a:r>
            <a:r>
              <a:rPr lang="en-US" sz="3200" b="1" kern="1200" dirty="0">
                <a:solidFill>
                  <a:schemeClr val="tx1"/>
                </a:solidFill>
              </a:rPr>
              <a:t>SPRINT 1</a:t>
            </a:r>
            <a:br>
              <a:rPr lang="en-US" sz="3200" kern="1200" dirty="0">
                <a:solidFill>
                  <a:schemeClr val="tx1"/>
                </a:solidFill>
                <a:latin typeface="+mn-lt"/>
                <a:ea typeface="+mn-ea"/>
                <a:cs typeface="+mn-cs"/>
              </a:rPr>
            </a:br>
            <a:br>
              <a:rPr lang="en-US" sz="3200" kern="1200" dirty="0">
                <a:solidFill>
                  <a:schemeClr val="tx1"/>
                </a:solidFill>
                <a:latin typeface="+mn-lt"/>
                <a:ea typeface="+mn-ea"/>
                <a:cs typeface="+mn-cs"/>
              </a:rPr>
            </a:br>
            <a:r>
              <a:rPr lang="en-US" sz="3200" kern="1200" dirty="0">
                <a:solidFill>
                  <a:schemeClr val="tx1"/>
                </a:solidFill>
                <a:latin typeface="+mn-lt"/>
                <a:ea typeface="+mn-ea"/>
                <a:cs typeface="+mn-cs"/>
              </a:rPr>
              <a:t>G075</a:t>
            </a:r>
            <a:endParaRPr lang="en-US" sz="3200" b="1" dirty="0">
              <a:solidFill>
                <a:schemeClr val="tx1"/>
              </a:solidFill>
            </a:endParaRPr>
          </a:p>
        </p:txBody>
      </p:sp>
      <p:sp>
        <p:nvSpPr>
          <p:cNvPr id="4" name="Título 2">
            <a:extLst>
              <a:ext uri="{FF2B5EF4-FFF2-40B4-BE49-F238E27FC236}">
                <a16:creationId xmlns:a16="http://schemas.microsoft.com/office/drawing/2014/main" id="{DB1D8FD1-20D5-4B6F-506E-F430DA26CEBA}"/>
              </a:ext>
            </a:extLst>
          </p:cNvPr>
          <p:cNvSpPr txBox="1">
            <a:spLocks/>
          </p:cNvSpPr>
          <p:nvPr/>
        </p:nvSpPr>
        <p:spPr>
          <a:xfrm>
            <a:off x="857221" y="1536660"/>
            <a:ext cx="8182338" cy="571503"/>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0" i="0" u="none" strike="noStrike" cap="none">
                <a:solidFill>
                  <a:srgbClr val="A5ABB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pPr algn="ctr"/>
            <a:r>
              <a:rPr lang="en-US" sz="3200" kern="0" dirty="0">
                <a:solidFill>
                  <a:schemeClr val="tx1"/>
                </a:solidFill>
                <a:latin typeface="+mn-lt"/>
                <a:ea typeface="+mn-ea"/>
                <a:cs typeface="+mn-cs"/>
              </a:rPr>
              <a:t>LAPR3 2025/2026</a:t>
            </a:r>
            <a:endParaRPr lang="en-US" sz="3200" kern="0" dirty="0">
              <a:solidFill>
                <a:schemeClr val="tx1"/>
              </a:solidFill>
            </a:endParaRPr>
          </a:p>
        </p:txBody>
      </p:sp>
      <p:graphicFrame>
        <p:nvGraphicFramePr>
          <p:cNvPr id="5" name="Tabela 4">
            <a:extLst>
              <a:ext uri="{FF2B5EF4-FFF2-40B4-BE49-F238E27FC236}">
                <a16:creationId xmlns:a16="http://schemas.microsoft.com/office/drawing/2014/main" id="{A7A502EE-944E-4A2F-52C8-1234A7F9536C}"/>
              </a:ext>
            </a:extLst>
          </p:cNvPr>
          <p:cNvGraphicFramePr>
            <a:graphicFrameLocks noGrp="1"/>
          </p:cNvGraphicFramePr>
          <p:nvPr>
            <p:extLst>
              <p:ext uri="{D42A27DB-BD31-4B8C-83A1-F6EECF244321}">
                <p14:modId xmlns:p14="http://schemas.microsoft.com/office/powerpoint/2010/main" val="1044090843"/>
              </p:ext>
            </p:extLst>
          </p:nvPr>
        </p:nvGraphicFramePr>
        <p:xfrm>
          <a:off x="334152" y="4779150"/>
          <a:ext cx="9228475" cy="652897"/>
        </p:xfrm>
        <a:graphic>
          <a:graphicData uri="http://schemas.openxmlformats.org/drawingml/2006/table">
            <a:tbl>
              <a:tblPr firstRow="1" bandRow="1">
                <a:tableStyleId>{93296810-A885-4BE3-A3E7-6D5BEEA58F35}</a:tableStyleId>
              </a:tblPr>
              <a:tblGrid>
                <a:gridCol w="1845695">
                  <a:extLst>
                    <a:ext uri="{9D8B030D-6E8A-4147-A177-3AD203B41FA5}">
                      <a16:colId xmlns:a16="http://schemas.microsoft.com/office/drawing/2014/main" val="1786404924"/>
                    </a:ext>
                  </a:extLst>
                </a:gridCol>
                <a:gridCol w="1845695">
                  <a:extLst>
                    <a:ext uri="{9D8B030D-6E8A-4147-A177-3AD203B41FA5}">
                      <a16:colId xmlns:a16="http://schemas.microsoft.com/office/drawing/2014/main" val="3388003712"/>
                    </a:ext>
                  </a:extLst>
                </a:gridCol>
                <a:gridCol w="1845695">
                  <a:extLst>
                    <a:ext uri="{9D8B030D-6E8A-4147-A177-3AD203B41FA5}">
                      <a16:colId xmlns:a16="http://schemas.microsoft.com/office/drawing/2014/main" val="3217887647"/>
                    </a:ext>
                  </a:extLst>
                </a:gridCol>
                <a:gridCol w="1845695">
                  <a:extLst>
                    <a:ext uri="{9D8B030D-6E8A-4147-A177-3AD203B41FA5}">
                      <a16:colId xmlns:a16="http://schemas.microsoft.com/office/drawing/2014/main" val="2465101990"/>
                    </a:ext>
                  </a:extLst>
                </a:gridCol>
                <a:gridCol w="1845695">
                  <a:extLst>
                    <a:ext uri="{9D8B030D-6E8A-4147-A177-3AD203B41FA5}">
                      <a16:colId xmlns:a16="http://schemas.microsoft.com/office/drawing/2014/main" val="1554615450"/>
                    </a:ext>
                  </a:extLst>
                </a:gridCol>
              </a:tblGrid>
              <a:tr h="652897">
                <a:tc>
                  <a:txBody>
                    <a:bodyPr/>
                    <a:lstStyle/>
                    <a:p>
                      <a:pPr algn="ctr"/>
                      <a:r>
                        <a:rPr lang="pt-PT" dirty="0"/>
                        <a:t>Carlos Almeida</a:t>
                      </a:r>
                    </a:p>
                    <a:p>
                      <a:pPr algn="ctr"/>
                      <a:r>
                        <a:rPr lang="pt-PT" dirty="0"/>
                        <a:t>(1221515)</a:t>
                      </a:r>
                    </a:p>
                  </a:txBody>
                  <a:tcPr/>
                </a:tc>
                <a:tc>
                  <a:txBody>
                    <a:bodyPr/>
                    <a:lstStyle/>
                    <a:p>
                      <a:pPr algn="ctr"/>
                      <a:r>
                        <a:rPr lang="pt-PT" dirty="0"/>
                        <a:t>Bruno Silva</a:t>
                      </a:r>
                    </a:p>
                    <a:p>
                      <a:pPr algn="ctr"/>
                      <a:r>
                        <a:rPr lang="pt-PT" dirty="0"/>
                        <a:t>(1221514)</a:t>
                      </a:r>
                    </a:p>
                  </a:txBody>
                  <a:tcPr/>
                </a:tc>
                <a:tc>
                  <a:txBody>
                    <a:bodyPr/>
                    <a:lstStyle/>
                    <a:p>
                      <a:pPr algn="ctr"/>
                      <a:r>
                        <a:rPr lang="pt-PT" dirty="0"/>
                        <a:t>Miguel Pinto</a:t>
                      </a:r>
                    </a:p>
                    <a:p>
                      <a:pPr algn="ctr"/>
                      <a:r>
                        <a:rPr lang="pt-PT" dirty="0"/>
                        <a:t>(1221526)</a:t>
                      </a:r>
                    </a:p>
                  </a:txBody>
                  <a:tcPr/>
                </a:tc>
                <a:tc>
                  <a:txBody>
                    <a:bodyPr/>
                    <a:lstStyle/>
                    <a:p>
                      <a:pPr algn="ctr"/>
                      <a:r>
                        <a:rPr lang="pt-PT" dirty="0"/>
                        <a:t>João Pereira</a:t>
                      </a:r>
                    </a:p>
                    <a:p>
                      <a:pPr algn="ctr"/>
                      <a:r>
                        <a:rPr lang="pt-PT" dirty="0"/>
                        <a:t>(1230677)</a:t>
                      </a:r>
                    </a:p>
                  </a:txBody>
                  <a:tcPr/>
                </a:tc>
                <a:tc>
                  <a:txBody>
                    <a:bodyPr/>
                    <a:lstStyle/>
                    <a:p>
                      <a:pPr algn="ctr"/>
                      <a:r>
                        <a:rPr lang="pt-PT" dirty="0"/>
                        <a:t>Francisca Paulos</a:t>
                      </a:r>
                    </a:p>
                    <a:p>
                      <a:pPr algn="ctr"/>
                      <a:r>
                        <a:rPr lang="pt-PT" dirty="0"/>
                        <a:t>(1230993)</a:t>
                      </a:r>
                    </a:p>
                  </a:txBody>
                  <a:tcPr/>
                </a:tc>
                <a:extLst>
                  <a:ext uri="{0D108BD9-81ED-4DB2-BD59-A6C34878D82A}">
                    <a16:rowId xmlns:a16="http://schemas.microsoft.com/office/drawing/2014/main" val="2471333584"/>
                  </a:ext>
                </a:extLst>
              </a:tr>
            </a:tbl>
          </a:graphicData>
        </a:graphic>
      </p:graphicFrame>
    </p:spTree>
  </p:cSld>
  <p:clrMapOvr>
    <a:masterClrMapping/>
  </p:clrMapOvr>
  <p:transition spd="med">
    <p:fade/>
  </p:transition>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p:txBody>
          <a:bodyPr/>
          <a:lstStyle/>
          <a:p>
            <a:r>
              <a:rPr lang="en-US" sz="3200" cap="none" dirty="0">
                <a:solidFill>
                  <a:schemeClr val="tx1"/>
                </a:solidFill>
              </a:rPr>
              <a:t>Sprint planning – Sprint 1</a:t>
            </a:r>
          </a:p>
        </p:txBody>
      </p:sp>
      <p:graphicFrame>
        <p:nvGraphicFramePr>
          <p:cNvPr id="2" name="Tabela 2">
            <a:extLst>
              <a:ext uri="{FF2B5EF4-FFF2-40B4-BE49-F238E27FC236}">
                <a16:creationId xmlns:a16="http://schemas.microsoft.com/office/drawing/2014/main" id="{CE9589D4-96FD-42EC-88BF-AABA0DB75B49}"/>
              </a:ext>
            </a:extLst>
          </p:cNvPr>
          <p:cNvGraphicFramePr>
            <a:graphicFrameLocks noGrp="1"/>
          </p:cNvGraphicFramePr>
          <p:nvPr>
            <p:extLst>
              <p:ext uri="{D42A27DB-BD31-4B8C-83A1-F6EECF244321}">
                <p14:modId xmlns:p14="http://schemas.microsoft.com/office/powerpoint/2010/main" val="2532373212"/>
              </p:ext>
            </p:extLst>
          </p:nvPr>
        </p:nvGraphicFramePr>
        <p:xfrm>
          <a:off x="947555" y="3023955"/>
          <a:ext cx="7830870" cy="2743197"/>
        </p:xfrm>
        <a:graphic>
          <a:graphicData uri="http://schemas.openxmlformats.org/drawingml/2006/table">
            <a:tbl>
              <a:tblPr firstRow="1" bandRow="1">
                <a:tableStyleId>{912C8C85-51F0-491E-9774-3900AFEF0FD7}</a:tableStyleId>
              </a:tblPr>
              <a:tblGrid>
                <a:gridCol w="4112855">
                  <a:extLst>
                    <a:ext uri="{9D8B030D-6E8A-4147-A177-3AD203B41FA5}">
                      <a16:colId xmlns:a16="http://schemas.microsoft.com/office/drawing/2014/main" val="3798560086"/>
                    </a:ext>
                  </a:extLst>
                </a:gridCol>
                <a:gridCol w="3718015">
                  <a:extLst>
                    <a:ext uri="{9D8B030D-6E8A-4147-A177-3AD203B41FA5}">
                      <a16:colId xmlns:a16="http://schemas.microsoft.com/office/drawing/2014/main" val="477562216"/>
                    </a:ext>
                  </a:extLst>
                </a:gridCol>
              </a:tblGrid>
              <a:tr h="370840">
                <a:tc>
                  <a:txBody>
                    <a:bodyPr/>
                    <a:lstStyle/>
                    <a:p>
                      <a:r>
                        <a:rPr lang="pt-PT" dirty="0"/>
                        <a:t>SPRINT BACKLOG</a:t>
                      </a:r>
                    </a:p>
                  </a:txBody>
                  <a:tcPr/>
                </a:tc>
                <a:tc>
                  <a:txBody>
                    <a:bodyPr/>
                    <a:lstStyle/>
                    <a:p>
                      <a:endParaRPr lang="pt-PT" dirty="0"/>
                    </a:p>
                  </a:txBody>
                  <a:tcPr/>
                </a:tc>
                <a:extLst>
                  <a:ext uri="{0D108BD9-81ED-4DB2-BD59-A6C34878D82A}">
                    <a16:rowId xmlns:a16="http://schemas.microsoft.com/office/drawing/2014/main" val="3623111211"/>
                  </a:ext>
                </a:extLst>
              </a:tr>
              <a:tr h="370840">
                <a:tc>
                  <a:txBody>
                    <a:bodyPr/>
                    <a:lstStyle/>
                    <a:p>
                      <a:r>
                        <a:rPr lang="en-US" noProof="0" dirty="0"/>
                        <a:t>Number of stories</a:t>
                      </a:r>
                    </a:p>
                  </a:txBody>
                  <a:tcPr/>
                </a:tc>
                <a:tc>
                  <a:txBody>
                    <a:bodyPr/>
                    <a:lstStyle/>
                    <a:p>
                      <a:pPr algn="ctr"/>
                      <a:r>
                        <a:rPr lang="en-US" noProof="0" dirty="0"/>
                        <a:t>12</a:t>
                      </a:r>
                    </a:p>
                  </a:txBody>
                  <a:tcPr/>
                </a:tc>
                <a:extLst>
                  <a:ext uri="{0D108BD9-81ED-4DB2-BD59-A6C34878D82A}">
                    <a16:rowId xmlns:a16="http://schemas.microsoft.com/office/drawing/2014/main" val="883314903"/>
                  </a:ext>
                </a:extLst>
              </a:tr>
              <a:tr h="370840">
                <a:tc>
                  <a:txBody>
                    <a:bodyPr/>
                    <a:lstStyle/>
                    <a:p>
                      <a:r>
                        <a:rPr lang="en-US" noProof="0" dirty="0"/>
                        <a:t>Number of bugs</a:t>
                      </a:r>
                    </a:p>
                  </a:txBody>
                  <a:tcPr/>
                </a:tc>
                <a:tc>
                  <a:txBody>
                    <a:bodyPr/>
                    <a:lstStyle/>
                    <a:p>
                      <a:pPr algn="ctr"/>
                      <a:r>
                        <a:rPr lang="en-US" noProof="0" dirty="0"/>
                        <a:t>0</a:t>
                      </a:r>
                    </a:p>
                  </a:txBody>
                  <a:tcPr/>
                </a:tc>
                <a:extLst>
                  <a:ext uri="{0D108BD9-81ED-4DB2-BD59-A6C34878D82A}">
                    <a16:rowId xmlns:a16="http://schemas.microsoft.com/office/drawing/2014/main" val="428254498"/>
                  </a:ext>
                </a:extLst>
              </a:tr>
              <a:tr h="370839">
                <a:tc>
                  <a:txBody>
                    <a:bodyPr/>
                    <a:lstStyle/>
                    <a:p>
                      <a:pPr lvl="0">
                        <a:buNone/>
                      </a:pPr>
                      <a:r>
                        <a:rPr lang="en-US" noProof="0" dirty="0"/>
                        <a:t>Number of tasks</a:t>
                      </a:r>
                    </a:p>
                  </a:txBody>
                  <a:tcPr/>
                </a:tc>
                <a:tc>
                  <a:txBody>
                    <a:bodyPr/>
                    <a:lstStyle/>
                    <a:p>
                      <a:pPr lvl="0" algn="ctr">
                        <a:buNone/>
                      </a:pPr>
                      <a:r>
                        <a:rPr lang="en-US" noProof="0" dirty="0"/>
                        <a:t>18</a:t>
                      </a:r>
                    </a:p>
                  </a:txBody>
                  <a:tcPr/>
                </a:tc>
                <a:extLst>
                  <a:ext uri="{0D108BD9-81ED-4DB2-BD59-A6C34878D82A}">
                    <a16:rowId xmlns:a16="http://schemas.microsoft.com/office/drawing/2014/main" val="4185709446"/>
                  </a:ext>
                </a:extLst>
              </a:tr>
              <a:tr h="370839">
                <a:tc>
                  <a:txBody>
                    <a:bodyPr/>
                    <a:lstStyle/>
                    <a:p>
                      <a:pPr lvl="0">
                        <a:buNone/>
                      </a:pPr>
                      <a:r>
                        <a:rPr lang="en-US" noProof="0" dirty="0"/>
                        <a:t>Number of Management Tasks (Scrum)</a:t>
                      </a:r>
                    </a:p>
                  </a:txBody>
                  <a:tcPr/>
                </a:tc>
                <a:tc>
                  <a:txBody>
                    <a:bodyPr/>
                    <a:lstStyle/>
                    <a:p>
                      <a:pPr lvl="0" algn="ctr">
                        <a:buNone/>
                      </a:pPr>
                      <a:r>
                        <a:rPr lang="en-US" noProof="0" dirty="0"/>
                        <a:t>7</a:t>
                      </a:r>
                    </a:p>
                  </a:txBody>
                  <a:tcPr/>
                </a:tc>
                <a:extLst>
                  <a:ext uri="{0D108BD9-81ED-4DB2-BD59-A6C34878D82A}">
                    <a16:rowId xmlns:a16="http://schemas.microsoft.com/office/drawing/2014/main" val="563517871"/>
                  </a:ext>
                </a:extLst>
              </a:tr>
              <a:tr h="370839">
                <a:tc>
                  <a:txBody>
                    <a:bodyPr/>
                    <a:lstStyle/>
                    <a:p>
                      <a:pPr lvl="0">
                        <a:buNone/>
                      </a:pPr>
                      <a:r>
                        <a:rPr lang="en-US" noProof="0" dirty="0"/>
                        <a:t>Number of team members</a:t>
                      </a:r>
                    </a:p>
                  </a:txBody>
                  <a:tcPr/>
                </a:tc>
                <a:tc>
                  <a:txBody>
                    <a:bodyPr/>
                    <a:lstStyle/>
                    <a:p>
                      <a:pPr lvl="0" algn="ctr">
                        <a:buNone/>
                      </a:pPr>
                      <a:r>
                        <a:rPr lang="en-US" noProof="0" dirty="0"/>
                        <a:t>Planned:    5           Actual:   5</a:t>
                      </a:r>
                    </a:p>
                  </a:txBody>
                  <a:tcPr/>
                </a:tc>
                <a:extLst>
                  <a:ext uri="{0D108BD9-81ED-4DB2-BD59-A6C34878D82A}">
                    <a16:rowId xmlns:a16="http://schemas.microsoft.com/office/drawing/2014/main" val="2843102962"/>
                  </a:ext>
                </a:extLst>
              </a:tr>
              <a:tr h="370838">
                <a:tc>
                  <a:txBody>
                    <a:bodyPr/>
                    <a:lstStyle/>
                    <a:p>
                      <a:pPr lvl="0">
                        <a:buNone/>
                      </a:pPr>
                      <a:r>
                        <a:rPr lang="en-US" noProof="0" dirty="0"/>
                        <a:t>Total planned estimation vs execution</a:t>
                      </a:r>
                    </a:p>
                  </a:txBody>
                  <a:tcPr/>
                </a:tc>
                <a:tc>
                  <a:txBody>
                    <a:bodyPr/>
                    <a:lstStyle/>
                    <a:p>
                      <a:pPr marL="0" lvl="0" indent="0" algn="ctr">
                        <a:buNone/>
                      </a:pPr>
                      <a:r>
                        <a:rPr lang="en-US" noProof="0" dirty="0"/>
                        <a:t>Planned hours: 122.75</a:t>
                      </a:r>
                    </a:p>
                    <a:p>
                      <a:pPr marL="0" lvl="0" indent="0" algn="ctr">
                        <a:buNone/>
                      </a:pPr>
                      <a:r>
                        <a:rPr lang="en-US" noProof="0" dirty="0"/>
                        <a:t>Executed hours: 126.75</a:t>
                      </a:r>
                    </a:p>
                  </a:txBody>
                  <a:tcPr/>
                </a:tc>
                <a:extLst>
                  <a:ext uri="{0D108BD9-81ED-4DB2-BD59-A6C34878D82A}">
                    <a16:rowId xmlns:a16="http://schemas.microsoft.com/office/drawing/2014/main" val="4118989459"/>
                  </a:ext>
                </a:extLst>
              </a:tr>
            </a:tbl>
          </a:graphicData>
        </a:graphic>
      </p:graphicFrame>
      <p:sp>
        <p:nvSpPr>
          <p:cNvPr id="7" name="Marcador de Posição de Conteúdo 5">
            <a:extLst>
              <a:ext uri="{FF2B5EF4-FFF2-40B4-BE49-F238E27FC236}">
                <a16:creationId xmlns:a16="http://schemas.microsoft.com/office/drawing/2014/main" id="{6F8BAF59-30E8-4D49-87D9-D5A1CD648639}"/>
              </a:ext>
            </a:extLst>
          </p:cNvPr>
          <p:cNvSpPr txBox="1">
            <a:spLocks/>
          </p:cNvSpPr>
          <p:nvPr/>
        </p:nvSpPr>
        <p:spPr>
          <a:xfrm>
            <a:off x="448800" y="1626520"/>
            <a:ext cx="9043200" cy="710644"/>
          </a:xfrm>
          <a:prstGeom prst="rect">
            <a:avLst/>
          </a:prstGeom>
        </p:spPr>
        <p:txBody>
          <a:bodyPr lIns="91440" tIns="45720" rIns="91440" bIns="45720" anchor="t"/>
          <a:lstStyle>
            <a:lvl1pPr marL="342900" indent="-342900" algn="l" defTabSz="914400" rtl="0" eaLnBrk="1" latinLnBrk="0" hangingPunct="1">
              <a:spcBef>
                <a:spcPts val="0"/>
              </a:spcBef>
              <a:spcAft>
                <a:spcPts val="400"/>
              </a:spcAft>
              <a:buFont typeface="Arial" pitchFamily="34" charset="0"/>
              <a:buChar char="•"/>
              <a:defRPr sz="2000" kern="1200">
                <a:solidFill>
                  <a:schemeClr val="bg1">
                    <a:lumMod val="85000"/>
                  </a:schemeClr>
                </a:solidFill>
                <a:latin typeface="Calibri"/>
                <a:ea typeface="+mn-ea"/>
                <a:cs typeface="Calibri"/>
              </a:defRPr>
            </a:lvl1pPr>
            <a:lvl2pPr marL="742950" indent="-285750" algn="l" defTabSz="914400" rtl="0" eaLnBrk="1" latinLnBrk="0" hangingPunct="1">
              <a:spcBef>
                <a:spcPts val="0"/>
              </a:spcBef>
              <a:spcAft>
                <a:spcPts val="400"/>
              </a:spcAft>
              <a:buFont typeface="Arial" pitchFamily="34" charset="0"/>
              <a:buChar char="–"/>
              <a:defRPr sz="1800" kern="1200">
                <a:solidFill>
                  <a:schemeClr val="bg1">
                    <a:lumMod val="85000"/>
                  </a:schemeClr>
                </a:solidFill>
                <a:latin typeface="Calibri"/>
                <a:ea typeface="+mn-ea"/>
                <a:cs typeface="Calibri"/>
              </a:defRPr>
            </a:lvl2pPr>
            <a:lvl3pPr marL="1143000" indent="-228600" algn="l" defTabSz="914400" rtl="0" eaLnBrk="1" latinLnBrk="0" hangingPunct="1">
              <a:spcBef>
                <a:spcPts val="0"/>
              </a:spcBef>
              <a:spcAft>
                <a:spcPts val="400"/>
              </a:spcAft>
              <a:buFont typeface="Arial" pitchFamily="34" charset="0"/>
              <a:buNone/>
              <a:defRPr sz="1600" kern="1200">
                <a:solidFill>
                  <a:schemeClr val="bg1">
                    <a:lumMod val="85000"/>
                  </a:schemeClr>
                </a:solidFill>
                <a:latin typeface="Calibri"/>
                <a:ea typeface="+mn-ea"/>
                <a:cs typeface="Calibri"/>
              </a:defRPr>
            </a:lvl3pPr>
            <a:lvl4pPr marL="1600200" indent="-228600" algn="l" defTabSz="914400" rtl="0" eaLnBrk="1" latinLnBrk="0" hangingPunct="1">
              <a:spcBef>
                <a:spcPts val="0"/>
              </a:spcBef>
              <a:spcAft>
                <a:spcPts val="400"/>
              </a:spcAft>
              <a:buFont typeface="Arial" pitchFamily="34" charset="0"/>
              <a:buChar char="–"/>
              <a:defRPr sz="1400" kern="1200">
                <a:solidFill>
                  <a:schemeClr val="bg1">
                    <a:lumMod val="85000"/>
                  </a:schemeClr>
                </a:solidFill>
                <a:latin typeface="Calibri"/>
                <a:ea typeface="+mn-ea"/>
                <a:cs typeface="Calibri"/>
              </a:defRPr>
            </a:lvl4pPr>
            <a:lvl5pPr marL="2057400" indent="-228600" algn="l" defTabSz="914400" rtl="0" eaLnBrk="1" latinLnBrk="0" hangingPunct="1">
              <a:spcBef>
                <a:spcPts val="0"/>
              </a:spcBef>
              <a:spcAft>
                <a:spcPts val="400"/>
              </a:spcAft>
              <a:buFont typeface="Arial" pitchFamily="34" charset="0"/>
              <a:buChar char="»"/>
              <a:defRPr sz="1200" kern="1200">
                <a:solidFill>
                  <a:schemeClr val="bg1">
                    <a:lumMod val="85000"/>
                  </a:schemeClr>
                </a:solidFill>
                <a:latin typeface="Calibri"/>
                <a:ea typeface="+mn-ea"/>
                <a:cs typeface="Calibri"/>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dirty="0">
                <a:solidFill>
                  <a:schemeClr val="tx1"/>
                </a:solidFill>
              </a:rPr>
              <a:t>Planned Start Date:                                                 Real Start Date:  </a:t>
            </a:r>
          </a:p>
          <a:p>
            <a:pPr marL="0" indent="0">
              <a:buNone/>
            </a:pPr>
            <a:r>
              <a:rPr lang="en-US" sz="1800" dirty="0">
                <a:solidFill>
                  <a:schemeClr val="tx1"/>
                </a:solidFill>
              </a:rPr>
              <a:t>Planned End Date:                                                   Real End Date:</a:t>
            </a:r>
          </a:p>
          <a:p>
            <a:pPr marL="0" indent="0">
              <a:buFont typeface="Arial" pitchFamily="34" charset="0"/>
              <a:buNone/>
            </a:pPr>
            <a:endParaRPr lang="en-US" dirty="0">
              <a:solidFill>
                <a:schemeClr val="tx1"/>
              </a:solidFill>
            </a:endParaRPr>
          </a:p>
        </p:txBody>
      </p:sp>
    </p:spTree>
    <p:extLst>
      <p:ext uri="{BB962C8B-B14F-4D97-AF65-F5344CB8AC3E}">
        <p14:creationId xmlns:p14="http://schemas.microsoft.com/office/powerpoint/2010/main" val="244167943"/>
      </p:ext>
    </p:extLst>
  </p:cSld>
  <p:clrMapOvr>
    <a:masterClrMapping/>
  </p:clrMapOvr>
  <p:transition spd="med">
    <p:fade/>
  </p:transition>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a:xfrm>
            <a:off x="414000" y="1000108"/>
            <a:ext cx="9219520" cy="571504"/>
          </a:xfrm>
        </p:spPr>
        <p:txBody>
          <a:bodyPr/>
          <a:lstStyle/>
          <a:p>
            <a:r>
              <a:rPr lang="en-US" sz="3200" cap="none" dirty="0">
                <a:solidFill>
                  <a:schemeClr val="tx1"/>
                </a:solidFill>
              </a:rPr>
              <a:t>Sprint 1 planning</a:t>
            </a:r>
          </a:p>
        </p:txBody>
      </p:sp>
      <p:graphicFrame>
        <p:nvGraphicFramePr>
          <p:cNvPr id="2" name="Tabela 2">
            <a:extLst>
              <a:ext uri="{FF2B5EF4-FFF2-40B4-BE49-F238E27FC236}">
                <a16:creationId xmlns:a16="http://schemas.microsoft.com/office/drawing/2014/main" id="{CE9589D4-96FD-42EC-88BF-AABA0DB75B49}"/>
              </a:ext>
            </a:extLst>
          </p:cNvPr>
          <p:cNvGraphicFramePr>
            <a:graphicFrameLocks noGrp="1"/>
          </p:cNvGraphicFramePr>
          <p:nvPr>
            <p:extLst>
              <p:ext uri="{D42A27DB-BD31-4B8C-83A1-F6EECF244321}">
                <p14:modId xmlns:p14="http://schemas.microsoft.com/office/powerpoint/2010/main" val="4101927619"/>
              </p:ext>
            </p:extLst>
          </p:nvPr>
        </p:nvGraphicFramePr>
        <p:xfrm>
          <a:off x="414000" y="1673805"/>
          <a:ext cx="9008401" cy="4599495"/>
        </p:xfrm>
        <a:graphic>
          <a:graphicData uri="http://schemas.openxmlformats.org/drawingml/2006/table">
            <a:tbl>
              <a:tblPr firstRow="1" bandRow="1">
                <a:tableStyleId>{912C8C85-51F0-491E-9774-3900AFEF0FD7}</a:tableStyleId>
              </a:tblPr>
              <a:tblGrid>
                <a:gridCol w="1568670">
                  <a:extLst>
                    <a:ext uri="{9D8B030D-6E8A-4147-A177-3AD203B41FA5}">
                      <a16:colId xmlns:a16="http://schemas.microsoft.com/office/drawing/2014/main" val="3798560086"/>
                    </a:ext>
                  </a:extLst>
                </a:gridCol>
                <a:gridCol w="1529457">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en-US" noProof="0" dirty="0"/>
                        <a:t>Assigned User Stories </a:t>
                      </a:r>
                      <a:r>
                        <a:rPr lang="en-US" sz="1200" noProof="0" dirty="0"/>
                        <a:t>(as stated in the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Committed?</a:t>
                      </a:r>
                    </a:p>
                    <a:p>
                      <a:pPr algn="ctr"/>
                      <a:r>
                        <a:rPr lang="en-US"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dirty="0"/>
                        <a:t>USEI01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pt-PT" sz="1400" b="0" i="0" u="none" strike="noStrike" kern="0" cap="none" spc="0" normalizeH="0" baseline="0" noProof="0">
                          <a:ln>
                            <a:noFill/>
                          </a:ln>
                          <a:solidFill>
                            <a:prstClr val="black"/>
                          </a:solidFill>
                          <a:effectLst/>
                          <a:uLnTx/>
                          <a:uFillTx/>
                          <a:latin typeface="Arial"/>
                          <a:ea typeface="+mn-ea"/>
                          <a:cs typeface="+mn-cs"/>
                          <a:sym typeface="Arial"/>
                        </a:rPr>
                        <a:t>✅</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pt-PT" dirty="0"/>
                        <a:t>USEI02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pt-PT" sz="1400" b="0" i="0" u="none" strike="noStrike" kern="0" cap="none" spc="0" normalizeH="0" baseline="0" noProof="0">
                          <a:ln>
                            <a:noFill/>
                          </a:ln>
                          <a:solidFill>
                            <a:prstClr val="black"/>
                          </a:solidFill>
                          <a:effectLst/>
                          <a:uLnTx/>
                          <a:uFillTx/>
                          <a:latin typeface="Arial"/>
                          <a:ea typeface="+mn-ea"/>
                          <a:cs typeface="+mn-cs"/>
                          <a:sym typeface="Arial"/>
                        </a:rPr>
                        <a:t>✅</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r>
                        <a:rPr lang="pt-PT" dirty="0"/>
                        <a:t>USEI03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r>
                        <a:rPr lang="pt-PT" dirty="0"/>
                        <a:t>USEI04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Not </a:t>
                      </a:r>
                      <a:r>
                        <a:rPr lang="pt-PT" dirty="0" err="1"/>
                        <a:t>assigned</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80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dirty="0"/>
                        <a:t>USEI05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Not </a:t>
                      </a:r>
                      <a:r>
                        <a:rPr lang="pt-PT" dirty="0" err="1"/>
                        <a:t>assigned</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r h="370838">
                <a:tc>
                  <a:txBody>
                    <a:bodyPr/>
                    <a:lstStyle/>
                    <a:p>
                      <a:pPr lvl="0">
                        <a:buNone/>
                      </a:pPr>
                      <a:r>
                        <a:rPr lang="pt-PT" dirty="0"/>
                        <a:t>USBD01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989459"/>
                  </a:ext>
                </a:extLst>
              </a:tr>
              <a:tr h="370838">
                <a:tc>
                  <a:txBody>
                    <a:bodyPr/>
                    <a:lstStyle/>
                    <a:p>
                      <a:pPr lvl="0">
                        <a:buNone/>
                      </a:pPr>
                      <a:r>
                        <a:rPr lang="pt-PT" dirty="0"/>
                        <a:t>USBD02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09061"/>
                  </a:ext>
                </a:extLst>
              </a:tr>
              <a:tr h="370838">
                <a:tc>
                  <a:txBody>
                    <a:bodyPr/>
                    <a:lstStyle/>
                    <a:p>
                      <a:pPr lvl="0">
                        <a:buNone/>
                      </a:pPr>
                      <a:r>
                        <a:rPr lang="pt-PT" dirty="0"/>
                        <a:t>USBD03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2301020"/>
                  </a:ext>
                </a:extLst>
              </a:tr>
              <a:tr h="370838">
                <a:tc>
                  <a:txBody>
                    <a:bodyPr/>
                    <a:lstStyle/>
                    <a:p>
                      <a:pPr lvl="0">
                        <a:buNone/>
                      </a:pPr>
                      <a:r>
                        <a:rPr lang="pt-PT" dirty="0"/>
                        <a:t>USBD04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7636612"/>
                  </a:ext>
                </a:extLst>
              </a:tr>
              <a:tr h="370838">
                <a:tc>
                  <a:txBody>
                    <a:bodyPr/>
                    <a:lstStyle/>
                    <a:p>
                      <a:pPr lvl="0">
                        <a:buNone/>
                      </a:pPr>
                      <a:r>
                        <a:rPr lang="pt-PT" dirty="0"/>
                        <a:t>USBD05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Not </a:t>
                      </a:r>
                      <a:r>
                        <a:rPr lang="pt-PT" dirty="0" err="1"/>
                        <a:t>assigned</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282771"/>
                  </a:ext>
                </a:extLst>
              </a:tr>
            </a:tbl>
          </a:graphicData>
        </a:graphic>
      </p:graphicFrame>
    </p:spTree>
    <p:extLst>
      <p:ext uri="{BB962C8B-B14F-4D97-AF65-F5344CB8AC3E}">
        <p14:creationId xmlns:p14="http://schemas.microsoft.com/office/powerpoint/2010/main" val="4173375763"/>
      </p:ext>
    </p:extLst>
  </p:cSld>
  <p:clrMapOvr>
    <a:masterClrMapping/>
  </p:clrMapOvr>
  <p:transition spd="med">
    <p:fade/>
  </p:transition>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64388-7398-9C3D-F06E-B074991DD3D2}"/>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E6E3E3BF-E1FD-9956-FAB6-1B2B308E6A64}"/>
              </a:ext>
            </a:extLst>
          </p:cNvPr>
          <p:cNvSpPr>
            <a:spLocks noGrp="1"/>
          </p:cNvSpPr>
          <p:nvPr>
            <p:ph type="title"/>
          </p:nvPr>
        </p:nvSpPr>
        <p:spPr>
          <a:xfrm>
            <a:off x="414000" y="1000108"/>
            <a:ext cx="9219520" cy="571504"/>
          </a:xfrm>
        </p:spPr>
        <p:txBody>
          <a:bodyPr/>
          <a:lstStyle/>
          <a:p>
            <a:r>
              <a:rPr lang="en-US" sz="3200" cap="none" dirty="0">
                <a:solidFill>
                  <a:schemeClr val="tx1"/>
                </a:solidFill>
              </a:rPr>
              <a:t>Sprint 1 planning</a:t>
            </a:r>
          </a:p>
        </p:txBody>
      </p:sp>
      <p:graphicFrame>
        <p:nvGraphicFramePr>
          <p:cNvPr id="2" name="Tabela 2">
            <a:extLst>
              <a:ext uri="{FF2B5EF4-FFF2-40B4-BE49-F238E27FC236}">
                <a16:creationId xmlns:a16="http://schemas.microsoft.com/office/drawing/2014/main" id="{B19F22F6-F44A-2B8D-5B94-4830565567E9}"/>
              </a:ext>
            </a:extLst>
          </p:cNvPr>
          <p:cNvGraphicFramePr>
            <a:graphicFrameLocks noGrp="1"/>
          </p:cNvGraphicFramePr>
          <p:nvPr>
            <p:extLst>
              <p:ext uri="{D42A27DB-BD31-4B8C-83A1-F6EECF244321}">
                <p14:modId xmlns:p14="http://schemas.microsoft.com/office/powerpoint/2010/main" val="2820064926"/>
              </p:ext>
            </p:extLst>
          </p:nvPr>
        </p:nvGraphicFramePr>
        <p:xfrm>
          <a:off x="414000" y="1673805"/>
          <a:ext cx="9008401" cy="4592307"/>
        </p:xfrm>
        <a:graphic>
          <a:graphicData uri="http://schemas.openxmlformats.org/drawingml/2006/table">
            <a:tbl>
              <a:tblPr firstRow="1" bandRow="1">
                <a:tableStyleId>{912C8C85-51F0-491E-9774-3900AFEF0FD7}</a:tableStyleId>
              </a:tblPr>
              <a:tblGrid>
                <a:gridCol w="1568670">
                  <a:extLst>
                    <a:ext uri="{9D8B030D-6E8A-4147-A177-3AD203B41FA5}">
                      <a16:colId xmlns:a16="http://schemas.microsoft.com/office/drawing/2014/main" val="3798560086"/>
                    </a:ext>
                  </a:extLst>
                </a:gridCol>
                <a:gridCol w="1529457">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en-US" noProof="0" dirty="0"/>
                        <a:t>Assigned User Stories </a:t>
                      </a:r>
                      <a:r>
                        <a:rPr lang="en-US" sz="1200" noProof="0" dirty="0"/>
                        <a:t>(as stated in the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Committed?</a:t>
                      </a:r>
                    </a:p>
                    <a:p>
                      <a:pPr algn="ctr"/>
                      <a:r>
                        <a:rPr lang="en-US"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dirty="0"/>
                        <a:t>USBD06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Not </a:t>
                      </a:r>
                      <a:r>
                        <a:rPr lang="pt-PT" dirty="0" err="1"/>
                        <a:t>assigned</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pt-PT" dirty="0"/>
                        <a:t>USBD07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Not </a:t>
                      </a:r>
                      <a:r>
                        <a:rPr lang="pt-PT" dirty="0" err="1"/>
                        <a:t>assigned</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r>
                        <a:rPr lang="pt-PT" dirty="0"/>
                        <a:t>USBD08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Not </a:t>
                      </a:r>
                      <a:r>
                        <a:rPr lang="pt-PT" dirty="0" err="1"/>
                        <a:t>assigned</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r>
                        <a:rPr lang="pt-PT" dirty="0"/>
                        <a:t>USBD09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dirty="0"/>
                        <a:t>USBD10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Not assigned</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r h="370838">
                <a:tc>
                  <a:txBody>
                    <a:bodyPr/>
                    <a:lstStyle/>
                    <a:p>
                      <a:pPr lvl="0">
                        <a:buNone/>
                      </a:pPr>
                      <a:r>
                        <a:rPr lang="pt-PT" dirty="0"/>
                        <a:t>USBD11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Not assigned</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989459"/>
                  </a:ext>
                </a:extLst>
              </a:tr>
              <a:tr h="370838">
                <a:tc>
                  <a:txBody>
                    <a:bodyPr/>
                    <a:lstStyle/>
                    <a:p>
                      <a:pPr lvl="0">
                        <a:buNone/>
                      </a:pPr>
                      <a:r>
                        <a:rPr lang="pt-PT" dirty="0"/>
                        <a:t>USBD12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Not assigned</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09061"/>
                  </a:ext>
                </a:extLst>
              </a:tr>
              <a:tr h="370838">
                <a:tc>
                  <a:txBody>
                    <a:bodyPr/>
                    <a:lstStyle/>
                    <a:p>
                      <a:pPr lvl="0">
                        <a:buNone/>
                      </a:pPr>
                      <a:r>
                        <a:rPr lang="pt-PT" dirty="0"/>
                        <a:t>USBD13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Not assigned</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2301020"/>
                  </a:ext>
                </a:extLst>
              </a:tr>
              <a:tr h="370838">
                <a:tc>
                  <a:txBody>
                    <a:bodyPr/>
                    <a:lstStyle/>
                    <a:p>
                      <a:pPr lvl="0">
                        <a:buNone/>
                      </a:pPr>
                      <a:r>
                        <a:rPr lang="pt-PT" dirty="0"/>
                        <a:t>USBD14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Not assigned</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7636612"/>
                  </a:ext>
                </a:extLst>
              </a:tr>
              <a:tr h="370838">
                <a:tc>
                  <a:txBody>
                    <a:bodyPr/>
                    <a:lstStyle/>
                    <a:p>
                      <a:pPr lvl="0">
                        <a:buNone/>
                      </a:pPr>
                      <a:r>
                        <a:rPr lang="pt-PT" dirty="0"/>
                        <a:t>USBD15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Not </a:t>
                      </a:r>
                      <a:r>
                        <a:rPr kumimoji="0" lang="pt-PT" sz="1400" b="0" i="0" u="none" strike="noStrike" kern="0" cap="none" spc="0" normalizeH="0" baseline="0" noProof="0" dirty="0" err="1">
                          <a:ln>
                            <a:noFill/>
                          </a:ln>
                          <a:solidFill>
                            <a:prstClr val="black"/>
                          </a:solidFill>
                          <a:effectLst/>
                          <a:uLnTx/>
                          <a:uFillTx/>
                          <a:latin typeface="Arial"/>
                          <a:ea typeface="+mn-ea"/>
                          <a:cs typeface="+mn-cs"/>
                          <a:sym typeface="Arial"/>
                        </a:rPr>
                        <a:t>assigned</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282771"/>
                  </a:ext>
                </a:extLst>
              </a:tr>
            </a:tbl>
          </a:graphicData>
        </a:graphic>
      </p:graphicFrame>
    </p:spTree>
    <p:extLst>
      <p:ext uri="{BB962C8B-B14F-4D97-AF65-F5344CB8AC3E}">
        <p14:creationId xmlns:p14="http://schemas.microsoft.com/office/powerpoint/2010/main" val="211620541"/>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FAD0E-6CCD-A6C7-BB36-B51957D54A7A}"/>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9ED4607E-2BBA-4987-8B58-C94DB02FAD1A}"/>
              </a:ext>
            </a:extLst>
          </p:cNvPr>
          <p:cNvSpPr>
            <a:spLocks noGrp="1"/>
          </p:cNvSpPr>
          <p:nvPr>
            <p:ph type="title"/>
          </p:nvPr>
        </p:nvSpPr>
        <p:spPr>
          <a:xfrm>
            <a:off x="414000" y="1000108"/>
            <a:ext cx="9219520" cy="571504"/>
          </a:xfrm>
        </p:spPr>
        <p:txBody>
          <a:bodyPr/>
          <a:lstStyle/>
          <a:p>
            <a:r>
              <a:rPr lang="en-US" sz="3200" cap="none" dirty="0">
                <a:solidFill>
                  <a:schemeClr val="tx1"/>
                </a:solidFill>
              </a:rPr>
              <a:t>Sprint 1 planning</a:t>
            </a:r>
          </a:p>
        </p:txBody>
      </p:sp>
      <p:graphicFrame>
        <p:nvGraphicFramePr>
          <p:cNvPr id="2" name="Tabela 2">
            <a:extLst>
              <a:ext uri="{FF2B5EF4-FFF2-40B4-BE49-F238E27FC236}">
                <a16:creationId xmlns:a16="http://schemas.microsoft.com/office/drawing/2014/main" id="{F67A13EE-E4AF-E9B2-B8E2-C7ED83445518}"/>
              </a:ext>
            </a:extLst>
          </p:cNvPr>
          <p:cNvGraphicFramePr>
            <a:graphicFrameLocks noGrp="1"/>
          </p:cNvGraphicFramePr>
          <p:nvPr>
            <p:extLst>
              <p:ext uri="{D42A27DB-BD31-4B8C-83A1-F6EECF244321}">
                <p14:modId xmlns:p14="http://schemas.microsoft.com/office/powerpoint/2010/main" val="494882583"/>
              </p:ext>
            </p:extLst>
          </p:nvPr>
        </p:nvGraphicFramePr>
        <p:xfrm>
          <a:off x="414000" y="1673805"/>
          <a:ext cx="9008401" cy="3850631"/>
        </p:xfrm>
        <a:graphic>
          <a:graphicData uri="http://schemas.openxmlformats.org/drawingml/2006/table">
            <a:tbl>
              <a:tblPr firstRow="1" bandRow="1">
                <a:tableStyleId>{912C8C85-51F0-491E-9774-3900AFEF0FD7}</a:tableStyleId>
              </a:tblPr>
              <a:tblGrid>
                <a:gridCol w="1568670">
                  <a:extLst>
                    <a:ext uri="{9D8B030D-6E8A-4147-A177-3AD203B41FA5}">
                      <a16:colId xmlns:a16="http://schemas.microsoft.com/office/drawing/2014/main" val="3798560086"/>
                    </a:ext>
                  </a:extLst>
                </a:gridCol>
                <a:gridCol w="1529457">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en-US" noProof="0" dirty="0"/>
                        <a:t>Assigned User Stories </a:t>
                      </a:r>
                      <a:r>
                        <a:rPr lang="en-US" sz="1200" noProof="0" dirty="0"/>
                        <a:t>(as stated in the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Committed?</a:t>
                      </a:r>
                    </a:p>
                    <a:p>
                      <a:pPr algn="ctr"/>
                      <a:r>
                        <a:rPr lang="en-US"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dirty="0"/>
                        <a:t>USBD16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Not </a:t>
                      </a:r>
                      <a:r>
                        <a:rPr kumimoji="0" lang="pt-PT" sz="1400" b="0" i="0" u="none" strike="noStrike" kern="0" cap="none" spc="0" normalizeH="0" baseline="0" noProof="0" dirty="0" err="1">
                          <a:ln>
                            <a:noFill/>
                          </a:ln>
                          <a:solidFill>
                            <a:prstClr val="black"/>
                          </a:solidFill>
                          <a:effectLst/>
                          <a:uLnTx/>
                          <a:uFillTx/>
                          <a:latin typeface="Arial"/>
                          <a:ea typeface="+mn-ea"/>
                          <a:cs typeface="+mn-cs"/>
                          <a:sym typeface="Arial"/>
                        </a:rPr>
                        <a:t>assigned</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pt-PT" dirty="0"/>
                        <a:t>USBD17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Not </a:t>
                      </a:r>
                      <a:r>
                        <a:rPr kumimoji="0" lang="pt-PT" sz="1400" b="0" i="0" u="none" strike="noStrike" kern="0" cap="none" spc="0" normalizeH="0" baseline="0" noProof="0" dirty="0" err="1">
                          <a:ln>
                            <a:noFill/>
                          </a:ln>
                          <a:solidFill>
                            <a:prstClr val="black"/>
                          </a:solidFill>
                          <a:effectLst/>
                          <a:uLnTx/>
                          <a:uFillTx/>
                          <a:latin typeface="Arial"/>
                          <a:ea typeface="+mn-ea"/>
                          <a:cs typeface="+mn-cs"/>
                          <a:sym typeface="Arial"/>
                        </a:rPr>
                        <a:t>assigned</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r>
                        <a:rPr lang="pt-PT" dirty="0"/>
                        <a:t>USBD18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Not assigned</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r>
                        <a:rPr lang="pt-PT" dirty="0"/>
                        <a:t>USBD19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Not </a:t>
                      </a:r>
                      <a:r>
                        <a:rPr kumimoji="0" lang="pt-PT" sz="1400" b="0" i="0" u="none" strike="noStrike" kern="0" cap="none" spc="0" normalizeH="0" baseline="0" noProof="0" dirty="0" err="1">
                          <a:ln>
                            <a:noFill/>
                          </a:ln>
                          <a:solidFill>
                            <a:prstClr val="black"/>
                          </a:solidFill>
                          <a:effectLst/>
                          <a:uLnTx/>
                          <a:uFillTx/>
                          <a:latin typeface="Arial"/>
                          <a:ea typeface="+mn-ea"/>
                          <a:cs typeface="+mn-cs"/>
                          <a:sym typeface="Arial"/>
                        </a:rPr>
                        <a:t>assigned</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dirty="0"/>
                        <a:t>USBD20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r h="370838">
                <a:tc>
                  <a:txBody>
                    <a:bodyPr/>
                    <a:lstStyle/>
                    <a:p>
                      <a:pPr lvl="0">
                        <a:buNone/>
                      </a:pPr>
                      <a:r>
                        <a:rPr lang="pt-PT" dirty="0"/>
                        <a:t>USLP01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989459"/>
                  </a:ext>
                </a:extLst>
              </a:tr>
              <a:tr h="370838">
                <a:tc>
                  <a:txBody>
                    <a:bodyPr/>
                    <a:lstStyle/>
                    <a:p>
                      <a:pPr lvl="0">
                        <a:buNone/>
                      </a:pPr>
                      <a:r>
                        <a:rPr lang="pt-PT" dirty="0"/>
                        <a:t>USLP02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09061"/>
                  </a:ext>
                </a:extLst>
              </a:tr>
              <a:tr h="370838">
                <a:tc>
                  <a:txBody>
                    <a:bodyPr/>
                    <a:lstStyle/>
                    <a:p>
                      <a:pPr lvl="0">
                        <a:buNone/>
                      </a:pPr>
                      <a:r>
                        <a:rPr lang="pt-PT" dirty="0"/>
                        <a:t>USLP03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2301020"/>
                  </a:ext>
                </a:extLst>
              </a:tr>
            </a:tbl>
          </a:graphicData>
        </a:graphic>
      </p:graphicFrame>
    </p:spTree>
    <p:extLst>
      <p:ext uri="{BB962C8B-B14F-4D97-AF65-F5344CB8AC3E}">
        <p14:creationId xmlns:p14="http://schemas.microsoft.com/office/powerpoint/2010/main" val="2202810961"/>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D09C92-6533-459B-B793-05CE76CDCCC0}"/>
              </a:ext>
            </a:extLst>
          </p:cNvPr>
          <p:cNvSpPr>
            <a:spLocks noGrp="1"/>
          </p:cNvSpPr>
          <p:nvPr>
            <p:ph type="title"/>
          </p:nvPr>
        </p:nvSpPr>
        <p:spPr/>
        <p:txBody>
          <a:bodyPr/>
          <a:lstStyle/>
          <a:p>
            <a:r>
              <a:rPr lang="pt-PT" sz="3200" cap="none" dirty="0" err="1">
                <a:solidFill>
                  <a:schemeClr val="tx1"/>
                </a:solidFill>
              </a:rPr>
              <a:t>Work</a:t>
            </a:r>
            <a:r>
              <a:rPr lang="pt-PT" sz="3200" cap="none" dirty="0">
                <a:solidFill>
                  <a:schemeClr val="tx1"/>
                </a:solidFill>
              </a:rPr>
              <a:t> </a:t>
            </a:r>
            <a:r>
              <a:rPr lang="pt-PT" sz="3200" cap="none" dirty="0" err="1">
                <a:solidFill>
                  <a:schemeClr val="tx1"/>
                </a:solidFill>
              </a:rPr>
              <a:t>assigned</a:t>
            </a:r>
            <a:r>
              <a:rPr lang="pt-PT" sz="3200" cap="none" dirty="0">
                <a:solidFill>
                  <a:schemeClr val="tx1"/>
                </a:solidFill>
              </a:rPr>
              <a:t> </a:t>
            </a:r>
            <a:r>
              <a:rPr lang="pt-PT" sz="3200" cap="none" dirty="0" err="1">
                <a:solidFill>
                  <a:schemeClr val="tx1"/>
                </a:solidFill>
              </a:rPr>
              <a:t>by</a:t>
            </a:r>
            <a:r>
              <a:rPr lang="pt-PT" sz="3200" cap="none" dirty="0">
                <a:solidFill>
                  <a:schemeClr val="tx1"/>
                </a:solidFill>
              </a:rPr>
              <a:t> team </a:t>
            </a:r>
            <a:r>
              <a:rPr lang="pt-PT" sz="3200" cap="none" dirty="0" err="1">
                <a:solidFill>
                  <a:schemeClr val="tx1"/>
                </a:solidFill>
              </a:rPr>
              <a:t>member</a:t>
            </a:r>
            <a:endParaRPr lang="pt-PT" sz="3200" cap="none" dirty="0">
              <a:solidFill>
                <a:schemeClr val="tx1"/>
              </a:solidFill>
            </a:endParaRPr>
          </a:p>
        </p:txBody>
      </p:sp>
      <p:graphicFrame>
        <p:nvGraphicFramePr>
          <p:cNvPr id="6" name="Gráfico 5">
            <a:extLst>
              <a:ext uri="{FF2B5EF4-FFF2-40B4-BE49-F238E27FC236}">
                <a16:creationId xmlns:a16="http://schemas.microsoft.com/office/drawing/2014/main" id="{CC0ADD5B-A00D-489E-9390-B75485840C80}"/>
              </a:ext>
            </a:extLst>
          </p:cNvPr>
          <p:cNvGraphicFramePr/>
          <p:nvPr>
            <p:extLst>
              <p:ext uri="{D42A27DB-BD31-4B8C-83A1-F6EECF244321}">
                <p14:modId xmlns:p14="http://schemas.microsoft.com/office/powerpoint/2010/main" val="1419939972"/>
              </p:ext>
            </p:extLst>
          </p:nvPr>
        </p:nvGraphicFramePr>
        <p:xfrm>
          <a:off x="1622630" y="1673805"/>
          <a:ext cx="6604000" cy="4402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42576471"/>
      </p:ext>
    </p:extLst>
  </p:cSld>
  <p:clrMapOvr>
    <a:masterClrMapping/>
  </p:clrMapOvr>
  <p:transition spd="med">
    <p:fade/>
  </p:transition>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D09C92-6533-459B-B793-05CE76CDCCC0}"/>
              </a:ext>
            </a:extLst>
          </p:cNvPr>
          <p:cNvSpPr>
            <a:spLocks noGrp="1"/>
          </p:cNvSpPr>
          <p:nvPr>
            <p:ph type="title"/>
          </p:nvPr>
        </p:nvSpPr>
        <p:spPr/>
        <p:txBody>
          <a:bodyPr/>
          <a:lstStyle/>
          <a:p>
            <a:r>
              <a:rPr lang="pt-PT" sz="3200" cap="none" dirty="0">
                <a:solidFill>
                  <a:schemeClr val="tx1"/>
                </a:solidFill>
              </a:rPr>
              <a:t> </a:t>
            </a:r>
            <a:r>
              <a:rPr lang="pt-PT" sz="3200" cap="none" dirty="0" err="1">
                <a:solidFill>
                  <a:schemeClr val="tx1"/>
                </a:solidFill>
              </a:rPr>
              <a:t>Work</a:t>
            </a:r>
            <a:r>
              <a:rPr lang="pt-PT" sz="3200" cap="none" dirty="0">
                <a:solidFill>
                  <a:schemeClr val="tx1"/>
                </a:solidFill>
              </a:rPr>
              <a:t> </a:t>
            </a:r>
            <a:r>
              <a:rPr lang="pt-PT" sz="3200" cap="none" dirty="0" err="1">
                <a:solidFill>
                  <a:schemeClr val="tx1"/>
                </a:solidFill>
              </a:rPr>
              <a:t>assigned</a:t>
            </a:r>
            <a:r>
              <a:rPr lang="pt-PT" sz="3200" cap="none" dirty="0">
                <a:solidFill>
                  <a:schemeClr val="tx1"/>
                </a:solidFill>
              </a:rPr>
              <a:t> </a:t>
            </a:r>
            <a:r>
              <a:rPr lang="pt-PT" sz="3200" cap="none" dirty="0" err="1">
                <a:solidFill>
                  <a:schemeClr val="tx1"/>
                </a:solidFill>
              </a:rPr>
              <a:t>by</a:t>
            </a:r>
            <a:r>
              <a:rPr lang="pt-PT" sz="3200" cap="none" dirty="0">
                <a:solidFill>
                  <a:schemeClr val="tx1"/>
                </a:solidFill>
              </a:rPr>
              <a:t> </a:t>
            </a:r>
            <a:r>
              <a:rPr lang="pt-PT" sz="3200" cap="none" dirty="0" err="1">
                <a:solidFill>
                  <a:schemeClr val="tx1"/>
                </a:solidFill>
              </a:rPr>
              <a:t>type</a:t>
            </a:r>
            <a:r>
              <a:rPr lang="pt-PT" sz="3200" cap="none" dirty="0">
                <a:solidFill>
                  <a:schemeClr val="tx1"/>
                </a:solidFill>
              </a:rPr>
              <a:t> (componente)</a:t>
            </a:r>
          </a:p>
        </p:txBody>
      </p:sp>
      <p:graphicFrame>
        <p:nvGraphicFramePr>
          <p:cNvPr id="5" name="Gráfico 4">
            <a:extLst>
              <a:ext uri="{FF2B5EF4-FFF2-40B4-BE49-F238E27FC236}">
                <a16:creationId xmlns:a16="http://schemas.microsoft.com/office/drawing/2014/main" id="{90ED7699-5188-411A-AA61-860BAD3DF6D1}"/>
              </a:ext>
            </a:extLst>
          </p:cNvPr>
          <p:cNvGraphicFramePr/>
          <p:nvPr>
            <p:extLst>
              <p:ext uri="{D42A27DB-BD31-4B8C-83A1-F6EECF244321}">
                <p14:modId xmlns:p14="http://schemas.microsoft.com/office/powerpoint/2010/main" val="2177623263"/>
              </p:ext>
            </p:extLst>
          </p:nvPr>
        </p:nvGraphicFramePr>
        <p:xfrm>
          <a:off x="1487615" y="1898830"/>
          <a:ext cx="6604000" cy="4402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06292261"/>
      </p:ext>
    </p:extLst>
  </p:cSld>
  <p:clrMapOvr>
    <a:masterClrMapping/>
  </p:clrMapOvr>
  <p:transition spd="med">
    <p:fade/>
  </p:transition>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DB96577C-34ED-48A2-A7FD-C6822D87959C}"/>
              </a:ext>
            </a:extLst>
          </p:cNvPr>
          <p:cNvSpPr>
            <a:spLocks noGrp="1"/>
          </p:cNvSpPr>
          <p:nvPr>
            <p:ph type="title"/>
          </p:nvPr>
        </p:nvSpPr>
        <p:spPr/>
        <p:txBody>
          <a:bodyPr/>
          <a:lstStyle/>
          <a:p>
            <a:r>
              <a:rPr lang="en-US" sz="3200" cap="none" dirty="0">
                <a:solidFill>
                  <a:schemeClr val="tx1"/>
                </a:solidFill>
              </a:rPr>
              <a:t>Issues / Assumptions / unanswered questions</a:t>
            </a:r>
            <a:endParaRPr lang="en-US" sz="3200" cap="none" dirty="0"/>
          </a:p>
        </p:txBody>
      </p:sp>
      <p:graphicFrame>
        <p:nvGraphicFramePr>
          <p:cNvPr id="3" name="Tabela 2">
            <a:extLst>
              <a:ext uri="{FF2B5EF4-FFF2-40B4-BE49-F238E27FC236}">
                <a16:creationId xmlns:a16="http://schemas.microsoft.com/office/drawing/2014/main" id="{2765780B-B941-BB03-F491-AFEFC4822F45}"/>
              </a:ext>
            </a:extLst>
          </p:cNvPr>
          <p:cNvGraphicFramePr>
            <a:graphicFrameLocks noGrp="1"/>
          </p:cNvGraphicFramePr>
          <p:nvPr>
            <p:extLst>
              <p:ext uri="{D42A27DB-BD31-4B8C-83A1-F6EECF244321}">
                <p14:modId xmlns:p14="http://schemas.microsoft.com/office/powerpoint/2010/main" val="2307361595"/>
              </p:ext>
            </p:extLst>
          </p:nvPr>
        </p:nvGraphicFramePr>
        <p:xfrm>
          <a:off x="414000" y="1673805"/>
          <a:ext cx="9129510" cy="4399015"/>
        </p:xfrm>
        <a:graphic>
          <a:graphicData uri="http://schemas.openxmlformats.org/drawingml/2006/table">
            <a:tbl>
              <a:tblPr firstRow="1" bandRow="1">
                <a:tableStyleId>{912C8C85-51F0-491E-9774-3900AFEF0FD7}</a:tableStyleId>
              </a:tblPr>
              <a:tblGrid>
                <a:gridCol w="3908930">
                  <a:extLst>
                    <a:ext uri="{9D8B030D-6E8A-4147-A177-3AD203B41FA5}">
                      <a16:colId xmlns:a16="http://schemas.microsoft.com/office/drawing/2014/main" val="3798560086"/>
                    </a:ext>
                  </a:extLst>
                </a:gridCol>
                <a:gridCol w="1800200">
                  <a:extLst>
                    <a:ext uri="{9D8B030D-6E8A-4147-A177-3AD203B41FA5}">
                      <a16:colId xmlns:a16="http://schemas.microsoft.com/office/drawing/2014/main" val="477562216"/>
                    </a:ext>
                  </a:extLst>
                </a:gridCol>
                <a:gridCol w="1530170">
                  <a:extLst>
                    <a:ext uri="{9D8B030D-6E8A-4147-A177-3AD203B41FA5}">
                      <a16:colId xmlns:a16="http://schemas.microsoft.com/office/drawing/2014/main" val="1777303491"/>
                    </a:ext>
                  </a:extLst>
                </a:gridCol>
                <a:gridCol w="1890210">
                  <a:extLst>
                    <a:ext uri="{9D8B030D-6E8A-4147-A177-3AD203B41FA5}">
                      <a16:colId xmlns:a16="http://schemas.microsoft.com/office/drawing/2014/main" val="2634392098"/>
                    </a:ext>
                  </a:extLst>
                </a:gridCol>
              </a:tblGrid>
              <a:tr h="630070">
                <a:tc>
                  <a:txBody>
                    <a:bodyPr/>
                    <a:lstStyle/>
                    <a:p>
                      <a:r>
                        <a:rPr lang="en-US" sz="1200" noProof="0" dirty="0"/>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Responsible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Date / sprint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Related issue / </a:t>
                      </a:r>
                    </a:p>
                    <a:p>
                      <a:pPr algn="ctr"/>
                      <a:r>
                        <a:rPr lang="en-US" noProof="0" dirty="0"/>
                        <a:t>item in Git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934305">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endParaRPr lang="pt-PT" dirty="0"/>
                    </a:p>
                    <a:p>
                      <a:endParaRPr lang="pt-PT" dirty="0"/>
                    </a:p>
                    <a:p>
                      <a:endParaRPr lang="pt-PT" dirty="0"/>
                    </a:p>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endParaRPr lang="pt-PT" dirty="0"/>
                    </a:p>
                    <a:p>
                      <a:pPr lvl="0">
                        <a:buNone/>
                      </a:pPr>
                      <a:endParaRPr lang="pt-PT" dirty="0"/>
                    </a:p>
                    <a:p>
                      <a:pPr lvl="0">
                        <a:buNone/>
                      </a:pPr>
                      <a:endParaRPr lang="pt-PT" dirty="0"/>
                    </a:p>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endParaRPr lang="pt-PT" dirty="0"/>
                    </a:p>
                    <a:p>
                      <a:pPr lvl="0">
                        <a:buNone/>
                      </a:pPr>
                      <a:endParaRPr lang="pt-PT" dirty="0"/>
                    </a:p>
                    <a:p>
                      <a:pPr lvl="0">
                        <a:buNone/>
                      </a:pPr>
                      <a:endParaRPr lang="pt-PT" dirty="0"/>
                    </a:p>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bl>
          </a:graphicData>
        </a:graphic>
      </p:graphicFrame>
    </p:spTree>
    <p:extLst>
      <p:ext uri="{BB962C8B-B14F-4D97-AF65-F5344CB8AC3E}">
        <p14:creationId xmlns:p14="http://schemas.microsoft.com/office/powerpoint/2010/main" val="3745336153"/>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329E7-3FFD-D203-2288-6373118FC011}"/>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94485DCF-CD7D-9487-0175-274A08E056DE}"/>
              </a:ext>
            </a:extLst>
          </p:cNvPr>
          <p:cNvSpPr>
            <a:spLocks noGrp="1"/>
          </p:cNvSpPr>
          <p:nvPr>
            <p:ph type="title"/>
          </p:nvPr>
        </p:nvSpPr>
        <p:spPr/>
        <p:txBody>
          <a:bodyPr/>
          <a:lstStyle/>
          <a:p>
            <a:r>
              <a:rPr lang="en-US" sz="3200" cap="none" dirty="0">
                <a:solidFill>
                  <a:schemeClr val="tx1"/>
                </a:solidFill>
              </a:rPr>
              <a:t>Daily Meetings</a:t>
            </a:r>
            <a:endParaRPr lang="en-US" sz="3200" cap="none" dirty="0"/>
          </a:p>
        </p:txBody>
      </p:sp>
      <p:sp>
        <p:nvSpPr>
          <p:cNvPr id="2" name="Título 4">
            <a:extLst>
              <a:ext uri="{FF2B5EF4-FFF2-40B4-BE49-F238E27FC236}">
                <a16:creationId xmlns:a16="http://schemas.microsoft.com/office/drawing/2014/main" id="{6298545B-B353-4200-A812-3BB5E336033D}"/>
              </a:ext>
            </a:extLst>
          </p:cNvPr>
          <p:cNvSpPr txBox="1">
            <a:spLocks/>
          </p:cNvSpPr>
          <p:nvPr/>
        </p:nvSpPr>
        <p:spPr>
          <a:xfrm>
            <a:off x="431400" y="1571611"/>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lang="en-US" sz="2000" b="0" kern="0" dirty="0">
              <a:solidFill>
                <a:schemeClr val="tx1"/>
              </a:solidFill>
            </a:endParaRPr>
          </a:p>
        </p:txBody>
      </p:sp>
      <p:graphicFrame>
        <p:nvGraphicFramePr>
          <p:cNvPr id="3" name="Tabela 2">
            <a:extLst>
              <a:ext uri="{FF2B5EF4-FFF2-40B4-BE49-F238E27FC236}">
                <a16:creationId xmlns:a16="http://schemas.microsoft.com/office/drawing/2014/main" id="{9A760796-9F6B-C0FD-165B-0762CD07EBDE}"/>
              </a:ext>
            </a:extLst>
          </p:cNvPr>
          <p:cNvGraphicFramePr>
            <a:graphicFrameLocks noGrp="1"/>
          </p:cNvGraphicFramePr>
          <p:nvPr>
            <p:extLst>
              <p:ext uri="{D42A27DB-BD31-4B8C-83A1-F6EECF244321}">
                <p14:modId xmlns:p14="http://schemas.microsoft.com/office/powerpoint/2010/main" val="81755390"/>
              </p:ext>
            </p:extLst>
          </p:nvPr>
        </p:nvGraphicFramePr>
        <p:xfrm>
          <a:off x="414000" y="1673805"/>
          <a:ext cx="9129510" cy="3239024"/>
        </p:xfrm>
        <a:graphic>
          <a:graphicData uri="http://schemas.openxmlformats.org/drawingml/2006/table">
            <a:tbl>
              <a:tblPr firstRow="1" bandRow="1">
                <a:tableStyleId>{912C8C85-51F0-491E-9774-3900AFEF0FD7}</a:tableStyleId>
              </a:tblPr>
              <a:tblGrid>
                <a:gridCol w="1703685">
                  <a:extLst>
                    <a:ext uri="{9D8B030D-6E8A-4147-A177-3AD203B41FA5}">
                      <a16:colId xmlns:a16="http://schemas.microsoft.com/office/drawing/2014/main" val="3798560086"/>
                    </a:ext>
                  </a:extLst>
                </a:gridCol>
                <a:gridCol w="1575175">
                  <a:extLst>
                    <a:ext uri="{9D8B030D-6E8A-4147-A177-3AD203B41FA5}">
                      <a16:colId xmlns:a16="http://schemas.microsoft.com/office/drawing/2014/main" val="477562216"/>
                    </a:ext>
                  </a:extLst>
                </a:gridCol>
                <a:gridCol w="1080120">
                  <a:extLst>
                    <a:ext uri="{9D8B030D-6E8A-4147-A177-3AD203B41FA5}">
                      <a16:colId xmlns:a16="http://schemas.microsoft.com/office/drawing/2014/main" val="1777303491"/>
                    </a:ext>
                  </a:extLst>
                </a:gridCol>
                <a:gridCol w="1215135">
                  <a:extLst>
                    <a:ext uri="{9D8B030D-6E8A-4147-A177-3AD203B41FA5}">
                      <a16:colId xmlns:a16="http://schemas.microsoft.com/office/drawing/2014/main" val="4055970072"/>
                    </a:ext>
                  </a:extLst>
                </a:gridCol>
                <a:gridCol w="1170130">
                  <a:extLst>
                    <a:ext uri="{9D8B030D-6E8A-4147-A177-3AD203B41FA5}">
                      <a16:colId xmlns:a16="http://schemas.microsoft.com/office/drawing/2014/main" val="2634392098"/>
                    </a:ext>
                  </a:extLst>
                </a:gridCol>
                <a:gridCol w="1215135">
                  <a:extLst>
                    <a:ext uri="{9D8B030D-6E8A-4147-A177-3AD203B41FA5}">
                      <a16:colId xmlns:a16="http://schemas.microsoft.com/office/drawing/2014/main" val="3954452917"/>
                    </a:ext>
                  </a:extLst>
                </a:gridCol>
                <a:gridCol w="1170130">
                  <a:extLst>
                    <a:ext uri="{9D8B030D-6E8A-4147-A177-3AD203B41FA5}">
                      <a16:colId xmlns:a16="http://schemas.microsoft.com/office/drawing/2014/main" val="1328943202"/>
                    </a:ext>
                  </a:extLst>
                </a:gridCol>
              </a:tblGrid>
              <a:tr h="617464">
                <a:tc>
                  <a:txBody>
                    <a:bodyPr/>
                    <a:lstStyle/>
                    <a:p>
                      <a:r>
                        <a:rPr lang="en-US" sz="1200" noProof="0" dirty="0"/>
                        <a:t>Date (of the meeting)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Place / duration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Bruno Silva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Carlos Almeida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Francisca Paulos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João Pereira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Miguel Pinto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441046">
                <a:tc>
                  <a:txBody>
                    <a:bodyPr/>
                    <a:lstStyle/>
                    <a:p>
                      <a:r>
                        <a:rPr lang="pt-PT" dirty="0"/>
                        <a:t>04/10/2025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634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07/10/2025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634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10/10/2025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1192882"/>
                  </a:ext>
                </a:extLst>
              </a:tr>
              <a:tr h="3634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14/10/2025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7473310"/>
                  </a:ext>
                </a:extLst>
              </a:tr>
              <a:tr h="3634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17/10/2025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7756997"/>
                  </a:ext>
                </a:extLst>
              </a:tr>
              <a:tr h="3634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dirty="0"/>
                        <a:t>21/10/2025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4198396"/>
                  </a:ext>
                </a:extLst>
              </a:tr>
              <a:tr h="3634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dirty="0"/>
                        <a:t>25/10/2025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Discord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a:ln>
                            <a:noFill/>
                          </a:ln>
                          <a:solidFill>
                            <a:prstClr val="black"/>
                          </a:solidFill>
                          <a:effectLst/>
                          <a:uLnTx/>
                          <a:uFillTx/>
                          <a:latin typeface="Arial"/>
                          <a:ea typeface="+mn-ea"/>
                          <a:cs typeface="+mn-cs"/>
                          <a:sym typeface="Arial"/>
                        </a:rPr>
                        <a:t>x</a:t>
                      </a:r>
                      <a:endParaRPr kumimoji="0" lang="pt-PT" sz="1400" b="0" i="0" u="none" strike="noStrike" kern="0" cap="none" spc="0" normalizeH="0" baseline="0" noProof="0" dirty="0">
                        <a:ln>
                          <a:noFill/>
                        </a:ln>
                        <a:solidFill>
                          <a:prstClr val="black"/>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400" b="0" i="0" u="none" strike="noStrike" kern="0" cap="none" spc="0" normalizeH="0" baseline="0" noProof="0" dirty="0">
                          <a:ln>
                            <a:noFill/>
                          </a:ln>
                          <a:solidFill>
                            <a:prstClr val="black"/>
                          </a:solidFill>
                          <a:effectLst/>
                          <a:uLnTx/>
                          <a:uFillTx/>
                          <a:latin typeface="Arial"/>
                          <a:ea typeface="+mn-ea"/>
                          <a:cs typeface="+mn-cs"/>
                          <a:sym typeface="Aria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2213997"/>
                  </a:ext>
                </a:extLst>
              </a:tr>
            </a:tbl>
          </a:graphicData>
        </a:graphic>
      </p:graphicFrame>
    </p:spTree>
    <p:extLst>
      <p:ext uri="{BB962C8B-B14F-4D97-AF65-F5344CB8AC3E}">
        <p14:creationId xmlns:p14="http://schemas.microsoft.com/office/powerpoint/2010/main" val="1272851376"/>
      </p:ext>
    </p:extLst>
  </p:cSld>
  <p:clrMapOvr>
    <a:masterClrMapping/>
  </p:clrMapOvr>
  <p:transition spd="med">
    <p:fade/>
  </p:transition>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CB12B-83CD-A79C-40AB-A4F8FFB78E66}"/>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072D3FC9-4165-9BE5-544E-277A081AC66F}"/>
              </a:ext>
            </a:extLst>
          </p:cNvPr>
          <p:cNvSpPr>
            <a:spLocks noGrp="1"/>
          </p:cNvSpPr>
          <p:nvPr>
            <p:ph type="title"/>
          </p:nvPr>
        </p:nvSpPr>
        <p:spPr/>
        <p:txBody>
          <a:bodyPr/>
          <a:lstStyle/>
          <a:p>
            <a:r>
              <a:rPr lang="en-US" sz="3200" dirty="0">
                <a:solidFill>
                  <a:schemeClr val="tx1"/>
                </a:solidFill>
              </a:rPr>
              <a:t>LLM</a:t>
            </a:r>
            <a:r>
              <a:rPr lang="en-US" sz="3200" cap="none" dirty="0">
                <a:solidFill>
                  <a:schemeClr val="tx1"/>
                </a:solidFill>
              </a:rPr>
              <a:t> performance assessment </a:t>
            </a:r>
            <a:r>
              <a:rPr lang="en-US" sz="2800" cap="none" dirty="0">
                <a:solidFill>
                  <a:schemeClr val="tx1"/>
                </a:solidFill>
              </a:rPr>
              <a:t>(use ChatGPT or Copilot)</a:t>
            </a:r>
            <a:endParaRPr lang="en-US" sz="3200" cap="none" dirty="0"/>
          </a:p>
        </p:txBody>
      </p:sp>
      <p:sp>
        <p:nvSpPr>
          <p:cNvPr id="2" name="Título 4">
            <a:extLst>
              <a:ext uri="{FF2B5EF4-FFF2-40B4-BE49-F238E27FC236}">
                <a16:creationId xmlns:a16="http://schemas.microsoft.com/office/drawing/2014/main" id="{7856DF50-9E5E-4610-FEB2-C4A38022FCFD}"/>
              </a:ext>
            </a:extLst>
          </p:cNvPr>
          <p:cNvSpPr txBox="1">
            <a:spLocks/>
          </p:cNvSpPr>
          <p:nvPr/>
        </p:nvSpPr>
        <p:spPr>
          <a:xfrm>
            <a:off x="448800" y="1590337"/>
            <a:ext cx="9043200" cy="4763988"/>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2000" kern="0" dirty="0">
                <a:solidFill>
                  <a:schemeClr val="tx1"/>
                </a:solidFill>
              </a:rPr>
              <a:t>Source file (attach the file you have used): </a:t>
            </a:r>
          </a:p>
          <a:p>
            <a:r>
              <a:rPr lang="en-US" sz="2000" b="0" kern="0" dirty="0">
                <a:solidFill>
                  <a:schemeClr val="tx1"/>
                </a:solidFill>
              </a:rPr>
              <a:t>This very own file</a:t>
            </a:r>
          </a:p>
          <a:p>
            <a:endParaRPr lang="en-US" sz="2000" b="0" kern="0" dirty="0">
              <a:solidFill>
                <a:schemeClr val="tx1"/>
              </a:solidFill>
            </a:endParaRPr>
          </a:p>
          <a:p>
            <a:r>
              <a:rPr lang="en-US" sz="2000" kern="0" dirty="0">
                <a:solidFill>
                  <a:schemeClr val="tx1"/>
                </a:solidFill>
              </a:rPr>
              <a:t>Input (write down the prompt you used to ask for the performance assessment) :</a:t>
            </a:r>
          </a:p>
          <a:p>
            <a:pPr algn="just"/>
            <a:r>
              <a:rPr lang="en-US" sz="2000" b="0" kern="0" dirty="0">
                <a:solidFill>
                  <a:schemeClr val="tx1"/>
                </a:solidFill>
              </a:rPr>
              <a:t>“So, I have this PowerPoint that represents the 1st sprint retrospective for my collage integration project (integrates all classes at the same time). And in slide 10, the teacher asks us to send this to you and request your analysis from our performance based in the retrospective, so, go ahead, read it and give me your analysis.”</a:t>
            </a:r>
          </a:p>
        </p:txBody>
      </p:sp>
    </p:spTree>
    <p:extLst>
      <p:ext uri="{BB962C8B-B14F-4D97-AF65-F5344CB8AC3E}">
        <p14:creationId xmlns:p14="http://schemas.microsoft.com/office/powerpoint/2010/main" val="413634187"/>
      </p:ext>
    </p:extLst>
  </p:cSld>
  <p:clrMapOvr>
    <a:masterClrMapping/>
  </p:clrMapOvr>
  <p:transition spd="med">
    <p:fade/>
  </p:transition>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4E430-2642-81CC-FC5F-10469D7682E5}"/>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07C477A9-425C-670A-9E07-3A102D29181D}"/>
              </a:ext>
            </a:extLst>
          </p:cNvPr>
          <p:cNvSpPr>
            <a:spLocks noGrp="1"/>
          </p:cNvSpPr>
          <p:nvPr>
            <p:ph type="title"/>
          </p:nvPr>
        </p:nvSpPr>
        <p:spPr/>
        <p:txBody>
          <a:bodyPr/>
          <a:lstStyle/>
          <a:p>
            <a:r>
              <a:rPr lang="en-US" sz="3200" cap="none" dirty="0">
                <a:solidFill>
                  <a:schemeClr val="tx1"/>
                </a:solidFill>
              </a:rPr>
              <a:t>LLM performance assessment - Output</a:t>
            </a:r>
            <a:endParaRPr lang="en-US" sz="3200" cap="none" dirty="0"/>
          </a:p>
        </p:txBody>
      </p:sp>
      <p:sp>
        <p:nvSpPr>
          <p:cNvPr id="2" name="Título 4">
            <a:extLst>
              <a:ext uri="{FF2B5EF4-FFF2-40B4-BE49-F238E27FC236}">
                <a16:creationId xmlns:a16="http://schemas.microsoft.com/office/drawing/2014/main" id="{5B8695FE-2C17-FCC1-CCC4-8717D8F253C2}"/>
              </a:ext>
            </a:extLst>
          </p:cNvPr>
          <p:cNvSpPr txBox="1">
            <a:spLocks/>
          </p:cNvSpPr>
          <p:nvPr/>
        </p:nvSpPr>
        <p:spPr>
          <a:xfrm>
            <a:off x="448800" y="1590337"/>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lang="en-US" sz="2000" b="0" kern="0" dirty="0">
              <a:solidFill>
                <a:schemeClr val="tx1"/>
              </a:solidFill>
            </a:endParaRPr>
          </a:p>
        </p:txBody>
      </p:sp>
      <p:sp>
        <p:nvSpPr>
          <p:cNvPr id="3" name="Título 4">
            <a:extLst>
              <a:ext uri="{FF2B5EF4-FFF2-40B4-BE49-F238E27FC236}">
                <a16:creationId xmlns:a16="http://schemas.microsoft.com/office/drawing/2014/main" id="{41914A20-7452-6770-365F-62A72A9E05A5}"/>
              </a:ext>
            </a:extLst>
          </p:cNvPr>
          <p:cNvSpPr txBox="1">
            <a:spLocks/>
          </p:cNvSpPr>
          <p:nvPr/>
        </p:nvSpPr>
        <p:spPr>
          <a:xfrm>
            <a:off x="414000" y="1718810"/>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2000" kern="0" dirty="0">
                <a:solidFill>
                  <a:schemeClr val="tx1"/>
                </a:solidFill>
              </a:rPr>
              <a:t>Output file </a:t>
            </a:r>
            <a:r>
              <a:rPr lang="en-US" sz="2000" b="0" kern="0" dirty="0">
                <a:solidFill>
                  <a:schemeClr val="tx1"/>
                </a:solidFill>
              </a:rPr>
              <a:t>(attach the complete file extracted from the A.I. tool): </a:t>
            </a:r>
          </a:p>
          <a:p>
            <a:r>
              <a:rPr lang="en-US" sz="2000" b="0" kern="0" dirty="0">
                <a:solidFill>
                  <a:schemeClr val="tx1"/>
                </a:solidFill>
              </a:rPr>
              <a:t>None</a:t>
            </a:r>
          </a:p>
          <a:p>
            <a:endParaRPr lang="en-US" sz="2000" b="0" kern="0" dirty="0">
              <a:solidFill>
                <a:schemeClr val="tx1"/>
              </a:solidFill>
            </a:endParaRPr>
          </a:p>
          <a:p>
            <a:r>
              <a:rPr lang="en-US" sz="2000" kern="0" dirty="0">
                <a:solidFill>
                  <a:schemeClr val="tx1"/>
                </a:solidFill>
              </a:rPr>
              <a:t>Output</a:t>
            </a:r>
            <a:r>
              <a:rPr lang="en-US" sz="2000" b="0" kern="0" dirty="0">
                <a:solidFill>
                  <a:schemeClr val="tx1"/>
                </a:solidFill>
              </a:rPr>
              <a:t> (write one line per team member): </a:t>
            </a:r>
          </a:p>
          <a:p>
            <a:pPr algn="just"/>
            <a:r>
              <a:rPr lang="en-US" sz="2000" b="0" kern="0" dirty="0">
                <a:solidFill>
                  <a:schemeClr val="tx1"/>
                </a:solidFill>
              </a:rPr>
              <a:t>Your team (G075) demonstrated a highly effective and successful Sprint 1. The quantitative data indicates perfect execution on committed tasks, supported by strong qualitative feedback in the team's retrospective. The team's self-assessment grades of 4.5/5 for performance and 4.0/5 for results appear well-justified. The primary success was in execution and collaboration, with a minor, well-defined area for future improvement. </a:t>
            </a:r>
          </a:p>
          <a:p>
            <a:pPr algn="just"/>
            <a:r>
              <a:rPr lang="en-US" sz="2000" b="0" kern="0" dirty="0">
                <a:solidFill>
                  <a:schemeClr val="tx1"/>
                </a:solidFill>
              </a:rPr>
              <a:t>In summary, your team should be very confident in its performance. You have established a strong foundation of accountability and communication. By focusing on creating actionable improvements from your retrospective findings—specifically around ensuring user stories are fully understood before work begins—your team is in an excellent position for continued success</a:t>
            </a:r>
          </a:p>
          <a:p>
            <a:endParaRPr lang="en-US" sz="2000" b="0" kern="0" dirty="0">
              <a:solidFill>
                <a:schemeClr val="tx1"/>
              </a:solidFill>
            </a:endParaRPr>
          </a:p>
          <a:p>
            <a:endParaRPr lang="en-US" sz="2000" b="0" kern="0" dirty="0">
              <a:solidFill>
                <a:schemeClr val="tx1"/>
              </a:solidFill>
            </a:endParaRPr>
          </a:p>
          <a:p>
            <a:endParaRPr lang="en-US" sz="2000" b="0" kern="0" dirty="0">
              <a:solidFill>
                <a:schemeClr val="tx1"/>
              </a:solidFill>
            </a:endParaRPr>
          </a:p>
        </p:txBody>
      </p:sp>
    </p:spTree>
    <p:extLst>
      <p:ext uri="{BB962C8B-B14F-4D97-AF65-F5344CB8AC3E}">
        <p14:creationId xmlns:p14="http://schemas.microsoft.com/office/powerpoint/2010/main" val="844410042"/>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DB97A2-76A8-5F40-B14B-5DCB738360DE}"/>
              </a:ext>
            </a:extLst>
          </p:cNvPr>
          <p:cNvSpPr>
            <a:spLocks noGrp="1"/>
          </p:cNvSpPr>
          <p:nvPr>
            <p:ph type="title"/>
          </p:nvPr>
        </p:nvSpPr>
        <p:spPr/>
        <p:txBody>
          <a:bodyPr/>
          <a:lstStyle/>
          <a:p>
            <a:r>
              <a:rPr lang="en-US" dirty="0">
                <a:solidFill>
                  <a:schemeClr val="tx1"/>
                </a:solidFill>
              </a:rPr>
              <a:t>LLM performance assessment - Output</a:t>
            </a:r>
            <a:endParaRPr lang="pt-PT" dirty="0"/>
          </a:p>
        </p:txBody>
      </p:sp>
      <p:sp>
        <p:nvSpPr>
          <p:cNvPr id="3" name="Marcador de Posição do Texto 2">
            <a:extLst>
              <a:ext uri="{FF2B5EF4-FFF2-40B4-BE49-F238E27FC236}">
                <a16:creationId xmlns:a16="http://schemas.microsoft.com/office/drawing/2014/main" id="{800B5D8A-29F2-FE6E-765F-F9B6A0FD7A15}"/>
              </a:ext>
            </a:extLst>
          </p:cNvPr>
          <p:cNvSpPr>
            <a:spLocks noGrp="1"/>
          </p:cNvSpPr>
          <p:nvPr>
            <p:ph type="body" idx="1"/>
          </p:nvPr>
        </p:nvSpPr>
        <p:spPr/>
        <p:txBody>
          <a:bodyPr/>
          <a:lstStyle/>
          <a:p>
            <a:pPr marL="127000" indent="0">
              <a:buNone/>
            </a:pPr>
            <a:r>
              <a:rPr lang="en-US" b="1" dirty="0">
                <a:solidFill>
                  <a:schemeClr val="tx1"/>
                </a:solidFill>
              </a:rPr>
              <a:t>Team Members’ Opinion about the A.I. output:</a:t>
            </a:r>
          </a:p>
          <a:p>
            <a:pPr marL="127000" indent="0">
              <a:buNone/>
            </a:pPr>
            <a:r>
              <a:rPr lang="en-US" dirty="0">
                <a:solidFill>
                  <a:schemeClr val="tx1"/>
                </a:solidFill>
              </a:rPr>
              <a:t>The team very much agreed with Gemini’s output.</a:t>
            </a:r>
          </a:p>
          <a:p>
            <a:endParaRPr lang="pt-PT" dirty="0"/>
          </a:p>
        </p:txBody>
      </p:sp>
    </p:spTree>
    <p:extLst>
      <p:ext uri="{BB962C8B-B14F-4D97-AF65-F5344CB8AC3E}">
        <p14:creationId xmlns:p14="http://schemas.microsoft.com/office/powerpoint/2010/main" val="819240301"/>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p:txBody>
          <a:bodyPr/>
          <a:lstStyle/>
          <a:p>
            <a:r>
              <a:rPr lang="en-US" sz="3200" cap="none" dirty="0">
                <a:solidFill>
                  <a:schemeClr val="tx1"/>
                </a:solidFill>
              </a:rPr>
              <a:t>Sprint Retrospective                        </a:t>
            </a:r>
            <a:r>
              <a:rPr lang="en-US" sz="2800" b="0" cap="none" dirty="0">
                <a:solidFill>
                  <a:schemeClr val="tx1"/>
                </a:solidFill>
              </a:rPr>
              <a:t>Date: 25-10-2025 </a:t>
            </a:r>
            <a:endParaRPr lang="en-US" sz="3200" b="0" cap="none" dirty="0">
              <a:solidFill>
                <a:schemeClr val="tx1"/>
              </a:solidFill>
            </a:endParaRPr>
          </a:p>
        </p:txBody>
      </p:sp>
      <p:sp>
        <p:nvSpPr>
          <p:cNvPr id="3" name="Rectangle 2">
            <a:extLst>
              <a:ext uri="{FF2B5EF4-FFF2-40B4-BE49-F238E27FC236}">
                <a16:creationId xmlns:a16="http://schemas.microsoft.com/office/drawing/2014/main" id="{0B46F64C-4411-4F59-B546-FCD8654F7B3C}"/>
              </a:ext>
            </a:extLst>
          </p:cNvPr>
          <p:cNvSpPr/>
          <p:nvPr/>
        </p:nvSpPr>
        <p:spPr>
          <a:xfrm>
            <a:off x="250869" y="1763815"/>
            <a:ext cx="2970330" cy="445066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dirty="0">
                <a:solidFill>
                  <a:schemeClr val="tx1"/>
                </a:solidFill>
              </a:rPr>
              <a:t>What went well?</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Every team member did their work and even surprised because there was not work left to be done and was done properly, which, in my experience never happened before.  </a:t>
            </a:r>
          </a:p>
        </p:txBody>
      </p:sp>
      <p:sp>
        <p:nvSpPr>
          <p:cNvPr id="7" name="Rectangle 6">
            <a:extLst>
              <a:ext uri="{FF2B5EF4-FFF2-40B4-BE49-F238E27FC236}">
                <a16:creationId xmlns:a16="http://schemas.microsoft.com/office/drawing/2014/main" id="{73B9FD58-6876-4E87-998E-ACA36985B86E}"/>
              </a:ext>
            </a:extLst>
          </p:cNvPr>
          <p:cNvSpPr/>
          <p:nvPr/>
        </p:nvSpPr>
        <p:spPr>
          <a:xfrm>
            <a:off x="3480763" y="1763815"/>
            <a:ext cx="2970330" cy="445066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dirty="0">
                <a:solidFill>
                  <a:schemeClr val="tx1"/>
                </a:solidFill>
              </a:rPr>
              <a:t>What went wrong?</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User story comprehension</a:t>
            </a:r>
          </a:p>
        </p:txBody>
      </p:sp>
      <p:sp>
        <p:nvSpPr>
          <p:cNvPr id="8" name="Rectangle 7">
            <a:extLst>
              <a:ext uri="{FF2B5EF4-FFF2-40B4-BE49-F238E27FC236}">
                <a16:creationId xmlns:a16="http://schemas.microsoft.com/office/drawing/2014/main" id="{39B8E455-F8DD-4DEF-9E49-A26421870FC1}"/>
              </a:ext>
            </a:extLst>
          </p:cNvPr>
          <p:cNvSpPr/>
          <p:nvPr/>
        </p:nvSpPr>
        <p:spPr>
          <a:xfrm>
            <a:off x="6708195" y="1763814"/>
            <a:ext cx="2970330" cy="445066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dirty="0">
                <a:solidFill>
                  <a:schemeClr val="tx1"/>
                </a:solidFill>
              </a:rPr>
              <a:t>What we learned?</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We learned how our group works well </a:t>
            </a:r>
          </a:p>
        </p:txBody>
      </p:sp>
    </p:spTree>
    <p:extLst>
      <p:ext uri="{BB962C8B-B14F-4D97-AF65-F5344CB8AC3E}">
        <p14:creationId xmlns:p14="http://schemas.microsoft.com/office/powerpoint/2010/main" val="3250254882"/>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60AF2-FD58-E72D-83EF-8D677D3A41E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6416E1C-4950-D71D-123A-F724531983DC}"/>
              </a:ext>
            </a:extLst>
          </p:cNvPr>
          <p:cNvSpPr/>
          <p:nvPr/>
        </p:nvSpPr>
        <p:spPr>
          <a:xfrm>
            <a:off x="317484" y="1718809"/>
            <a:ext cx="9226025" cy="454550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dirty="0">
                <a:solidFill>
                  <a:schemeClr val="tx1"/>
                </a:solidFill>
              </a:rPr>
              <a:t>Action items: </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Ask more questions to the client to shorten the doubts of the US</a:t>
            </a:r>
          </a:p>
          <a:p>
            <a:pPr marL="285750" indent="-285750">
              <a:buFont typeface="Arial" panose="020B0604020202020204" pitchFamily="34" charset="0"/>
              <a:buChar char="•"/>
            </a:pPr>
            <a:r>
              <a:rPr lang="en-US" sz="1400" dirty="0">
                <a:solidFill>
                  <a:schemeClr val="tx1"/>
                </a:solidFill>
              </a:rPr>
              <a:t>Further read the forum questions</a:t>
            </a:r>
          </a:p>
          <a:p>
            <a:pPr marL="285750" indent="-285750">
              <a:buFont typeface="Arial" panose="020B0604020202020204" pitchFamily="34" charset="0"/>
              <a:buChar char="•"/>
            </a:pPr>
            <a:r>
              <a:rPr lang="en-US" sz="1400" dirty="0">
                <a:solidFill>
                  <a:schemeClr val="tx1"/>
                </a:solidFill>
              </a:rPr>
              <a:t>Schedule a dedicated 1-hour backlog refinement meeting in the middle of every sprint</a:t>
            </a:r>
          </a:p>
          <a:p>
            <a:pPr marL="285750" indent="-285750">
              <a:buFont typeface="Arial" panose="020B0604020202020204" pitchFamily="34" charset="0"/>
              <a:buChar char="•"/>
            </a:pPr>
            <a:r>
              <a:rPr lang="en-US" sz="1400" dirty="0">
                <a:solidFill>
                  <a:schemeClr val="tx1"/>
                </a:solidFill>
              </a:rPr>
              <a:t>Create a 'Definition of Ready</a:t>
            </a:r>
            <a:r>
              <a:rPr lang="en-US" sz="1400">
                <a:solidFill>
                  <a:schemeClr val="tx1"/>
                </a:solidFill>
              </a:rPr>
              <a:t>' checklist </a:t>
            </a:r>
            <a:r>
              <a:rPr lang="en-US" sz="1400" dirty="0">
                <a:solidFill>
                  <a:schemeClr val="tx1"/>
                </a:solidFill>
              </a:rPr>
              <a:t>for our team to keep </a:t>
            </a:r>
            <a:r>
              <a:rPr lang="en-US" sz="1400">
                <a:solidFill>
                  <a:schemeClr val="tx1"/>
                </a:solidFill>
              </a:rPr>
              <a:t>the workflow going</a:t>
            </a:r>
            <a:endParaRPr lang="en-US" sz="1400" dirty="0">
              <a:solidFill>
                <a:schemeClr val="tx1"/>
              </a:solidFill>
            </a:endParaRPr>
          </a:p>
        </p:txBody>
      </p:sp>
      <p:sp>
        <p:nvSpPr>
          <p:cNvPr id="7" name="Título 4">
            <a:extLst>
              <a:ext uri="{FF2B5EF4-FFF2-40B4-BE49-F238E27FC236}">
                <a16:creationId xmlns:a16="http://schemas.microsoft.com/office/drawing/2014/main" id="{15D1BD0F-42E6-8626-2941-D327B367F339}"/>
              </a:ext>
            </a:extLst>
          </p:cNvPr>
          <p:cNvSpPr>
            <a:spLocks noGrp="1"/>
          </p:cNvSpPr>
          <p:nvPr>
            <p:ph type="title"/>
          </p:nvPr>
        </p:nvSpPr>
        <p:spPr>
          <a:xfrm>
            <a:off x="414000" y="1000108"/>
            <a:ext cx="9043200" cy="571503"/>
          </a:xfrm>
        </p:spPr>
        <p:txBody>
          <a:bodyPr/>
          <a:lstStyle/>
          <a:p>
            <a:r>
              <a:rPr lang="en-US" sz="3200" cap="none" dirty="0">
                <a:solidFill>
                  <a:schemeClr val="tx1"/>
                </a:solidFill>
              </a:rPr>
              <a:t>Sprint Retrospective                        </a:t>
            </a:r>
            <a:r>
              <a:rPr lang="en-US" sz="2800" b="0" cap="none" dirty="0">
                <a:solidFill>
                  <a:schemeClr val="tx1"/>
                </a:solidFill>
              </a:rPr>
              <a:t>Date: 25-10-2025 </a:t>
            </a:r>
            <a:endParaRPr lang="en-US" sz="3200" b="0" cap="none" dirty="0">
              <a:solidFill>
                <a:schemeClr val="tx1"/>
              </a:solidFill>
            </a:endParaRPr>
          </a:p>
        </p:txBody>
      </p:sp>
    </p:spTree>
    <p:extLst>
      <p:ext uri="{BB962C8B-B14F-4D97-AF65-F5344CB8AC3E}">
        <p14:creationId xmlns:p14="http://schemas.microsoft.com/office/powerpoint/2010/main" val="3789479183"/>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p:txBody>
          <a:bodyPr/>
          <a:lstStyle/>
          <a:p>
            <a:r>
              <a:rPr lang="en-US" sz="3200" cap="none" dirty="0">
                <a:solidFill>
                  <a:schemeClr val="tx1"/>
                </a:solidFill>
              </a:rPr>
              <a:t>Overall Project performance:</a:t>
            </a:r>
          </a:p>
        </p:txBody>
      </p:sp>
      <p:sp>
        <p:nvSpPr>
          <p:cNvPr id="2" name="Marcador de Posição do Texto 1">
            <a:extLst>
              <a:ext uri="{FF2B5EF4-FFF2-40B4-BE49-F238E27FC236}">
                <a16:creationId xmlns:a16="http://schemas.microsoft.com/office/drawing/2014/main" id="{EEE97808-B786-5C10-6A83-416F88B5C6D2}"/>
              </a:ext>
            </a:extLst>
          </p:cNvPr>
          <p:cNvSpPr>
            <a:spLocks noGrp="1"/>
          </p:cNvSpPr>
          <p:nvPr>
            <p:ph type="body" idx="1"/>
          </p:nvPr>
        </p:nvSpPr>
        <p:spPr/>
        <p:txBody>
          <a:bodyPr/>
          <a:lstStyle/>
          <a:p>
            <a:r>
              <a:rPr lang="en-US" dirty="0">
                <a:solidFill>
                  <a:schemeClr val="tx1"/>
                </a:solidFill>
              </a:rPr>
              <a:t>Comments</a:t>
            </a:r>
            <a:r>
              <a:rPr lang="pt-PT" dirty="0">
                <a:solidFill>
                  <a:schemeClr val="tx1"/>
                </a:solidFill>
              </a:rPr>
              <a:t>:</a:t>
            </a:r>
          </a:p>
          <a:p>
            <a:endParaRPr lang="pt-PT" dirty="0">
              <a:solidFill>
                <a:schemeClr val="tx1"/>
              </a:solidFill>
            </a:endParaRPr>
          </a:p>
          <a:p>
            <a:r>
              <a:rPr lang="en-US" dirty="0">
                <a:solidFill>
                  <a:schemeClr val="tx1"/>
                </a:solidFill>
              </a:rPr>
              <a:t>LLM evaluation</a:t>
            </a:r>
            <a:r>
              <a:rPr lang="pt-PT" dirty="0">
                <a:solidFill>
                  <a:schemeClr val="tx1"/>
                </a:solidFill>
              </a:rPr>
              <a:t>:</a:t>
            </a:r>
          </a:p>
          <a:p>
            <a:endParaRPr lang="pt-PT" dirty="0">
              <a:solidFill>
                <a:schemeClr val="tx1"/>
              </a:solidFill>
            </a:endParaRPr>
          </a:p>
          <a:p>
            <a:r>
              <a:rPr lang="pt-PT" dirty="0" err="1">
                <a:solidFill>
                  <a:schemeClr val="tx1"/>
                </a:solidFill>
              </a:rPr>
              <a:t>How</a:t>
            </a:r>
            <a:r>
              <a:rPr lang="pt-PT" dirty="0">
                <a:solidFill>
                  <a:schemeClr val="tx1"/>
                </a:solidFill>
              </a:rPr>
              <a:t> do </a:t>
            </a:r>
            <a:r>
              <a:rPr lang="pt-PT" dirty="0" err="1">
                <a:solidFill>
                  <a:schemeClr val="tx1"/>
                </a:solidFill>
              </a:rPr>
              <a:t>you</a:t>
            </a:r>
            <a:r>
              <a:rPr lang="pt-PT" dirty="0">
                <a:solidFill>
                  <a:schemeClr val="tx1"/>
                </a:solidFill>
              </a:rPr>
              <a:t> grade </a:t>
            </a:r>
            <a:r>
              <a:rPr lang="pt-PT" dirty="0" err="1">
                <a:solidFill>
                  <a:schemeClr val="tx1"/>
                </a:solidFill>
              </a:rPr>
              <a:t>your</a:t>
            </a:r>
            <a:r>
              <a:rPr lang="pt-PT" dirty="0">
                <a:solidFill>
                  <a:schemeClr val="tx1"/>
                </a:solidFill>
              </a:rPr>
              <a:t> performance (0-5): 4.5</a:t>
            </a:r>
          </a:p>
          <a:p>
            <a:r>
              <a:rPr lang="pt-PT" dirty="0" err="1">
                <a:solidFill>
                  <a:schemeClr val="tx1"/>
                </a:solidFill>
              </a:rPr>
              <a:t>How</a:t>
            </a:r>
            <a:r>
              <a:rPr lang="pt-PT" dirty="0">
                <a:solidFill>
                  <a:schemeClr val="tx1"/>
                </a:solidFill>
              </a:rPr>
              <a:t> do </a:t>
            </a:r>
            <a:r>
              <a:rPr lang="pt-PT" dirty="0" err="1">
                <a:solidFill>
                  <a:schemeClr val="tx1"/>
                </a:solidFill>
              </a:rPr>
              <a:t>you</a:t>
            </a:r>
            <a:r>
              <a:rPr lang="pt-PT" dirty="0">
                <a:solidFill>
                  <a:schemeClr val="tx1"/>
                </a:solidFill>
              </a:rPr>
              <a:t> grade </a:t>
            </a:r>
            <a:r>
              <a:rPr lang="pt-PT" dirty="0" err="1">
                <a:solidFill>
                  <a:schemeClr val="tx1"/>
                </a:solidFill>
              </a:rPr>
              <a:t>your</a:t>
            </a:r>
            <a:r>
              <a:rPr lang="pt-PT" dirty="0">
                <a:solidFill>
                  <a:schemeClr val="tx1"/>
                </a:solidFill>
              </a:rPr>
              <a:t> </a:t>
            </a:r>
            <a:r>
              <a:rPr lang="pt-PT" dirty="0" err="1">
                <a:solidFill>
                  <a:schemeClr val="tx1"/>
                </a:solidFill>
              </a:rPr>
              <a:t>results</a:t>
            </a:r>
            <a:r>
              <a:rPr lang="pt-PT" dirty="0">
                <a:solidFill>
                  <a:schemeClr val="tx1"/>
                </a:solidFill>
              </a:rPr>
              <a:t> (0-5): 4</a:t>
            </a:r>
          </a:p>
        </p:txBody>
      </p:sp>
      <p:pic>
        <p:nvPicPr>
          <p:cNvPr id="7" name="Imagem 6">
            <a:extLst>
              <a:ext uri="{FF2B5EF4-FFF2-40B4-BE49-F238E27FC236}">
                <a16:creationId xmlns:a16="http://schemas.microsoft.com/office/drawing/2014/main" id="{6417797C-1297-547E-D29B-35BF35D93259}"/>
              </a:ext>
            </a:extLst>
          </p:cNvPr>
          <p:cNvPicPr>
            <a:picLocks noChangeAspect="1"/>
          </p:cNvPicPr>
          <p:nvPr/>
        </p:nvPicPr>
        <p:blipFill>
          <a:blip r:embed="rId2"/>
          <a:stretch>
            <a:fillRect/>
          </a:stretch>
        </p:blipFill>
        <p:spPr>
          <a:xfrm>
            <a:off x="2477725" y="4487949"/>
            <a:ext cx="4500500" cy="1833984"/>
          </a:xfrm>
          <a:prstGeom prst="rect">
            <a:avLst/>
          </a:prstGeom>
        </p:spPr>
      </p:pic>
    </p:spTree>
    <p:extLst>
      <p:ext uri="{BB962C8B-B14F-4D97-AF65-F5344CB8AC3E}">
        <p14:creationId xmlns:p14="http://schemas.microsoft.com/office/powerpoint/2010/main" val="81955380"/>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eam work">
            <a:extLst>
              <a:ext uri="{FF2B5EF4-FFF2-40B4-BE49-F238E27FC236}">
                <a16:creationId xmlns:a16="http://schemas.microsoft.com/office/drawing/2014/main" id="{63305713-9999-B782-17EA-DC85021DE3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719"/>
          <a:stretch/>
        </p:blipFill>
        <p:spPr bwMode="auto">
          <a:xfrm>
            <a:off x="0" y="947824"/>
            <a:ext cx="9906000" cy="59101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theme/theme1.xml><?xml version="1.0" encoding="utf-8"?>
<a:theme xmlns:a="http://schemas.openxmlformats.org/drawingml/2006/main" name="1_ISEP">
  <a:themeElements>
    <a:clrScheme name="Laranja-avermelhado">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163ee49-d5ca-4566-8d9a-132778b8595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6764391778E2B4FBABC02A2DE5CC80E" ma:contentTypeVersion="16" ma:contentTypeDescription="Create a new document." ma:contentTypeScope="" ma:versionID="81b8abde8f67c3cf984782c9fc0ba36a">
  <xsd:schema xmlns:xsd="http://www.w3.org/2001/XMLSchema" xmlns:xs="http://www.w3.org/2001/XMLSchema" xmlns:p="http://schemas.microsoft.com/office/2006/metadata/properties" xmlns:ns3="b163ee49-d5ca-4566-8d9a-132778b8595f" xmlns:ns4="bd9de7ca-1bc7-4476-8342-8c6da5362d49" targetNamespace="http://schemas.microsoft.com/office/2006/metadata/properties" ma:root="true" ma:fieldsID="3cadf06168144826424fef8fdf2b4a92" ns3:_="" ns4:_="">
    <xsd:import namespace="b163ee49-d5ca-4566-8d9a-132778b8595f"/>
    <xsd:import namespace="bd9de7ca-1bc7-4476-8342-8c6da5362d49"/>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3:_activity" minOccurs="0"/>
                <xsd:element ref="ns4:SharedWithUsers" minOccurs="0"/>
                <xsd:element ref="ns4:SharedWithDetails" minOccurs="0"/>
                <xsd:element ref="ns4:SharingHintHash" minOccurs="0"/>
                <xsd:element ref="ns3:MediaServiceObjectDetectorVersions" minOccurs="0"/>
                <xsd:element ref="ns3:MediaServiceSystemTags" minOccurs="0"/>
                <xsd:element ref="ns3:MediaLengthInSecond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63ee49-d5ca-4566-8d9a-132778b859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Location" ma:index="15" nillable="true" ma:displayName="Location" ma:indexed="true" ma:internalName="MediaServiceLocation"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d9de7ca-1bc7-4476-8342-8c6da5362d4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B87164-EF5F-43C8-917E-48B38ACAFD1E}">
  <ds:schemaRefs>
    <ds:schemaRef ds:uri="http://www.w3.org/XML/1998/namespace"/>
    <ds:schemaRef ds:uri="http://schemas.openxmlformats.org/package/2006/metadata/core-properties"/>
    <ds:schemaRef ds:uri="http://purl.org/dc/dcmitype/"/>
    <ds:schemaRef ds:uri="b163ee49-d5ca-4566-8d9a-132778b8595f"/>
    <ds:schemaRef ds:uri="http://schemas.microsoft.com/office/2006/metadata/properties"/>
    <ds:schemaRef ds:uri="http://schemas.microsoft.com/office/2006/documentManagement/types"/>
    <ds:schemaRef ds:uri="http://purl.org/dc/elements/1.1/"/>
    <ds:schemaRef ds:uri="http://schemas.microsoft.com/office/infopath/2007/PartnerControls"/>
    <ds:schemaRef ds:uri="bd9de7ca-1bc7-4476-8342-8c6da5362d49"/>
    <ds:schemaRef ds:uri="http://purl.org/dc/terms/"/>
  </ds:schemaRefs>
</ds:datastoreItem>
</file>

<file path=customXml/itemProps2.xml><?xml version="1.0" encoding="utf-8"?>
<ds:datastoreItem xmlns:ds="http://schemas.openxmlformats.org/officeDocument/2006/customXml" ds:itemID="{7A4480FB-1859-42E2-80E6-9F9F88481F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163ee49-d5ca-4566-8d9a-132778b8595f"/>
    <ds:schemaRef ds:uri="bd9de7ca-1bc7-4476-8342-8c6da5362d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984168-AABC-4753-B4EC-59CA9D0883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5312</TotalTime>
  <Words>836</Words>
  <Application>Microsoft Office PowerPoint</Application>
  <PresentationFormat>Papel A4 (210x297 mm)</PresentationFormat>
  <Paragraphs>238</Paragraphs>
  <Slides>16</Slides>
  <Notes>0</Notes>
  <HiddenSlides>0</HiddenSlides>
  <MMClips>0</MMClips>
  <ScaleCrop>false</ScaleCrop>
  <HeadingPairs>
    <vt:vector size="6" baseType="variant">
      <vt:variant>
        <vt:lpstr>Tipos de letra usados</vt:lpstr>
      </vt:variant>
      <vt:variant>
        <vt:i4>3</vt:i4>
      </vt:variant>
      <vt:variant>
        <vt:lpstr>Tema</vt:lpstr>
      </vt:variant>
      <vt:variant>
        <vt:i4>1</vt:i4>
      </vt:variant>
      <vt:variant>
        <vt:lpstr>Títulos dos diapositivos</vt:lpstr>
      </vt:variant>
      <vt:variant>
        <vt:i4>16</vt:i4>
      </vt:variant>
    </vt:vector>
  </HeadingPairs>
  <TitlesOfParts>
    <vt:vector size="20" baseType="lpstr">
      <vt:lpstr>Arial</vt:lpstr>
      <vt:lpstr>Calibri</vt:lpstr>
      <vt:lpstr>Kozuka Gothic Pro M</vt:lpstr>
      <vt:lpstr>1_ISEP</vt:lpstr>
      <vt:lpstr>Logistics On Rails - SPRINT 1  G075</vt:lpstr>
      <vt:lpstr>Sprint planning – Sprint 1</vt:lpstr>
      <vt:lpstr>Sprint 1 planning</vt:lpstr>
      <vt:lpstr>Sprint 1 planning</vt:lpstr>
      <vt:lpstr>Sprint 1 planning</vt:lpstr>
      <vt:lpstr>Work assigned by team member</vt:lpstr>
      <vt:lpstr> Work assigned by type (componente)</vt:lpstr>
      <vt:lpstr>Issues / Assumptions / unanswered questions</vt:lpstr>
      <vt:lpstr>Daily Meetings</vt:lpstr>
      <vt:lpstr>LLM performance assessment (use ChatGPT or Copilot)</vt:lpstr>
      <vt:lpstr>LLM performance assessment - Output</vt:lpstr>
      <vt:lpstr>LLM performance assessment - Output</vt:lpstr>
      <vt:lpstr>Sprint Retrospective                        Date: 25-10-2025 </vt:lpstr>
      <vt:lpstr>Sprint Retrospective                        Date: 25-10-2025 </vt:lpstr>
      <vt:lpstr>Overall Project performance: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Diapositivo 1</dc:title>
  <dc:creator>FlavioRamos</dc:creator>
  <cp:lastModifiedBy>Carlos Almeida</cp:lastModifiedBy>
  <cp:revision>499</cp:revision>
  <dcterms:created xsi:type="dcterms:W3CDTF">2010-10-20T15:48:12Z</dcterms:created>
  <dcterms:modified xsi:type="dcterms:W3CDTF">2025-10-30T19:00:44Z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0x01010076764391778E2B4FBABC02A2DE5CC80E</vt:lpwstr>
  </property>
  <property fmtid="{D5CDD505-2E9C-101B-9397-08002B2CF9AE}" pid="3" name="MediaServiceImageTags">
    <vt:lpwstr/>
  </property>
</Properties>
</file>